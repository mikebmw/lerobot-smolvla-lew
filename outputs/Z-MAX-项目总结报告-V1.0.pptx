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Z-MAX 项目总结报告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静界科技 · 2026年7月</a:t>
            </a:r>
          </a:p>
          <a:p>
            <a:pPr>
              <a:spcAft>
                <a:spcPts val="800"/>
              </a:spcAft>
              <a:defRPr sz="1800"/>
            </a:pPr>
            <a:r>
              <a:t>光模块精密插拔 · 五层智能引擎</a:t>
            </a:r>
          </a:p>
          <a:p>
            <a:pPr>
              <a:spcAft>
                <a:spcPts val="800"/>
              </a:spcAft>
              <a:defRPr sz="1800"/>
            </a:pPr>
            <a:r>
              <a:t>总工程师: 静静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一、五层智能引擎架构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Sys-0: L2基线 规则引擎 Orin Nano &lt;1ms</a:t>
            </a:r>
          </a:p>
          <a:p>
            <a:pPr>
              <a:spcAft>
                <a:spcPts val="800"/>
              </a:spcAft>
              <a:defRPr sz="1800"/>
            </a:pPr>
            <a:r>
              <a:t>Sys-1: L3增强 ACT/VTLA统一 52M/1.2ms</a:t>
            </a:r>
          </a:p>
          <a:p>
            <a:pPr>
              <a:spcAft>
                <a:spcPts val="800"/>
              </a:spcAft>
              <a:defRPr sz="1800"/>
            </a:pPr>
            <a:r>
              <a:t>Sys-11: L4旗舰 smolvla 450M/215ms</a:t>
            </a:r>
          </a:p>
          <a:p>
            <a:pPr>
              <a:spcAft>
                <a:spcPts val="800"/>
              </a:spcAft>
              <a:defRPr sz="1800"/>
            </a:pPr>
            <a:r>
              <a:t>Sys-12: L4世界 smolvla_lew+LeWorld 628M/186ms</a:t>
            </a:r>
          </a:p>
          <a:p>
            <a:pPr>
              <a:spcAft>
                <a:spcPts val="800"/>
              </a:spcAft>
              <a:defRPr sz="1800"/>
            </a:pPr>
            <a:r>
              <a:t>Sys-2: 云端 Hermes Agent GR00T/VTLA 4090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二、核心性能指标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ACT推理: 52M参数, 1.2ms延迟, 0.26GB显存, 800FPS</a:t>
            </a:r>
          </a:p>
          <a:p>
            <a:pPr>
              <a:spcAft>
                <a:spcPts val="800"/>
              </a:spcAft>
              <a:defRPr sz="1800"/>
            </a:pPr>
            <a:r>
              <a:t>VTLA联调: 450M参数, 280ms延迟(4090→WSL gRPC)</a:t>
            </a:r>
          </a:p>
          <a:p>
            <a:pPr>
              <a:spcAft>
                <a:spcPts val="800"/>
              </a:spcAft>
              <a:defRPr sz="1800"/>
            </a:pPr>
            <a:r>
              <a:t>smolvla_lew: 628M参数, 186ms延迟, 2.06GB峰值</a:t>
            </a:r>
          </a:p>
          <a:p>
            <a:pPr>
              <a:spcAft>
                <a:spcPts val="800"/>
              </a:spcAft>
              <a:defRPr sz="1800"/>
            </a:pPr>
            <a:r>
              <a:t>LeWorldModel: 5.5M参数, 1.9ms, 近乎零开销</a:t>
            </a:r>
          </a:p>
          <a:p>
            <a:pPr>
              <a:spcAft>
                <a:spcPts val="800"/>
              </a:spcAft>
              <a:defRPr sz="1800"/>
            </a:pPr>
            <a:r>
              <a:t>训练: 498ms/步, 峰值1.83GB(RTX4060 8GB)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三、工程交付物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文档: 30+份MD文档 + 2份专利交底书.docx</a:t>
            </a:r>
          </a:p>
          <a:p>
            <a:pPr>
              <a:spcAft>
                <a:spcPts val="800"/>
              </a:spcAft>
              <a:defRPr sz="1800"/>
            </a:pPr>
            <a:r>
              <a:t>代码: 5系统/10文件 + Robot抽象 + gRPC服务</a:t>
            </a:r>
          </a:p>
          <a:p>
            <a:pPr>
              <a:spcAft>
                <a:spcPts val="800"/>
              </a:spcAft>
              <a:defRPr sz="1800"/>
            </a:pPr>
            <a:r>
              <a:t>Web: 主页+10页暗色主题（自主系统/仿真/专利/监控/硬件树）</a:t>
            </a:r>
          </a:p>
          <a:p>
            <a:pPr>
              <a:spcAft>
                <a:spcPts val="800"/>
              </a:spcAft>
              <a:defRPr sz="1800"/>
            </a:pPr>
            <a:r>
              <a:t>GUI: 引擎切换/延迟显示/硬件总线/文档入口/专利面板</a:t>
            </a:r>
          </a:p>
          <a:p>
            <a:pPr>
              <a:spcAft>
                <a:spcPts val="800"/>
              </a:spcAft>
              <a:defRPr sz="1800"/>
            </a:pPr>
            <a:r>
              <a:t>联调: Sys1↔Sys2通过(VTLA 280ms)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四、团队与分工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总工程师·静静: 架构设计·模型体系·文档统筹·GUI WSL RTX4060 main分支</a:t>
            </a:r>
          </a:p>
          <a:p>
            <a:pPr>
              <a:spcAft>
                <a:spcPts val="800"/>
              </a:spcAft>
              <a:defRPr sz="1800"/>
            </a:pPr>
            <a:r>
              <a:t>前端+训练·web: Web页面·云端部署·Sys2训练·飞书Bot 4090 24GB</a:t>
            </a:r>
          </a:p>
          <a:p>
            <a:pPr>
              <a:spcAft>
                <a:spcPts val="800"/>
              </a:spcAft>
              <a:defRPr sz="1800"/>
            </a:pPr>
            <a:r>
              <a:t>硬件端侧·小芳: Orin部署·ROS2仿真·测试验证 Mac M1 mac分支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五、知识产权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实用新型: 多模态VLA具身机器人精细操作控制系统</a:t>
            </a:r>
          </a:p>
          <a:p>
            <a:pPr>
              <a:spcAft>
                <a:spcPts val="800"/>
              </a:spcAft>
              <a:defRPr sz="1800"/>
            </a:pPr>
            <a:r>
              <a:t>6项权利要求: 双臂协同·多引擎·统一推理·力控1kHz·软件升级·自适应对准</a:t>
            </a:r>
          </a:p>
          <a:p>
            <a:pPr>
              <a:spcAft>
                <a:spcPts val="800"/>
              </a:spcAft>
              <a:defRPr sz="1800"/>
            </a:pPr>
            <a:r>
              <a:t>规避设计: 本地-云端分离·引擎热切换·断连回退ACT</a:t>
            </a:r>
          </a:p>
          <a:p>
            <a:pPr>
              <a:spcAft>
                <a:spcPts val="800"/>
              </a:spcAft>
              <a:defRPr sz="1800"/>
            </a:pPr>
            <a:r>
              <a:t>软件著作权: 4件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六、项目状态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✅ 已完成: 架构·模型·Web·GUI·文档·专利·联调</a:t>
            </a:r>
          </a:p>
          <a:p>
            <a:pPr>
              <a:spcAft>
                <a:spcPts val="800"/>
              </a:spcAft>
              <a:defRPr sz="1800"/>
            </a:pPr>
            <a:r>
              <a:t>🔄 进行中: 全链路端到端测试(小芳)·GR00T权重下载(web)</a:t>
            </a:r>
          </a:p>
          <a:p>
            <a:pPr>
              <a:spcAft>
                <a:spcPts val="800"/>
              </a:spcAft>
              <a:defRPr sz="1800"/>
            </a:pPr>
            <a:r>
              <a:t>⏳ 待验证: 7×24可靠性运行</a:t>
            </a:r>
          </a:p>
          <a:p>
            <a:pPr>
              <a:spcAft>
                <a:spcPts val="800"/>
              </a:spcAft>
              <a:defRPr sz="1800"/>
            </a:pPr>
            <a:r>
              <a:t>整体进度: 90%+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