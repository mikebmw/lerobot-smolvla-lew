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8" r:id="rId5"/>
    <p:sldId id="267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06B6D4"/>
    <a:srgbClr val="F59E0B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2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8314-0877-A37F-ECC0-42D1B24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0742-9F85-244F-8B84-B6AA22DB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71B0-32BD-B271-E3A8-BDB5EF8A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C82F-750C-22F5-7AA4-FA37E44F4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97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397C-D556-68D3-C137-3EC6429C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8642D-2E7F-2F11-F80B-643319913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5C57-7FD2-56EE-592B-F33948D90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94FA-C1C3-2AED-7435-13348FDB0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3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84CE-D53B-4982-E924-0436EF4B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13DEE-D776-0BE0-ADCC-5CF606FD6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B0595-6B5F-360C-D07A-E9C4A3F55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D059-3DA0-3FAF-416A-76B86AE82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34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99.2% 成功率  |  </a:t>
            </a:r>
            <a:r>
              <a:rPr lang="en-US" sz="1800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全自主</a:t>
            </a:r>
            <a:r>
              <a:rPr lang="zh-CN" alt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A30F82-E04E-BB36-B9A5-3D5AF3DC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25" y="937260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39603A-992E-2AE6-525F-FC184460A6C9}"/>
              </a:ext>
            </a:extLst>
          </p:cNvPr>
          <p:cNvGrpSpPr/>
          <p:nvPr/>
        </p:nvGrpSpPr>
        <p:grpSpPr>
          <a:xfrm>
            <a:off x="731520" y="2011680"/>
            <a:ext cx="6621780" cy="2999232"/>
            <a:chOff x="731520" y="2011680"/>
            <a:chExt cx="7680960" cy="5029200"/>
          </a:xfrm>
        </p:grpSpPr>
        <p:sp>
          <p:nvSpPr>
            <p:cNvPr id="6" name="Text 4"/>
            <p:cNvSpPr/>
            <p:nvPr/>
          </p:nvSpPr>
          <p:spPr>
            <a:xfrm>
              <a:off x="731520" y="201168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命名逻辑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2468880"/>
              <a:ext cx="7680960" cy="914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468880"/>
              <a:ext cx="73152" cy="91440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智蜂 Z-Bee</a:t>
              </a:r>
              <a:r>
                <a:rPr lang="en-US" sz="16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精密、高效、协同的工业级品牌IP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56616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Z-MAX 四维含义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31520" y="4023360"/>
              <a:ext cx="594360" cy="5029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409651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Z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409651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潜在特征空间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全域感知与认知底座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4617720"/>
              <a:ext cx="594360" cy="502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469087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2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63040" y="469087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模态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感官融合与自适应泛化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5212080"/>
              <a:ext cx="594360" cy="502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528523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528523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/ 动作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精细力控与动态执行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5806440"/>
              <a:ext cx="594360" cy="502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587959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X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63040" y="587959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eXpert / 专家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自主决策与全自主闭环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" y="6400800"/>
              <a:ext cx="7680960" cy="6400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914400" y="65379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品牌注册备选  |  </a:t>
              </a:r>
              <a:r>
                <a:rPr lang="en-US" sz="13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r>
                <a:rPr lang="en-US" sz="13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RB-MAX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endParaRPr lang="en-US" sz="1200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9B75B488-D905-6ED3-466B-EE7272F1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03" y="164459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D32FD-987D-A73D-8C4B-D1E7E80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420CFC5F-D29D-1E40-88F6-E967B496B256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0A9D2C-FBA8-4F3B-DE12-348080C0BDF0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基于VTLA模型，实现精细插拔操作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2AD307-5917-ACE3-41A5-79817687FDA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40D59B-30F4-FF41-40CD-175A45BC66B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E8927F-A6CD-B2CA-68BC-F0C6E3A63288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C6D746F-101D-C7F4-BE97-0360E625374A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A8260A5-9AD5-C5D7-9143-E876C27F1CA4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187BAFD1-2C52-15DA-2C8D-806EBE3146D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EBAB4A0-F07D-FB65-743C-65381C23EA63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2B3A500-9359-4978-49F0-4F0183E7C070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50BA106-9249-77C2-CA47-F149C46E1E5C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B730CEB-0857-2327-CDDE-47416293B74D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6F9F86E9-5E5E-F888-E95A-D6C5AA27411B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79A4D36-93DF-9E2B-DC22-61FBB27D0BEC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86FB4BA6-E8BE-378C-7543-978F87BD277E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基础功能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9316F0E-FFFA-1F43-6329-66E08C6E05EB}"/>
              </a:ext>
            </a:extLst>
          </p:cNvPr>
          <p:cNvSpPr txBox="1"/>
          <p:nvPr/>
        </p:nvSpPr>
        <p:spPr>
          <a:xfrm>
            <a:off x="545910" y="1224912"/>
            <a:ext cx="7866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聚焦光模块插拔场景，依托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VTLA（视触觉语言动作）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多模态模型，建立从“感知”到“动作”的端到端执行能力。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M/A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融合视觉与力觉反馈，完成高精度、高可靠的插拔基础动作，在真实产线环境中落地验证。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5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05A15-D5AE-C92B-1BAA-E8D46A0D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21085D6F-FCA5-F9C6-C51E-D9BAABF10099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F9CCADC-A246-2A09-979A-45661A685AF3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泛化调优与端侧部署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512E1D-1C1F-5C71-21DF-1F28E7B1CD58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1255F-1CE0-3E88-3B8A-67A3154C482E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777E13-D7D7-F875-C07D-894ABF18A063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85D365-91C6-757B-8A60-A6ACC9803A40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071B1FB8-6C08-9F9E-2E53-81218269242F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58E8389-2DB4-9D90-7FC8-E3F78DE877AC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A2E60B0-3C5B-5448-BC59-AF1BC6D06CA7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752B6E-544E-8239-F0F4-97124639431E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3BDF5DD-E945-B8CC-59D4-E7AE6094A62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AD7D803-DA00-A673-4E34-90C3274F6D3F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1F0B180-5874-BA55-C31B-860C736F6F41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5E96534-5BF3-DD03-AEAC-E89C3C70ED6E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E16EDDE-AA05-7824-4935-143DFADBE2C3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9C8ACFF-DF1A-B0BD-356A-6171FF65FD15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27F2BB1-61FA-C4E7-3E02-AFFC15547A3F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5F46D3F-9C9C-8520-175D-E992BE1491DC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3BC7D69-032C-DDB3-8EDF-0673596C24CD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AF3DC-D09F-79FC-EE81-9641881E0870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4E68D874-8BF5-69F8-70F1-2746DB3A6148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基础功能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4570E1-F8AE-D1BD-A430-AF3C00CF0DDC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FD02A2-D92E-758D-0970-187181DC6599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泛化调优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D4ABBA-ACB5-050F-5B74-D85BFE619CA5}"/>
              </a:ext>
            </a:extLst>
          </p:cNvPr>
          <p:cNvSpPr txBox="1"/>
          <p:nvPr/>
        </p:nvSpPr>
        <p:spPr>
          <a:xfrm>
            <a:off x="6753492" y="1365547"/>
            <a:ext cx="23905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构建 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Z潜空间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，对基础模型动作特征进行压缩和泛化。实现“一脑多能”，将泛化能力迁移至多型号模块。通过端侧优化与量化压缩，让精细操作在低延迟、低功耗的边缘设备上高效运行。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24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F7D39-A3B6-51A0-0A41-27F2E68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91EF3A00-3347-D346-9E46-26E29294D354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4FE42B1-E5FB-BA94-1D2E-21ACE7711A57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空间感知与全域认知闭环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5342D4-3C8C-CDA5-26BB-D2686E010F2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CEDFD1-5FB3-62F4-AA8E-97B94531E927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B14BD5-278F-2132-A64A-B9E3F8B208D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548B5E-65C4-98FD-0076-A37B6E977F38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503B3B-78A0-5C2C-4720-3C6328774D17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46DB40-CFB8-F219-A1C3-9C8E8651364C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BFC698-BE9B-EBE9-68CC-847A0F878BAF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84D6AB-EA7F-B978-03D2-7996596B2061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ED74ED6-8454-8833-FDE1-1641103F3221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F6F51E9-D507-CBC6-414C-D34B5044FDA8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A8E5FDA-F06C-AC3C-34F7-4DB217FCC598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4F8020E-608D-470C-D641-8BD726E7CC6A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100F8E7-1A49-95EC-1285-E956D8B6D80E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B24844C-EAF1-4402-136B-A59F2D8FDA35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A5A7AC5-EAC1-DD50-2DF0-9ADAB932ADF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4A9B59D-8503-A0D9-0D11-4FD06B353E6F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4C231F5-06D2-B46C-798F-E2B63C1290E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FB964F4-F09C-D807-D7BA-E8ED30091EEC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143D695-7AD8-2D1B-EF81-115F0383D0B3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F086DA6F-722E-6E81-B54E-6C407454FFC4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8C84105B-7367-5637-7259-1201C7A6F938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空间感知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FA90304-96E2-00CC-9342-C739A130FBB0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05FD076-0A2E-4FE9-8EB7-823125A18013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1CB56BE-D51D-D48C-7DDC-644B9528AC0B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A575DE3-D94B-909E-42BD-12CCEAA64634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CEF54CF-A1F4-54A5-B2C7-AAD350323C40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基础功能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3ECDAE8-3CC4-815C-0162-E40B14B70988}"/>
              </a:ext>
            </a:extLst>
          </p:cNvPr>
          <p:cNvSpPr/>
          <p:nvPr/>
        </p:nvSpPr>
        <p:spPr>
          <a:xfrm>
            <a:off x="6632618" y="1521562"/>
            <a:ext cx="2438230" cy="2429308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E75946A9-C207-2CB3-1110-1B236AB20AF9}"/>
              </a:ext>
            </a:extLst>
          </p:cNvPr>
          <p:cNvSpPr/>
          <p:nvPr/>
        </p:nvSpPr>
        <p:spPr>
          <a:xfrm>
            <a:off x="8611180" y="2413231"/>
            <a:ext cx="415776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      </a:t>
            </a:r>
            <a:endParaRPr lang="en-US" altLang="zh-CN" sz="15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12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D68DFD9-913D-0E73-B7DB-9E85699EE67D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62140ECF-CEF8-D571-A73C-A8D26ECC58AD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2D1DEBC-4688-3F63-BDB2-870CFA32A308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7105D7-7D0F-8058-7DA6-E6C5015C1BC7}"/>
              </a:ext>
            </a:extLst>
          </p:cNvPr>
          <p:cNvSpPr txBox="1"/>
          <p:nvPr/>
        </p:nvSpPr>
        <p:spPr>
          <a:xfrm>
            <a:off x="373037" y="1180040"/>
            <a:ext cx="8730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引入 </a:t>
            </a:r>
            <a:r>
              <a:rPr lang="zh-CN" altLang="zh-CN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场景引导模型</a:t>
            </a:r>
            <a:r>
              <a:rPr lang="zh-CN" altLang="zh-CN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的空间理解能力。系统升级为主动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具身智能。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7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2700F9-7C4F-49B4-A6E4-5E97BF93B530}"/>
              </a:ext>
            </a:extLst>
          </p:cNvPr>
          <p:cNvGrpSpPr/>
          <p:nvPr/>
        </p:nvGrpSpPr>
        <p:grpSpPr>
          <a:xfrm>
            <a:off x="731520" y="1554480"/>
            <a:ext cx="7680960" cy="3271518"/>
            <a:chOff x="731520" y="1554480"/>
            <a:chExt cx="7955280" cy="4480560"/>
          </a:xfrm>
        </p:grpSpPr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058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±0.02</a:t>
              </a:r>
              <a:r>
                <a:rPr lang="en-US" sz="2400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mm</a:t>
              </a:r>
              <a:endParaRPr lang="en-US" sz="4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插拔精度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99.2</a:t>
              </a:r>
              <a:r>
                <a:rPr lang="en-US" sz="2400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%</a:t>
              </a:r>
              <a:endParaRPr lang="en-US" sz="4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&lt;10</a:t>
              </a:r>
              <a:r>
                <a:rPr lang="en-US" sz="2400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ms</a:t>
              </a:r>
              <a:endParaRPr lang="en-US" sz="4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端侧推理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7×24</a:t>
              </a: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h</a:t>
              </a:r>
              <a:endParaRPr lang="en-US" sz="4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连续运行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5394960"/>
              <a:ext cx="7680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商业价值：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人工成本降低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单机替代2-3名熟练操作工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良率提升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减少人工损伤，良率从95%提升至99%+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换型时间缩短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从小时级降至分钟级，柔性生产成为可能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FDFA6C-0C86-CCE7-BFB6-21194C27BC57}"/>
              </a:ext>
            </a:extLst>
          </p:cNvPr>
          <p:cNvGrpSpPr/>
          <p:nvPr/>
        </p:nvGrpSpPr>
        <p:grpSpPr>
          <a:xfrm>
            <a:off x="731520" y="1554480"/>
            <a:ext cx="7929880" cy="3347709"/>
            <a:chOff x="731520" y="155448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274320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554480"/>
              <a:ext cx="1920240" cy="7315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Q3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基础搭建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硬件底座完成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安全层激活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3464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834640" y="1554480"/>
              <a:ext cx="192024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2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7180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单工位验证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776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937760" y="1554480"/>
              <a:ext cx="19202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07492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3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7492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 Q1-Q2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7492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产线落地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SYS-11+12融合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040880" y="1554480"/>
              <a:ext cx="1920240" cy="73152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7804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C48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7804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2027+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04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规模化复制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7804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多产线部署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持续优化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368</Words>
  <Application>Microsoft Office PowerPoint</Application>
  <PresentationFormat>全屏显示(16:9)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quote-cjk-patch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祥 倪</cp:lastModifiedBy>
  <cp:revision>26</cp:revision>
  <dcterms:created xsi:type="dcterms:W3CDTF">2026-07-01T08:07:32Z</dcterms:created>
  <dcterms:modified xsi:type="dcterms:W3CDTF">2026-07-03T02:35:36Z</dcterms:modified>
</cp:coreProperties>
</file>