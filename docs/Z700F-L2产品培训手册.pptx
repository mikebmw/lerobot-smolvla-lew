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_image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Z700 F · L2 精细操作机器人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FB950"/>
                </a:solidFill>
              </a:defRPr>
            </a:pPr>
            <a:r>
              <a:t>Z-MAX 智能化模型引擎 · 完整产品手册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88888"/>
                </a:solidFill>
              </a:defRPr>
            </a:pPr>
            <a:r>
              <a:t>智蜂创元(ZFCY) · Q/ZFCY 001.1-2026 · v1.1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5029200" cy="4114800"/>
          </a:xfrm>
          <a:prstGeom prst="rect">
            <a:avLst/>
          </a:prstGeom>
          <a:solidFill>
            <a:srgbClr val="161B22"/>
          </a:solidFill>
          <a:ln w="254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4480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FB950"/>
                </a:solidFill>
              </a:defRPr>
            </a:pPr>
            <a:r>
              <a:t>220VAC输入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→24VDC→机械臂/夹爪/塔灯</a:t>
            </a:r>
            <a:br/>
            <a:r>
              <a:t>→19VDC→Orin NX</a:t>
            </a:r>
            <a:br/>
            <a:r>
              <a:t>→12VDC→交换机/触觉</a:t>
            </a:r>
            <a:br/>
            <a:r>
              <a:t>→5VDC→USB HUB/I2C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371600"/>
            <a:ext cx="5029200" cy="4114800"/>
          </a:xfrm>
          <a:prstGeom prst="rect">
            <a:avLst/>
          </a:prstGeom>
          <a:solidFill>
            <a:srgbClr val="161B22"/>
          </a:solidFill>
          <a:ln w="254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554480"/>
            <a:ext cx="4480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58A6FF"/>
                </a:solidFill>
              </a:defRPr>
            </a:pPr>
            <a:r>
              <a:t>通信架构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Ethernet↔Orin↔USB(相机)</a:t>
            </a:r>
            <a:br/>
            <a:r>
              <a:t>EtherCAT↔机械臂/力传感器</a:t>
            </a:r>
            <a:br/>
            <a:r>
              <a:t>I2C↔触觉/夹爪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🟢 /robot_driver — SR5-C运动控制 → /joint_states(100Hz)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🟢 /gripper_driver — DH夹爪伺服 → GripperSrv服务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🟢 /realsense_source — RealSense → /rgb+/depth(30fps)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🟢 /tower_light — 塔灯控制 → green/yellow/red/off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🟡 /tactile_sensor — TS-T-15 → 事件驱动(BEST_EFFORT)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🟡 /force_torque_node — 六维力 → WrenchStamped(1kHz)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🔴 /physical_estop — 物理急停 → Bool状态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🔴 /usb_estop — USB急停 → Bool状态(冗余)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🔵 /honeywell_scanner — 扫码枪 → barcode字符串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🔵 /vision_tag — FoundationPose → 6D位姿估计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⚪ /obstacle_marker — 障碍物 → Range距离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⚪ /motion — 状态机 → 工序状态跳转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⚪ /hmi — 人机界面 → 状态显示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⚪ /external_comm — 上位机通信 → XSpace Studio桥接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产品架构 · 软件开发理念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5303520" cy="5303520"/>
          </a:xfrm>
          <a:prstGeom prst="rect">
            <a:avLst/>
          </a:prstGeom>
          <a:solidFill>
            <a:srgbClr val="0D1117"/>
          </a:solidFill>
          <a:ln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47548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🖥️ Z-MAX 智能化模型引擎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━━━━━━━━━━━━━━━━━━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软件层: VTLA-LEW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SmolVLM2-500M 视觉编码器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DiT-B 动作头 (262M参数)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因果世界模型 世界模型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━━━━━━━━━━━━━━━━━━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L2 基线: 人工流程编排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L3 增强: 多模态端到端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L4 旗舰: 精细感知全自主安全安全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━━━━━━━━━━━━━━━━━━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Sys-0分段式 → Sys-1端到端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→ Sys-11智能 · OTA升级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097280"/>
            <a:ext cx="5303520" cy="5303520"/>
          </a:xfrm>
          <a:prstGeom prst="rect">
            <a:avLst/>
          </a:prstGeom>
          <a:solidFill>
            <a:srgbClr val="0D1117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280160"/>
            <a:ext cx="47548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🔧 Z700 F 硬件平台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━━━━━━━━━━━━━━━━━━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固定式精密操作机器人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6轴协作机械臂 SR5-C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  负载5kg · 臂展911mm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Jetson AGX Orin NX 16G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  控制周期1ms (EtherCAT)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Mech-Eye + RealSense 双3D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DH PEGA-50-26 伺服夹爪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TS-T-15 触觉传感器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六维力传感器 &gt;10kHz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━━━━━━━━━━━━━━━━━━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21节点·51Topic·Domain23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Phase 0 交付物 · 结构总装图</a:t>
            </a:r>
          </a:p>
        </p:txBody>
      </p:sp>
      <p:pic>
        <p:nvPicPr>
          <p:cNvPr id="4" name="Picture 3" descr="pptx_image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124712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436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88"/>
                </a:solidFill>
              </a:defRPr>
            </a:pPr>
            <a:r>
              <a:t>来源于: 光模块设备结构安装PPTX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Phase 0 交付物 · 电气接线图</a:t>
            </a:r>
          </a:p>
        </p:txBody>
      </p:sp>
      <p:pic>
        <p:nvPicPr>
          <p:cNvPr id="4" name="Picture 3" descr="pptx_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124712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436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88"/>
                </a:solidFill>
              </a:defRPr>
            </a:pPr>
            <a:r>
              <a:t>来源于: 中际旭创接线图说明DOCX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Phase 0 交付物 · 结构细节图</a:t>
            </a:r>
          </a:p>
        </p:txBody>
      </p:sp>
      <p:pic>
        <p:nvPicPr>
          <p:cNvPr id="4" name="Picture 3" descr="pptx_image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124712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436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88"/>
                </a:solidFill>
              </a:defRPr>
            </a:pPr>
            <a:r>
              <a:t>来源于: 结构安装PPTX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L2 基线版 · 6步操作流程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518007" y="1097280"/>
            <a:ext cx="3474720" cy="2286000"/>
          </a:xfrm>
          <a:prstGeom prst="rect">
            <a:avLst/>
          </a:prstGeom>
          <a:solidFill>
            <a:srgbClr val="161B22"/>
          </a:solidFill>
          <a:ln w="254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887" y="128016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FB950"/>
                </a:solidFill>
              </a:defRPr>
            </a:pPr>
            <a:r>
              <a:t>① 人工流程编排</a:t>
            </a:r>
          </a:p>
          <a:p>
            <a:pPr>
              <a:spcBef>
                <a:spcPts val="400"/>
              </a:spcBef>
              <a:defRPr sz="1000">
                <a:solidFill>
                  <a:srgbClr val="888888"/>
                </a:solidFill>
              </a:defRPr>
            </a:pPr>
            <a:r>
              <a:t>操作员在XSpace Studio</a:t>
            </a:r>
            <a:br/>
            <a:r>
              <a:t>设定工序参数·选原子功能</a:t>
            </a:r>
          </a:p>
        </p:txBody>
      </p:sp>
      <p:sp>
        <p:nvSpPr>
          <p:cNvPr id="6" name="Rectangle 5"/>
          <p:cNvSpPr/>
          <p:nvPr/>
        </p:nvSpPr>
        <p:spPr>
          <a:xfrm>
            <a:off x="4358487" y="1097280"/>
            <a:ext cx="3474720" cy="2286000"/>
          </a:xfrm>
          <a:prstGeom prst="rect">
            <a:avLst/>
          </a:prstGeom>
          <a:solidFill>
            <a:srgbClr val="161B22"/>
          </a:solidFill>
          <a:ln w="254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41367" y="128016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58A6FF"/>
                </a:solidFill>
              </a:defRPr>
            </a:pPr>
            <a:r>
              <a:t>② 标准原子功能</a:t>
            </a:r>
          </a:p>
          <a:p>
            <a:pPr>
              <a:spcBef>
                <a:spcPts val="400"/>
              </a:spcBef>
              <a:defRPr sz="1000">
                <a:solidFill>
                  <a:srgbClr val="888888"/>
                </a:solidFill>
              </a:defRPr>
            </a:pPr>
            <a:r>
              <a:t>取料·扫码·定位·对准</a:t>
            </a:r>
            <a:br/>
            <a:r>
              <a:t>插入·拔出·检测·分类</a:t>
            </a:r>
          </a:p>
        </p:txBody>
      </p:sp>
      <p:sp>
        <p:nvSpPr>
          <p:cNvPr id="8" name="Rectangle 7"/>
          <p:cNvSpPr/>
          <p:nvPr/>
        </p:nvSpPr>
        <p:spPr>
          <a:xfrm>
            <a:off x="8198967" y="1097280"/>
            <a:ext cx="3474720" cy="2286000"/>
          </a:xfrm>
          <a:prstGeom prst="rect">
            <a:avLst/>
          </a:prstGeom>
          <a:solidFill>
            <a:srgbClr val="161B22"/>
          </a:solidFill>
          <a:ln w="2540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81847" y="128016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97D"/>
                </a:solidFill>
              </a:defRPr>
            </a:pPr>
            <a:r>
              <a:t>③ 动作执行</a:t>
            </a:r>
          </a:p>
          <a:p>
            <a:pPr>
              <a:spcBef>
                <a:spcPts val="400"/>
              </a:spcBef>
              <a:defRPr sz="1000">
                <a:solidFill>
                  <a:srgbClr val="888888"/>
                </a:solidFill>
              </a:defRPr>
            </a:pPr>
            <a:r>
              <a:t>ROS2标准接口</a:t>
            </a:r>
            <a:br/>
            <a:r>
              <a:t>点到点精密运动±0.05mm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8007" y="3657600"/>
            <a:ext cx="3474720" cy="2286000"/>
          </a:xfrm>
          <a:prstGeom prst="rect">
            <a:avLst/>
          </a:prstGeom>
          <a:solidFill>
            <a:srgbClr val="161B22"/>
          </a:solidFill>
          <a:ln w="254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0887" y="384048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5149"/>
                </a:solidFill>
              </a:defRPr>
            </a:pPr>
            <a:r>
              <a:t>④ 力控反馈</a:t>
            </a:r>
          </a:p>
          <a:p>
            <a:pPr>
              <a:spcBef>
                <a:spcPts val="400"/>
              </a:spcBef>
              <a:defRPr sz="1000">
                <a:solidFill>
                  <a:srgbClr val="888888"/>
                </a:solidFill>
              </a:defRPr>
            </a:pPr>
            <a:r>
              <a:t>六维力&gt;10kHz采样</a:t>
            </a:r>
            <a:br/>
            <a:r>
              <a:t>夹持力自适应闭环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8487" y="3657600"/>
            <a:ext cx="3474720" cy="2286000"/>
          </a:xfrm>
          <a:prstGeom prst="rect">
            <a:avLst/>
          </a:prstGeom>
          <a:solidFill>
            <a:srgbClr val="161B22"/>
          </a:solidFill>
          <a:ln w="25400"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1367" y="384048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29922"/>
                </a:solidFill>
              </a:defRPr>
            </a:pPr>
            <a:r>
              <a:t>⑤ AOI验证</a:t>
            </a:r>
          </a:p>
          <a:p>
            <a:pPr>
              <a:spcBef>
                <a:spcPts val="400"/>
              </a:spcBef>
              <a:defRPr sz="1000">
                <a:solidFill>
                  <a:srgbClr val="888888"/>
                </a:solidFill>
              </a:defRPr>
            </a:pPr>
            <a:r>
              <a:t>逐步确认执行结果</a:t>
            </a:r>
            <a:br/>
            <a:r>
              <a:t>异常自动停机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8967" y="3657600"/>
            <a:ext cx="3474720" cy="2286000"/>
          </a:xfrm>
          <a:prstGeom prst="rect">
            <a:avLst/>
          </a:prstGeom>
          <a:solidFill>
            <a:srgbClr val="161B22"/>
          </a:solidFill>
          <a:ln w="254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1847" y="384048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FB950"/>
                </a:solidFill>
              </a:defRPr>
            </a:pPr>
            <a:r>
              <a:t>⑥ 成品下料</a:t>
            </a:r>
          </a:p>
          <a:p>
            <a:pPr>
              <a:spcBef>
                <a:spcPts val="400"/>
              </a:spcBef>
              <a:defRPr sz="1000">
                <a:solidFill>
                  <a:srgbClr val="888888"/>
                </a:solidFill>
              </a:defRPr>
            </a:pPr>
            <a:r>
              <a:t>取出完成品</a:t>
            </a:r>
            <a:br/>
            <a:r>
              <a:t>记录检测数据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硬件配置 · 12路核心设备</a:t>
            </a:r>
          </a:p>
        </p:txBody>
      </p:sp>
      <p:sp>
        <p:nvSpPr>
          <p:cNvPr id="4" name="Rectangle 3"/>
          <p:cNvSpPr/>
          <p:nvPr/>
        </p:nvSpPr>
        <p:spPr>
          <a:xfrm>
            <a:off x="518007" y="1097280"/>
            <a:ext cx="3474720" cy="2286000"/>
          </a:xfrm>
          <a:prstGeom prst="rect">
            <a:avLst/>
          </a:prstGeom>
          <a:solidFill>
            <a:srgbClr val="161B22"/>
          </a:solidFill>
          <a:ln w="254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887" y="128016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FB950"/>
                </a:solidFill>
              </a:defRPr>
            </a:pPr>
            <a:r>
              <a:t>🤖 6轴机械臂</a:t>
            </a:r>
          </a:p>
          <a:p>
            <a:pPr>
              <a:spcBef>
                <a:spcPts val="400"/>
              </a:spcBef>
              <a:defRPr sz="1000">
                <a:solidFill>
                  <a:srgbClr val="888888"/>
                </a:solidFill>
              </a:defRPr>
            </a:pPr>
            <a:r>
              <a:t>SR5-C·5kg</a:t>
            </a:r>
            <a:br/>
            <a:r>
              <a:t>911mm·±0.05mm</a:t>
            </a:r>
          </a:p>
        </p:txBody>
      </p:sp>
      <p:sp>
        <p:nvSpPr>
          <p:cNvPr id="6" name="Rectangle 5"/>
          <p:cNvSpPr/>
          <p:nvPr/>
        </p:nvSpPr>
        <p:spPr>
          <a:xfrm>
            <a:off x="4358487" y="1097280"/>
            <a:ext cx="3474720" cy="2286000"/>
          </a:xfrm>
          <a:prstGeom prst="rect">
            <a:avLst/>
          </a:prstGeom>
          <a:solidFill>
            <a:srgbClr val="161B22"/>
          </a:solidFill>
          <a:ln w="254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41367" y="128016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58A6FF"/>
                </a:solidFill>
              </a:defRPr>
            </a:pPr>
            <a:r>
              <a:t>🧠 AGX Orin</a:t>
            </a:r>
          </a:p>
          <a:p>
            <a:pPr>
              <a:spcBef>
                <a:spcPts val="400"/>
              </a:spcBef>
              <a:defRPr sz="1000">
                <a:solidFill>
                  <a:srgbClr val="888888"/>
                </a:solidFill>
              </a:defRPr>
            </a:pPr>
            <a:r>
              <a:t>NX 16G</a:t>
            </a:r>
            <a:br/>
            <a:r>
              <a:t>ROS2 Domain23</a:t>
            </a:r>
          </a:p>
        </p:txBody>
      </p:sp>
      <p:sp>
        <p:nvSpPr>
          <p:cNvPr id="8" name="Rectangle 7"/>
          <p:cNvSpPr/>
          <p:nvPr/>
        </p:nvSpPr>
        <p:spPr>
          <a:xfrm>
            <a:off x="8198967" y="1097280"/>
            <a:ext cx="3474720" cy="2286000"/>
          </a:xfrm>
          <a:prstGeom prst="rect">
            <a:avLst/>
          </a:prstGeom>
          <a:solidFill>
            <a:srgbClr val="161B22"/>
          </a:solidFill>
          <a:ln w="2540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81847" y="128016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97D"/>
                </a:solidFill>
              </a:defRPr>
            </a:pPr>
            <a:r>
              <a:t>📷 双3D相机</a:t>
            </a:r>
          </a:p>
          <a:p>
            <a:pPr>
              <a:spcBef>
                <a:spcPts val="400"/>
              </a:spcBef>
              <a:defRPr sz="1000">
                <a:solidFill>
                  <a:srgbClr val="888888"/>
                </a:solidFill>
              </a:defRPr>
            </a:pPr>
            <a:r>
              <a:t>Mech-Eye+D405</a:t>
            </a:r>
            <a:br/>
            <a:r>
              <a:t>RGB+深度30fps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8007" y="3657600"/>
            <a:ext cx="3474720" cy="2286000"/>
          </a:xfrm>
          <a:prstGeom prst="rect">
            <a:avLst/>
          </a:prstGeom>
          <a:solidFill>
            <a:srgbClr val="161B22"/>
          </a:solidFill>
          <a:ln w="254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0887" y="384048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5149"/>
                </a:solidFill>
              </a:defRPr>
            </a:pPr>
            <a:r>
              <a:t>🖐️ DH夹爪</a:t>
            </a:r>
          </a:p>
          <a:p>
            <a:pPr>
              <a:spcBef>
                <a:spcPts val="400"/>
              </a:spcBef>
              <a:defRPr sz="1000">
                <a:solidFill>
                  <a:srgbClr val="888888"/>
                </a:solidFill>
              </a:defRPr>
            </a:pPr>
            <a:r>
              <a:t>PEGA-50-26</a:t>
            </a:r>
            <a:br/>
            <a:r>
              <a:t>0-40mm力控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8487" y="3657600"/>
            <a:ext cx="3474720" cy="2286000"/>
          </a:xfrm>
          <a:prstGeom prst="rect">
            <a:avLst/>
          </a:prstGeom>
          <a:solidFill>
            <a:srgbClr val="161B22"/>
          </a:solidFill>
          <a:ln w="25400"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1367" y="384048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29922"/>
                </a:solidFill>
              </a:defRPr>
            </a:pPr>
            <a:r>
              <a:t>⚡ 六维力</a:t>
            </a:r>
          </a:p>
          <a:p>
            <a:pPr>
              <a:spcBef>
                <a:spcPts val="400"/>
              </a:spcBef>
              <a:defRPr sz="1000">
                <a:solidFill>
                  <a:srgbClr val="888888"/>
                </a:solidFill>
              </a:defRPr>
            </a:pPr>
            <a:r>
              <a:t>Fx/Fy/Fz/Mx/My/Mz</a:t>
            </a:r>
            <a:br/>
            <a:r>
              <a:t>&gt;10kHz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8967" y="3657600"/>
            <a:ext cx="3474720" cy="2286000"/>
          </a:xfrm>
          <a:prstGeom prst="rect">
            <a:avLst/>
          </a:prstGeom>
          <a:solidFill>
            <a:srgbClr val="161B22"/>
          </a:solidFill>
          <a:ln w="254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1847" y="384048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FB950"/>
                </a:solidFill>
              </a:defRPr>
            </a:pPr>
            <a:r>
              <a:t>🛡️ 安全</a:t>
            </a:r>
          </a:p>
          <a:p>
            <a:pPr>
              <a:spcBef>
                <a:spcPts val="400"/>
              </a:spcBef>
              <a:defRPr sz="1000">
                <a:solidFill>
                  <a:srgbClr val="888888"/>
                </a:solidFill>
              </a:defRPr>
            </a:pPr>
            <a:r>
              <a:t>双路急停·光栅</a:t>
            </a:r>
            <a:br/>
            <a:r>
              <a:t>塔灯·力控过载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电气系统 · 拓扑架构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ROS2 通信架构 · 21节点 · 51Topic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XSpace Studio · 9大功能模块 (GUI界面)</a:t>
            </a:r>
          </a:p>
        </p:txBody>
      </p:sp>
      <p:sp>
        <p:nvSpPr>
          <p:cNvPr id="4" name="Rectangle 3"/>
          <p:cNvSpPr/>
          <p:nvPr/>
        </p:nvSpPr>
        <p:spPr>
          <a:xfrm>
            <a:off x="518007" y="1097280"/>
            <a:ext cx="3474720" cy="2286000"/>
          </a:xfrm>
          <a:prstGeom prst="rect">
            <a:avLst/>
          </a:prstGeom>
          <a:solidFill>
            <a:srgbClr val="161B22"/>
          </a:solidFill>
          <a:ln w="254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887" y="128016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FB950"/>
                </a:solidFill>
              </a:defRPr>
            </a:pPr>
            <a:r>
              <a:t>🏠 首页</a:t>
            </a:r>
          </a:p>
          <a:p>
            <a:pPr>
              <a:spcBef>
                <a:spcPts val="400"/>
              </a:spcBef>
              <a:defRPr sz="1000">
                <a:solidFill>
                  <a:srgbClr val="888888"/>
                </a:solidFill>
              </a:defRPr>
            </a:pPr>
            <a:r>
              <a:t>系统概览·状态灯</a:t>
            </a:r>
            <a:br/>
            <a:r>
              <a:t>快捷入口·版本信息</a:t>
            </a:r>
          </a:p>
        </p:txBody>
      </p:sp>
      <p:sp>
        <p:nvSpPr>
          <p:cNvPr id="6" name="Rectangle 5"/>
          <p:cNvSpPr/>
          <p:nvPr/>
        </p:nvSpPr>
        <p:spPr>
          <a:xfrm>
            <a:off x="4358487" y="1097280"/>
            <a:ext cx="3474720" cy="2286000"/>
          </a:xfrm>
          <a:prstGeom prst="rect">
            <a:avLst/>
          </a:prstGeom>
          <a:solidFill>
            <a:srgbClr val="161B22"/>
          </a:solidFill>
          <a:ln w="254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41367" y="128016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58A6FF"/>
                </a:solidFill>
              </a:defRPr>
            </a:pPr>
            <a:r>
              <a:t>📦 数据集管理</a:t>
            </a:r>
          </a:p>
          <a:p>
            <a:pPr>
              <a:spcBef>
                <a:spcPts val="400"/>
              </a:spcBef>
              <a:defRPr sz="1000">
                <a:solidFill>
                  <a:srgbClr val="888888"/>
                </a:solidFill>
              </a:defRPr>
            </a:pPr>
            <a:r>
              <a:t>HuggingFace下载</a:t>
            </a:r>
            <a:br/>
            <a:r>
              <a:t>缓存管理·镜像加速</a:t>
            </a:r>
          </a:p>
        </p:txBody>
      </p:sp>
      <p:sp>
        <p:nvSpPr>
          <p:cNvPr id="8" name="Rectangle 7"/>
          <p:cNvSpPr/>
          <p:nvPr/>
        </p:nvSpPr>
        <p:spPr>
          <a:xfrm>
            <a:off x="8198967" y="1097280"/>
            <a:ext cx="3474720" cy="2286000"/>
          </a:xfrm>
          <a:prstGeom prst="rect">
            <a:avLst/>
          </a:prstGeom>
          <a:solidFill>
            <a:srgbClr val="161B22"/>
          </a:solidFill>
          <a:ln w="2540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81847" y="128016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97D"/>
                </a:solidFill>
              </a:defRPr>
            </a:pPr>
            <a:r>
              <a:t>🏋️ 训练控制台</a:t>
            </a:r>
          </a:p>
          <a:p>
            <a:pPr>
              <a:spcBef>
                <a:spcPts val="400"/>
              </a:spcBef>
              <a:defRPr sz="1000">
                <a:solidFill>
                  <a:srgbClr val="888888"/>
                </a:solidFill>
              </a:defRPr>
            </a:pPr>
            <a:r>
              <a:t>VTLA端到端训练</a:t>
            </a:r>
            <a:br/>
            <a:r>
              <a:t>DiffusionPolicy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8007" y="3657600"/>
            <a:ext cx="3474720" cy="2286000"/>
          </a:xfrm>
          <a:prstGeom prst="rect">
            <a:avLst/>
          </a:prstGeom>
          <a:solidFill>
            <a:srgbClr val="161B22"/>
          </a:solidFill>
          <a:ln w="254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0887" y="384048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FB950"/>
                </a:solidFill>
              </a:defRPr>
            </a:pPr>
            <a:r>
              <a:t>✅ 评估分析</a:t>
            </a:r>
          </a:p>
          <a:p>
            <a:pPr>
              <a:spcBef>
                <a:spcPts val="400"/>
              </a:spcBef>
              <a:defRPr sz="1000">
                <a:solidFill>
                  <a:srgbClr val="888888"/>
                </a:solidFill>
              </a:defRPr>
            </a:pPr>
            <a:r>
              <a:t>训练损失曲线</a:t>
            </a:r>
            <a:br/>
            <a:r>
              <a:t>多记录对比·模型选择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8487" y="3657600"/>
            <a:ext cx="3474720" cy="2286000"/>
          </a:xfrm>
          <a:prstGeom prst="rect">
            <a:avLst/>
          </a:prstGeom>
          <a:solidFill>
            <a:srgbClr val="161B22"/>
          </a:solidFill>
          <a:ln w="254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1367" y="384048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58A6FF"/>
                </a:solidFill>
              </a:defRPr>
            </a:pPr>
            <a:r>
              <a:t>🔧 硬件工具箱</a:t>
            </a:r>
          </a:p>
          <a:p>
            <a:pPr>
              <a:spcBef>
                <a:spcPts val="400"/>
              </a:spcBef>
              <a:defRPr sz="1000">
                <a:solidFill>
                  <a:srgbClr val="888888"/>
                </a:solidFill>
              </a:defRPr>
            </a:pPr>
            <a:r>
              <a:t>12路CANoe总线</a:t>
            </a:r>
            <a:br/>
            <a:r>
              <a:t>设备树·SSH直连控制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8967" y="3657600"/>
            <a:ext cx="3474720" cy="2286000"/>
          </a:xfrm>
          <a:prstGeom prst="rect">
            <a:avLst/>
          </a:prstGeom>
          <a:solidFill>
            <a:srgbClr val="161B22"/>
          </a:solidFill>
          <a:ln w="2540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1847" y="384048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97D"/>
                </a:solidFill>
              </a:defRPr>
            </a:pPr>
            <a:r>
              <a:t>⚙️ 配置中心</a:t>
            </a:r>
          </a:p>
          <a:p>
            <a:pPr>
              <a:spcBef>
                <a:spcPts val="400"/>
              </a:spcBef>
              <a:defRPr sz="1000">
                <a:solidFill>
                  <a:srgbClr val="888888"/>
                </a:solidFill>
              </a:defRPr>
            </a:pPr>
            <a:r>
              <a:t>VTLA-LEW参数</a:t>
            </a:r>
            <a:br/>
            <a:r>
              <a:t>三层可视化编辑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8007" y="6217920"/>
            <a:ext cx="3474720" cy="2286000"/>
          </a:xfrm>
          <a:prstGeom prst="rect">
            <a:avLst/>
          </a:prstGeom>
          <a:solidFill>
            <a:srgbClr val="161B22"/>
          </a:solidFill>
          <a:ln w="254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0887" y="640080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5149"/>
                </a:solidFill>
              </a:defRPr>
            </a:pPr>
            <a:r>
              <a:t>📈 实时监控</a:t>
            </a:r>
          </a:p>
          <a:p>
            <a:pPr>
              <a:spcBef>
                <a:spcPts val="400"/>
              </a:spcBef>
              <a:defRPr sz="1000">
                <a:solidFill>
                  <a:srgbClr val="888888"/>
                </a:solidFill>
              </a:defRPr>
            </a:pPr>
            <a:r>
              <a:t>6信号源+Rerun3D</a:t>
            </a:r>
            <a:br/>
            <a:r>
              <a:t>信号追踪·余晖效果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58487" y="6217920"/>
            <a:ext cx="3474720" cy="2286000"/>
          </a:xfrm>
          <a:prstGeom prst="rect">
            <a:avLst/>
          </a:prstGeom>
          <a:solidFill>
            <a:srgbClr val="161B22"/>
          </a:solidFill>
          <a:ln w="25400"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41367" y="640080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29922"/>
                </a:solidFill>
              </a:defRPr>
            </a:pPr>
            <a:r>
              <a:t>🤖 插拔场景</a:t>
            </a:r>
          </a:p>
          <a:p>
            <a:pPr>
              <a:spcBef>
                <a:spcPts val="400"/>
              </a:spcBef>
              <a:defRPr sz="1000">
                <a:solidFill>
                  <a:srgbClr val="888888"/>
                </a:solidFill>
              </a:defRPr>
            </a:pPr>
            <a:r>
              <a:t>L2/L3/L4三级场景</a:t>
            </a:r>
            <a:br/>
            <a:r>
              <a:t>功能积木阶梯进化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98967" y="6217920"/>
            <a:ext cx="3474720" cy="2286000"/>
          </a:xfrm>
          <a:prstGeom prst="rect">
            <a:avLst/>
          </a:prstGeom>
          <a:solidFill>
            <a:srgbClr val="161B22"/>
          </a:solidFill>
          <a:ln w="254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1847" y="640080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FB950"/>
                </a:solidFill>
              </a:defRPr>
            </a:pPr>
            <a:r>
              <a:t>🔄 版本同步</a:t>
            </a:r>
          </a:p>
          <a:p>
            <a:pPr>
              <a:spcBef>
                <a:spcPts val="400"/>
              </a:spcBef>
              <a:defRPr sz="1000">
                <a:solidFill>
                  <a:srgbClr val="888888"/>
                </a:solidFill>
              </a:defRPr>
            </a:pPr>
            <a:r>
              <a:t>LeRobot上游管理</a:t>
            </a:r>
            <a:br/>
            <a:r>
              <a:t>安全检查·冲突检测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功能积木 · L2→L3→L4 阶梯进化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518007" y="1097280"/>
            <a:ext cx="3474720" cy="2286000"/>
          </a:xfrm>
          <a:prstGeom prst="rect">
            <a:avLst/>
          </a:prstGeom>
          <a:solidFill>
            <a:srgbClr val="161B22"/>
          </a:solidFill>
          <a:ln w="254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887" y="128016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FB950"/>
                </a:solidFill>
              </a:defRPr>
            </a:pPr>
            <a:r>
              <a:t>L2 基线版 大于99%</a:t>
            </a:r>
          </a:p>
          <a:p>
            <a:pPr>
              <a:spcBef>
                <a:spcPts val="400"/>
              </a:spcBef>
              <a:defRPr sz="1000">
                <a:solidFill>
                  <a:srgbClr val="888888"/>
                </a:solidFill>
              </a:defRPr>
            </a:pPr>
            <a:r>
              <a:t>人工编排·原子功能</a:t>
            </a:r>
            <a:br/>
            <a:r>
              <a:t>动作执行·力控反馈</a:t>
            </a:r>
            <a:br/>
            <a:r>
              <a:t>AOI验证·成品下料</a:t>
            </a:r>
          </a:p>
        </p:txBody>
      </p:sp>
      <p:sp>
        <p:nvSpPr>
          <p:cNvPr id="6" name="Rectangle 5"/>
          <p:cNvSpPr/>
          <p:nvPr/>
        </p:nvSpPr>
        <p:spPr>
          <a:xfrm>
            <a:off x="4358487" y="1097280"/>
            <a:ext cx="3474720" cy="2286000"/>
          </a:xfrm>
          <a:prstGeom prst="rect">
            <a:avLst/>
          </a:prstGeom>
          <a:solidFill>
            <a:srgbClr val="161B22"/>
          </a:solidFill>
          <a:ln w="254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41367" y="128016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58A6FF"/>
                </a:solidFill>
              </a:defRPr>
            </a:pPr>
            <a:r>
              <a:t>L3 增强版 ≥99.5%</a:t>
            </a:r>
          </a:p>
          <a:p>
            <a:pPr>
              <a:spcBef>
                <a:spcPts val="400"/>
              </a:spcBef>
              <a:defRPr sz="1000">
                <a:solidFill>
                  <a:srgbClr val="888888"/>
                </a:solidFill>
              </a:defRPr>
            </a:pPr>
            <a:r>
              <a:t>+多模块自主识别</a:t>
            </a:r>
            <a:br/>
            <a:r>
              <a:t>+自主闭环工作</a:t>
            </a:r>
            <a:br/>
            <a:r>
              <a:t>+换线自主换配方</a:t>
            </a:r>
            <a:br/>
            <a:r>
              <a:t>+异常诊断自恢复</a:t>
            </a:r>
          </a:p>
        </p:txBody>
      </p:sp>
      <p:sp>
        <p:nvSpPr>
          <p:cNvPr id="8" name="Rectangle 7"/>
          <p:cNvSpPr/>
          <p:nvPr/>
        </p:nvSpPr>
        <p:spPr>
          <a:xfrm>
            <a:off x="8198967" y="1097280"/>
            <a:ext cx="3474720" cy="2286000"/>
          </a:xfrm>
          <a:prstGeom prst="rect">
            <a:avLst/>
          </a:prstGeom>
          <a:solidFill>
            <a:srgbClr val="161B22"/>
          </a:solidFill>
          <a:ln w="254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81847" y="128016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5149"/>
                </a:solidFill>
              </a:defRPr>
            </a:pPr>
            <a:r>
              <a:t>L4 旗舰版 ≥99.9%</a:t>
            </a:r>
          </a:p>
          <a:p>
            <a:pPr>
              <a:spcBef>
                <a:spcPts val="400"/>
              </a:spcBef>
              <a:defRPr sz="1000">
                <a:solidFill>
                  <a:srgbClr val="888888"/>
                </a:solidFill>
              </a:defRPr>
            </a:pPr>
            <a:r>
              <a:t>+力控预判保护</a:t>
            </a:r>
            <a:br/>
            <a:r>
              <a:t>+视视触觉闭环反馈</a:t>
            </a:r>
            <a:br/>
            <a:r>
              <a:t>+光幕联动安全</a:t>
            </a:r>
            <a:br/>
            <a:r>
              <a:t>+自诊断预警·AI预测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Phase 0 交付物 · 结构安装详图</a:t>
            </a:r>
          </a:p>
        </p:txBody>
      </p:sp>
      <p:pic>
        <p:nvPicPr>
          <p:cNvPr id="4" name="Picture 3" descr="pptx_image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124712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Phase 0 交付物 · 更多结构细节</a:t>
            </a:r>
          </a:p>
        </p:txBody>
      </p:sp>
      <p:pic>
        <p:nvPicPr>
          <p:cNvPr id="4" name="Picture 3" descr="pptx_image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124712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安全体系 · 五层主动保护</a:t>
            </a:r>
          </a:p>
        </p:txBody>
      </p:sp>
      <p:sp>
        <p:nvSpPr>
          <p:cNvPr id="4" name="Rectangle 3"/>
          <p:cNvSpPr/>
          <p:nvPr/>
        </p:nvSpPr>
        <p:spPr>
          <a:xfrm>
            <a:off x="518007" y="1097280"/>
            <a:ext cx="3474720" cy="2286000"/>
          </a:xfrm>
          <a:prstGeom prst="rect">
            <a:avLst/>
          </a:prstGeom>
          <a:solidFill>
            <a:srgbClr val="161B22"/>
          </a:solidFill>
          <a:ln w="254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887" y="128016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FB950"/>
                </a:solidFill>
              </a:defRPr>
            </a:pPr>
            <a:r>
              <a:t>L1 力控预判</a:t>
            </a:r>
          </a:p>
          <a:p>
            <a:pPr>
              <a:spcBef>
                <a:spcPts val="400"/>
              </a:spcBef>
              <a:defRPr sz="1000">
                <a:solidFill>
                  <a:srgbClr val="888888"/>
                </a:solidFill>
              </a:defRPr>
            </a:pPr>
            <a:r>
              <a:t>&gt;10kHz采样</a:t>
            </a:r>
            <a:br/>
            <a:r>
              <a:t>超阈值0.05s停机</a:t>
            </a:r>
          </a:p>
        </p:txBody>
      </p:sp>
      <p:sp>
        <p:nvSpPr>
          <p:cNvPr id="6" name="Rectangle 5"/>
          <p:cNvSpPr/>
          <p:nvPr/>
        </p:nvSpPr>
        <p:spPr>
          <a:xfrm>
            <a:off x="4358487" y="1097280"/>
            <a:ext cx="3474720" cy="2286000"/>
          </a:xfrm>
          <a:prstGeom prst="rect">
            <a:avLst/>
          </a:prstGeom>
          <a:solidFill>
            <a:srgbClr val="161B22"/>
          </a:solidFill>
          <a:ln w="254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41367" y="128016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58A6FF"/>
                </a:solidFill>
              </a:defRPr>
            </a:pPr>
            <a:r>
              <a:t>L2 触觉闭环</a:t>
            </a:r>
          </a:p>
          <a:p>
            <a:pPr>
              <a:spcBef>
                <a:spcPts val="400"/>
              </a:spcBef>
              <a:defRPr sz="1000">
                <a:solidFill>
                  <a:srgbClr val="888888"/>
                </a:solidFill>
              </a:defRPr>
            </a:pPr>
            <a:r>
              <a:t>TS-T-15实时反馈</a:t>
            </a:r>
            <a:br/>
            <a:r>
              <a:t>夹持力&gt;2N自动释放</a:t>
            </a:r>
          </a:p>
        </p:txBody>
      </p:sp>
      <p:sp>
        <p:nvSpPr>
          <p:cNvPr id="8" name="Rectangle 7"/>
          <p:cNvSpPr/>
          <p:nvPr/>
        </p:nvSpPr>
        <p:spPr>
          <a:xfrm>
            <a:off x="8198967" y="1097280"/>
            <a:ext cx="3474720" cy="2286000"/>
          </a:xfrm>
          <a:prstGeom prst="rect">
            <a:avLst/>
          </a:prstGeom>
          <a:solidFill>
            <a:srgbClr val="161B22"/>
          </a:solidFill>
          <a:ln w="2540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81847" y="128016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97D"/>
                </a:solidFill>
              </a:defRPr>
            </a:pPr>
            <a:r>
              <a:t>L3 光幕联动</a:t>
            </a:r>
          </a:p>
          <a:p>
            <a:pPr>
              <a:spcBef>
                <a:spcPts val="400"/>
              </a:spcBef>
              <a:defRPr sz="1000">
                <a:solidFill>
                  <a:srgbClr val="888888"/>
                </a:solidFill>
              </a:defRPr>
            </a:pPr>
            <a:r>
              <a:t>KE22-1040×2</a:t>
            </a:r>
            <a:br/>
            <a:r>
              <a:t>人员→降速/停机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8007" y="3657600"/>
            <a:ext cx="3474720" cy="2286000"/>
          </a:xfrm>
          <a:prstGeom prst="rect">
            <a:avLst/>
          </a:prstGeom>
          <a:solidFill>
            <a:srgbClr val="161B22"/>
          </a:solidFill>
          <a:ln w="254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0887" y="384048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5149"/>
                </a:solidFill>
              </a:defRPr>
            </a:pPr>
            <a:r>
              <a:t>L4 双路急停</a:t>
            </a:r>
          </a:p>
          <a:p>
            <a:pPr>
              <a:spcBef>
                <a:spcPts val="400"/>
              </a:spcBef>
              <a:defRPr sz="1000">
                <a:solidFill>
                  <a:srgbClr val="888888"/>
                </a:solidFill>
              </a:defRPr>
            </a:pPr>
            <a:r>
              <a:t>物理+USB冗余</a:t>
            </a:r>
            <a:br/>
            <a:r>
              <a:t>任一触发→停止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8487" y="3657600"/>
            <a:ext cx="3474720" cy="2286000"/>
          </a:xfrm>
          <a:prstGeom prst="rect">
            <a:avLst/>
          </a:prstGeom>
          <a:solidFill>
            <a:srgbClr val="161B22"/>
          </a:solidFill>
          <a:ln w="25400"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1367" y="384048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29922"/>
                </a:solidFill>
              </a:defRPr>
            </a:pPr>
            <a:r>
              <a:t>L5 塔灯指示</a:t>
            </a:r>
          </a:p>
          <a:p>
            <a:pPr>
              <a:spcBef>
                <a:spcPts val="400"/>
              </a:spcBef>
              <a:defRPr sz="1000">
                <a:solidFill>
                  <a:srgbClr val="888888"/>
                </a:solidFill>
              </a:defRPr>
            </a:pPr>
            <a:r>
              <a:t>🟢运行🟡待处理</a:t>
            </a:r>
            <a:br/>
            <a:r>
              <a:t>🔴急停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产品迭代 · 投资回报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5303520" cy="5303520"/>
          </a:xfrm>
          <a:prstGeom prst="rect">
            <a:avLst/>
          </a:prstGeom>
          <a:solidFill>
            <a:srgbClr val="0D1117"/>
          </a:solidFill>
          <a:ln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47548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📈 产品迭代路线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━━━━━━━━━━━━━━━━━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L2 ✅ 基线·Sys-0分段式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  人工编排+AOI·大于99%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  已交付·今日可投产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L3 ⏳ 增强·Sys-1端到端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  多模态自主闭环·≥99.5%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  2026Q4 OTA升级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L4 🔮 旗舰·Sys-11智能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  精细感知全自主安全安全·≥99.9%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  2027Q2 OTA升级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硬件不变·软件OTA升级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097280"/>
            <a:ext cx="5303520" cy="5303520"/>
          </a:xfrm>
          <a:prstGeom prst="rect">
            <a:avLst/>
          </a:prstGeom>
          <a:solidFill>
            <a:srgbClr val="0D1117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280160"/>
            <a:ext cx="47548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💰 投资回报分析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━━━━━━━━━━━━━━━━━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熟练工人(3班倒)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  年人力: 108万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  良率: 95-97%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  年综合: ≈120万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Z700 F L2基线版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  年成本: ≈25万(折旧)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  良率: 大于99%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  年综合: ≈25万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⚡ 年净省: 95万+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📅 回本周期: ~12个月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Z700 F · 固定式精密操作具身机器人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3FB950"/>
                </a:solidFill>
              </a:defRPr>
            </a:pPr>
            <a:r>
              <a:t>Z-MAX 智能化模型引擎驱动 · L2 基线版 · 今日即可投产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88888"/>
                </a:solidFill>
              </a:defRPr>
            </a:pPr>
            <a:r>
              <a:t>智蜂创元(ZFCY) · Q/ZFCY 001.1-2026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