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9EE6214-4FFA-4838-B26E-8A3DEBA3EF58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17A322-40DC-4B7A-A62F-49A1E3C7533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A14CD46-4020-4EE3-981A-EBBA07DF2FE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7EDBB22-DCCE-4764-9A9E-DF49CC8298A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6DF6663-CFFF-41C0-97DD-D0770AFD09C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D37CED-33AA-4D5E-94A5-7C755953052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8E1554-1BDB-482E-B209-011B4258E38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7F4FF60-E5AA-476E-B8A9-4AA0E9B8948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9867AB-E033-44CB-8516-7006615AAA6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2920" cy="136080"/>
          </a:xfrm>
          <a:prstGeom prst="rect">
            <a:avLst/>
          </a:prstGeom>
          <a:solidFill>
            <a:srgbClr val="3b82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731520" y="1097280"/>
            <a:ext cx="76798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7200" spc="-1" strike="noStrike">
                <a:solidFill>
                  <a:srgbClr val="3b82f6"/>
                </a:solidFill>
                <a:latin typeface="Arial Black"/>
                <a:ea typeface="Arial Black"/>
              </a:rPr>
              <a:t>Z-MAX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731520" y="2103120"/>
            <a:ext cx="76798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4400" spc="-1" strike="noStrike">
                <a:solidFill>
                  <a:srgbClr val="f8fafc"/>
                </a:solidFill>
                <a:latin typeface="Arial"/>
                <a:ea typeface="Arial"/>
              </a:rPr>
              <a:t>多模态动作专家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7" name="Shape 3"/>
          <p:cNvSpPr/>
          <p:nvPr/>
        </p:nvSpPr>
        <p:spPr>
          <a:xfrm>
            <a:off x="731520" y="3017520"/>
            <a:ext cx="2743200" cy="360"/>
          </a:xfrm>
          <a:prstGeom prst="line">
            <a:avLst/>
          </a:prstGeom>
          <a:ln w="381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Text 4"/>
          <p:cNvSpPr/>
          <p:nvPr/>
        </p:nvSpPr>
        <p:spPr>
          <a:xfrm>
            <a:off x="731520" y="3291840"/>
            <a:ext cx="767988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2400" spc="-1" strike="noStrike">
                <a:solidFill>
                  <a:srgbClr val="cbd5e1"/>
                </a:solidFill>
                <a:latin typeface="Arial"/>
                <a:ea typeface="Arial"/>
              </a:rPr>
              <a:t>光模块工厂智能插拔解决方案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59e0b"/>
                </a:solidFill>
                <a:latin typeface="Arial"/>
                <a:ea typeface="Arial"/>
              </a:rPr>
              <a:t>±0.02mm </a:t>
            </a:r>
            <a:r>
              <a:rPr b="1" lang="zh-CN" sz="1800" spc="-1" strike="noStrike">
                <a:solidFill>
                  <a:srgbClr val="f59e0b"/>
                </a:solidFill>
                <a:latin typeface="Arial"/>
                <a:ea typeface="Arial"/>
              </a:rPr>
              <a:t>精度  </a:t>
            </a:r>
            <a:r>
              <a:rPr b="1" lang="en-US" sz="1800" spc="-1" strike="noStrike">
                <a:solidFill>
                  <a:srgbClr val="f59e0b"/>
                </a:solidFill>
                <a:latin typeface="Arial"/>
                <a:ea typeface="Arial"/>
              </a:rPr>
              <a:t>|  99.2% </a:t>
            </a:r>
            <a:r>
              <a:rPr b="1" lang="zh-CN" sz="1800" spc="-1" strike="noStrike">
                <a:solidFill>
                  <a:srgbClr val="f59e0b"/>
                </a:solidFill>
                <a:latin typeface="Arial"/>
                <a:ea typeface="Arial"/>
              </a:rPr>
              <a:t>成功率  </a:t>
            </a:r>
            <a:r>
              <a:rPr b="1" lang="en-US" sz="1800" spc="-1" strike="noStrike">
                <a:solidFill>
                  <a:srgbClr val="f59e0b"/>
                </a:solidFill>
                <a:latin typeface="Arial"/>
                <a:ea typeface="Arial"/>
              </a:rPr>
              <a:t>|  L4</a:t>
            </a:r>
            <a:r>
              <a:rPr b="1" lang="zh-CN" sz="1800" spc="-1" strike="noStrike">
                <a:solidFill>
                  <a:srgbClr val="f59e0b"/>
                </a:solidFill>
                <a:latin typeface="Arial"/>
                <a:ea typeface="Arial"/>
              </a:rPr>
              <a:t>级全自主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360" y="4503960"/>
            <a:ext cx="9142920" cy="639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6"/>
          <p:cNvSpPr/>
          <p:nvPr/>
        </p:nvSpPr>
        <p:spPr>
          <a:xfrm>
            <a:off x="549000" y="4663800"/>
            <a:ext cx="7679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1400" spc="-1" strike="noStrike">
                <a:solidFill>
                  <a:srgbClr val="cbd5e1"/>
                </a:solidFill>
                <a:latin typeface="Arial"/>
                <a:ea typeface="Arial"/>
              </a:rPr>
              <a:t>智蜂创元 </a:t>
            </a:r>
            <a:r>
              <a:rPr b="0" lang="en-US" sz="1400" spc="-1" strike="noStrike">
                <a:solidFill>
                  <a:srgbClr val="cbd5e1"/>
                </a:solidFill>
                <a:latin typeface="Arial"/>
                <a:ea typeface="Arial"/>
              </a:rPr>
              <a:t>| </a:t>
            </a:r>
            <a:r>
              <a:rPr b="0" lang="zh-CN" sz="1400" spc="-1" strike="noStrike">
                <a:solidFill>
                  <a:srgbClr val="cbd5e1"/>
                </a:solidFill>
                <a:latin typeface="Arial"/>
                <a:ea typeface="Arial"/>
              </a:rPr>
              <a:t>具身机器人产品解决方案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731520" y="457200"/>
            <a:ext cx="7679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3600" spc="-1" strike="noStrike">
                <a:solidFill>
                  <a:srgbClr val="f8fafc"/>
                </a:solidFill>
                <a:latin typeface="Arial Black"/>
                <a:ea typeface="Arial Black"/>
              </a:rPr>
              <a:t>智能化分级体系 </a:t>
            </a:r>
            <a:r>
              <a:rPr b="1" lang="en-US" sz="3600" spc="-1" strike="noStrike">
                <a:solidFill>
                  <a:srgbClr val="f8fafc"/>
                </a:solidFill>
                <a:latin typeface="Arial Black"/>
                <a:ea typeface="Arial Black"/>
              </a:rPr>
              <a:t>(L1-L5)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731520" y="1188720"/>
            <a:ext cx="1828800" cy="360"/>
          </a:xfrm>
          <a:prstGeom prst="line">
            <a:avLst/>
          </a:prstGeom>
          <a:ln w="254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3" name=""/>
          <p:cNvGrpSpPr/>
          <p:nvPr/>
        </p:nvGrpSpPr>
        <p:grpSpPr>
          <a:xfrm>
            <a:off x="731520" y="1554480"/>
            <a:ext cx="7268760" cy="3245400"/>
            <a:chOff x="731520" y="1554480"/>
            <a:chExt cx="7268760" cy="3245400"/>
          </a:xfrm>
        </p:grpSpPr>
        <p:sp>
          <p:nvSpPr>
            <p:cNvPr id="54" name="Shape 2"/>
            <p:cNvSpPr/>
            <p:nvPr/>
          </p:nvSpPr>
          <p:spPr>
            <a:xfrm>
              <a:off x="731520" y="1554480"/>
              <a:ext cx="3508560" cy="149724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5" name="Shape 3"/>
            <p:cNvSpPr/>
            <p:nvPr/>
          </p:nvSpPr>
          <p:spPr>
            <a:xfrm>
              <a:off x="731520" y="1554480"/>
              <a:ext cx="65880" cy="1497240"/>
            </a:xfrm>
            <a:prstGeom prst="rect">
              <a:avLst/>
            </a:prstGeom>
            <a:solidFill>
              <a:srgbClr val="10b98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" name="Text 4"/>
            <p:cNvSpPr/>
            <p:nvPr/>
          </p:nvSpPr>
          <p:spPr>
            <a:xfrm>
              <a:off x="982080" y="1720800"/>
              <a:ext cx="667440" cy="415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2800" spc="-1" strike="noStrike">
                  <a:solidFill>
                    <a:srgbClr val="10b981"/>
                  </a:solidFill>
                  <a:latin typeface="Arial Black"/>
                  <a:ea typeface="Arial Black"/>
                </a:rPr>
                <a:t>L2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57" name="Text 5"/>
            <p:cNvSpPr/>
            <p:nvPr/>
          </p:nvSpPr>
          <p:spPr>
            <a:xfrm>
              <a:off x="1734120" y="1720800"/>
              <a:ext cx="2338920" cy="415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800" spc="-1" strike="noStrike">
                  <a:solidFill>
                    <a:srgbClr val="f8fafc"/>
                  </a:solidFill>
                  <a:latin typeface="Arial"/>
                  <a:ea typeface="Arial"/>
                </a:rPr>
                <a:t>基础驱动平台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58" name="Text 6"/>
            <p:cNvSpPr/>
            <p:nvPr/>
          </p:nvSpPr>
          <p:spPr>
            <a:xfrm>
              <a:off x="982080" y="222048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200" spc="-1" strike="noStrike">
                  <a:solidFill>
                    <a:srgbClr val="06b6d4"/>
                  </a:solidFill>
                  <a:latin typeface="Arial"/>
                  <a:ea typeface="Arial"/>
                </a:rPr>
                <a:t>System 0 + System 2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59" name="Text 7"/>
            <p:cNvSpPr/>
            <p:nvPr/>
          </p:nvSpPr>
          <p:spPr>
            <a:xfrm>
              <a:off x="982080" y="255348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硬件底座与安全层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60" name="Shape 8"/>
            <p:cNvSpPr/>
            <p:nvPr/>
          </p:nvSpPr>
          <p:spPr>
            <a:xfrm>
              <a:off x="4491720" y="1554480"/>
              <a:ext cx="3508560" cy="149724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1" name="Shape 9"/>
            <p:cNvSpPr/>
            <p:nvPr/>
          </p:nvSpPr>
          <p:spPr>
            <a:xfrm>
              <a:off x="4491720" y="1554480"/>
              <a:ext cx="65880" cy="1497240"/>
            </a:xfrm>
            <a:prstGeom prst="rect">
              <a:avLst/>
            </a:prstGeom>
            <a:solidFill>
              <a:srgbClr val="06b6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2" name="Text 10"/>
            <p:cNvSpPr/>
            <p:nvPr/>
          </p:nvSpPr>
          <p:spPr>
            <a:xfrm>
              <a:off x="4742280" y="1720800"/>
              <a:ext cx="667440" cy="415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2800" spc="-1" strike="noStrike">
                  <a:solidFill>
                    <a:srgbClr val="06b6d4"/>
                  </a:solidFill>
                  <a:latin typeface="Arial Black"/>
                  <a:ea typeface="Arial Black"/>
                </a:rPr>
                <a:t>L3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63" name="Text 11"/>
            <p:cNvSpPr/>
            <p:nvPr/>
          </p:nvSpPr>
          <p:spPr>
            <a:xfrm>
              <a:off x="5494320" y="1720800"/>
              <a:ext cx="2338920" cy="415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800" spc="-1" strike="noStrike">
                  <a:solidFill>
                    <a:srgbClr val="f8fafc"/>
                  </a:solidFill>
                  <a:latin typeface="Arial"/>
                  <a:ea typeface="Arial"/>
                </a:rPr>
                <a:t>条件自主插拔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64" name="Text 12"/>
            <p:cNvSpPr/>
            <p:nvPr/>
          </p:nvSpPr>
          <p:spPr>
            <a:xfrm>
              <a:off x="4742280" y="222048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200" spc="-1" strike="noStrike">
                  <a:solidFill>
                    <a:srgbClr val="06b6d4"/>
                  </a:solidFill>
                  <a:latin typeface="Arial"/>
                  <a:ea typeface="Arial"/>
                </a:rPr>
                <a:t>System 0 + System 1(</a:t>
              </a:r>
              <a:r>
                <a:rPr b="1" lang="zh-CN" sz="1200" spc="-1" strike="noStrike">
                  <a:solidFill>
                    <a:srgbClr val="06b6d4"/>
                  </a:solidFill>
                  <a:latin typeface="Arial"/>
                  <a:ea typeface="Arial"/>
                </a:rPr>
                <a:t>基础</a:t>
              </a:r>
              <a:r>
                <a:rPr b="1" lang="en-US" sz="1200" spc="-1" strike="noStrike">
                  <a:solidFill>
                    <a:srgbClr val="06b6d4"/>
                  </a:solidFill>
                  <a:latin typeface="Arial"/>
                  <a:ea typeface="Arial"/>
                </a:rPr>
                <a:t>) + System 2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65" name="Text 13"/>
            <p:cNvSpPr/>
            <p:nvPr/>
          </p:nvSpPr>
          <p:spPr>
            <a:xfrm>
              <a:off x="4742280" y="255348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单工位自动插拔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66" name="Shape 14"/>
            <p:cNvSpPr/>
            <p:nvPr/>
          </p:nvSpPr>
          <p:spPr>
            <a:xfrm>
              <a:off x="731520" y="3302640"/>
              <a:ext cx="3508560" cy="149724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" name="Shape 15"/>
            <p:cNvSpPr/>
            <p:nvPr/>
          </p:nvSpPr>
          <p:spPr>
            <a:xfrm>
              <a:off x="731520" y="3302640"/>
              <a:ext cx="65880" cy="1497240"/>
            </a:xfrm>
            <a:prstGeom prst="rect">
              <a:avLst/>
            </a:prstGeom>
            <a:solidFill>
              <a:srgbClr val="f59e0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" name="Text 16"/>
            <p:cNvSpPr/>
            <p:nvPr/>
          </p:nvSpPr>
          <p:spPr>
            <a:xfrm>
              <a:off x="982080" y="3468960"/>
              <a:ext cx="667440" cy="41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2800" spc="-1" strike="noStrike">
                  <a:solidFill>
                    <a:srgbClr val="f59e0b"/>
                  </a:solidFill>
                  <a:latin typeface="Arial Black"/>
                  <a:ea typeface="Arial Black"/>
                </a:rPr>
                <a:t>L4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69" name="Text 17"/>
            <p:cNvSpPr/>
            <p:nvPr/>
          </p:nvSpPr>
          <p:spPr>
            <a:xfrm>
              <a:off x="1734120" y="3468960"/>
              <a:ext cx="2338920" cy="41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800" spc="-1" strike="noStrike">
                  <a:solidFill>
                    <a:srgbClr val="f8fafc"/>
                  </a:solidFill>
                  <a:latin typeface="Arial"/>
                  <a:ea typeface="Arial"/>
                </a:rPr>
                <a:t>全域无人插拔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70" name="Text 18"/>
            <p:cNvSpPr/>
            <p:nvPr/>
          </p:nvSpPr>
          <p:spPr>
            <a:xfrm>
              <a:off x="982080" y="396864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200" spc="-1" strike="noStrike">
                  <a:solidFill>
                    <a:srgbClr val="06b6d4"/>
                  </a:solidFill>
                  <a:latin typeface="Arial"/>
                  <a:ea typeface="Arial"/>
                </a:rPr>
                <a:t>System 0 + Sys-11+ Sys-12+ System 2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71" name="Text 19"/>
            <p:cNvSpPr/>
            <p:nvPr/>
          </p:nvSpPr>
          <p:spPr>
            <a:xfrm>
              <a:off x="982080" y="430164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产线级全自主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72" name="Shape 20"/>
            <p:cNvSpPr/>
            <p:nvPr/>
          </p:nvSpPr>
          <p:spPr>
            <a:xfrm>
              <a:off x="4491720" y="3302640"/>
              <a:ext cx="3508560" cy="149724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3" name="Shape 21"/>
            <p:cNvSpPr/>
            <p:nvPr/>
          </p:nvSpPr>
          <p:spPr>
            <a:xfrm>
              <a:off x="4491720" y="3302640"/>
              <a:ext cx="65880" cy="1497240"/>
            </a:xfrm>
            <a:prstGeom prst="rect">
              <a:avLst/>
            </a:prstGeom>
            <a:solidFill>
              <a:srgbClr val="ec48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4" name="Text 22"/>
            <p:cNvSpPr/>
            <p:nvPr/>
          </p:nvSpPr>
          <p:spPr>
            <a:xfrm>
              <a:off x="4742280" y="3468960"/>
              <a:ext cx="667440" cy="41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2800" spc="-1" strike="noStrike">
                  <a:solidFill>
                    <a:srgbClr val="ec4899"/>
                  </a:solidFill>
                  <a:latin typeface="Arial Black"/>
                  <a:ea typeface="Arial Black"/>
                </a:rPr>
                <a:t>L5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75" name="Text 23"/>
            <p:cNvSpPr/>
            <p:nvPr/>
          </p:nvSpPr>
          <p:spPr>
            <a:xfrm>
              <a:off x="5494320" y="3468960"/>
              <a:ext cx="2338920" cy="41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800" spc="-1" strike="noStrike">
                  <a:solidFill>
                    <a:srgbClr val="f8fafc"/>
                  </a:solidFill>
                  <a:latin typeface="Arial"/>
                  <a:ea typeface="Arial"/>
                </a:rPr>
                <a:t>全域通用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76" name="Text 24"/>
            <p:cNvSpPr/>
            <p:nvPr/>
          </p:nvSpPr>
          <p:spPr>
            <a:xfrm>
              <a:off x="4742280" y="396864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200" spc="-1" strike="noStrike">
                  <a:solidFill>
                    <a:srgbClr val="06b6d4"/>
                  </a:solidFill>
                  <a:latin typeface="Arial"/>
                  <a:ea typeface="Arial"/>
                </a:rPr>
                <a:t>全栈系统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77" name="Text 25"/>
            <p:cNvSpPr/>
            <p:nvPr/>
          </p:nvSpPr>
          <p:spPr>
            <a:xfrm>
              <a:off x="4742280" y="4301640"/>
              <a:ext cx="3090960" cy="33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跨场景泛化</a:t>
              </a:r>
              <a:endParaRPr b="0" lang="en-US" sz="1300" spc="-1" strike="noStrike">
                <a:latin typeface="Arial"/>
              </a:endParaRPr>
            </a:p>
          </p:txBody>
        </p:sp>
      </p:grpSp>
      <p:sp>
        <p:nvSpPr>
          <p:cNvPr id="78" name="Text 26"/>
          <p:cNvSpPr/>
          <p:nvPr/>
        </p:nvSpPr>
        <p:spPr>
          <a:xfrm>
            <a:off x="549000" y="4869720"/>
            <a:ext cx="7679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cbd5e1"/>
                </a:solidFill>
                <a:latin typeface="Arial"/>
                <a:ea typeface="Arial"/>
              </a:rPr>
              <a:t>* </a:t>
            </a:r>
            <a:r>
              <a:rPr b="0" i="1" lang="zh-CN" sz="1100" spc="-1" strike="noStrike">
                <a:solidFill>
                  <a:srgbClr val="cbd5e1"/>
                </a:solidFill>
                <a:latin typeface="Arial"/>
                <a:ea typeface="Arial"/>
              </a:rPr>
              <a:t>基于《智算中枢</a:t>
            </a:r>
            <a:r>
              <a:rPr b="0" i="1" lang="en-US" sz="1100" spc="-1" strike="noStrike">
                <a:solidFill>
                  <a:srgbClr val="cbd5e1"/>
                </a:solidFill>
                <a:latin typeface="Arial"/>
                <a:ea typeface="Arial"/>
              </a:rPr>
              <a:t>·</a:t>
            </a:r>
            <a:r>
              <a:rPr b="0" i="1" lang="zh-CN" sz="1100" spc="-1" strike="noStrike">
                <a:solidFill>
                  <a:srgbClr val="cbd5e1"/>
                </a:solidFill>
                <a:latin typeface="Arial"/>
                <a:ea typeface="Arial"/>
              </a:rPr>
              <a:t>智能化技术标准》</a:t>
            </a:r>
            <a:r>
              <a:rPr b="0" i="1" lang="en-US" sz="1100" spc="-1" strike="noStrike">
                <a:solidFill>
                  <a:srgbClr val="cbd5e1"/>
                </a:solidFill>
                <a:latin typeface="Arial"/>
                <a:ea typeface="Arial"/>
              </a:rPr>
              <a:t>Q/ZFCY001.1-2026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9142920" cy="10962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1"/>
          <p:cNvSpPr/>
          <p:nvPr/>
        </p:nvSpPr>
        <p:spPr>
          <a:xfrm>
            <a:off x="731520" y="228600"/>
            <a:ext cx="7679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8fafc"/>
                </a:solidFill>
                <a:latin typeface="Arial Black"/>
                <a:ea typeface="Arial Black"/>
              </a:rPr>
              <a:t>L2 - </a:t>
            </a:r>
            <a:r>
              <a:rPr b="1" lang="zh-CN" sz="3200" spc="-1" strike="noStrike">
                <a:solidFill>
                  <a:srgbClr val="f8fafc"/>
                </a:solidFill>
                <a:latin typeface="Arial Black"/>
                <a:ea typeface="Arial Black"/>
              </a:rPr>
              <a:t>基础驱动平台</a:t>
            </a:r>
            <a:endParaRPr b="0" lang="en-US" sz="3200" spc="-1" strike="noStrike">
              <a:latin typeface="Arial"/>
            </a:endParaRPr>
          </a:p>
        </p:txBody>
      </p:sp>
      <p:grpSp>
        <p:nvGrpSpPr>
          <p:cNvPr id="81" name=""/>
          <p:cNvGrpSpPr/>
          <p:nvPr/>
        </p:nvGrpSpPr>
        <p:grpSpPr>
          <a:xfrm>
            <a:off x="731520" y="1371600"/>
            <a:ext cx="6811560" cy="3428280"/>
            <a:chOff x="731520" y="1371600"/>
            <a:chExt cx="6811560" cy="3428280"/>
          </a:xfrm>
        </p:grpSpPr>
        <p:sp>
          <p:nvSpPr>
            <p:cNvPr id="82" name="Shape 2"/>
            <p:cNvSpPr/>
            <p:nvPr/>
          </p:nvSpPr>
          <p:spPr>
            <a:xfrm>
              <a:off x="731520" y="1371600"/>
              <a:ext cx="3242880" cy="171396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" name="Shape 3"/>
            <p:cNvSpPr/>
            <p:nvPr/>
          </p:nvSpPr>
          <p:spPr>
            <a:xfrm>
              <a:off x="731520" y="1371600"/>
              <a:ext cx="47520" cy="1713960"/>
            </a:xfrm>
            <a:prstGeom prst="rect">
              <a:avLst/>
            </a:prstGeom>
            <a:solidFill>
              <a:srgbClr val="3b82f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" name="Text 4"/>
            <p:cNvSpPr/>
            <p:nvPr/>
          </p:nvSpPr>
          <p:spPr>
            <a:xfrm>
              <a:off x="974880" y="1440000"/>
              <a:ext cx="2837520" cy="27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800" spc="-1" strike="noStrike">
                  <a:solidFill>
                    <a:srgbClr val="3b82f6"/>
                  </a:solidFill>
                  <a:latin typeface="Arial"/>
                  <a:ea typeface="Arial"/>
                </a:rPr>
                <a:t>System 0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85" name="Text 5"/>
            <p:cNvSpPr/>
            <p:nvPr/>
          </p:nvSpPr>
          <p:spPr>
            <a:xfrm>
              <a:off x="974880" y="1783080"/>
              <a:ext cx="2837520" cy="116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1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L2</a:t>
              </a:r>
              <a:r>
                <a:rPr b="1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基石层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硬件驱动 </a:t>
              </a: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(EtherCAT)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力控安全系统（≤</a:t>
              </a: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50N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全域停机）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急停与保护机制（双冗余）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运动控制基础（运动学正逆解）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86" name="Shape 6"/>
            <p:cNvSpPr/>
            <p:nvPr/>
          </p:nvSpPr>
          <p:spPr>
            <a:xfrm>
              <a:off x="4300200" y="1371600"/>
              <a:ext cx="3242880" cy="171396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7" name="Shape 7"/>
            <p:cNvSpPr/>
            <p:nvPr/>
          </p:nvSpPr>
          <p:spPr>
            <a:xfrm>
              <a:off x="4300200" y="1371600"/>
              <a:ext cx="47160" cy="1713960"/>
            </a:xfrm>
            <a:prstGeom prst="rect">
              <a:avLst/>
            </a:prstGeom>
            <a:solidFill>
              <a:srgbClr val="06b6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8" name="Text 8"/>
            <p:cNvSpPr/>
            <p:nvPr/>
          </p:nvSpPr>
          <p:spPr>
            <a:xfrm>
              <a:off x="4543200" y="1440000"/>
              <a:ext cx="2837520" cy="27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800" spc="-1" strike="noStrike">
                  <a:solidFill>
                    <a:srgbClr val="06b6d4"/>
                  </a:solidFill>
                  <a:latin typeface="Arial"/>
                  <a:ea typeface="Arial"/>
                </a:rPr>
                <a:t>System 2</a:t>
              </a: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89" name="Text 9"/>
            <p:cNvSpPr/>
            <p:nvPr/>
          </p:nvSpPr>
          <p:spPr>
            <a:xfrm>
              <a:off x="4543200" y="1783080"/>
              <a:ext cx="2837520" cy="116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1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L4</a:t>
              </a:r>
              <a:r>
                <a:rPr b="1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大脑层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云端智能体（任务规划与拆解）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任务调度与状态监控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异常处理策略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数据收集与反馈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90" name="Text 10"/>
            <p:cNvSpPr/>
            <p:nvPr/>
          </p:nvSpPr>
          <p:spPr>
            <a:xfrm>
              <a:off x="731520" y="3291840"/>
              <a:ext cx="2432160" cy="27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2000" spc="-1" strike="noStrike">
                  <a:solidFill>
                    <a:srgbClr val="f8fafc"/>
                  </a:solidFill>
                  <a:latin typeface="Arial"/>
                  <a:ea typeface="Arial"/>
                </a:rPr>
                <a:t>功能特点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91" name="Text 11"/>
            <p:cNvSpPr/>
            <p:nvPr/>
          </p:nvSpPr>
          <p:spPr>
            <a:xfrm>
              <a:off x="731520" y="3634920"/>
              <a:ext cx="6811560" cy="116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10b981"/>
                  </a:solidFill>
                  <a:latin typeface="Arial"/>
                  <a:ea typeface="Arial"/>
                </a:rPr>
                <a:t>✓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硬件底座搭建完成，系统稳定运行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10b981"/>
                  </a:solidFill>
                  <a:latin typeface="Arial"/>
                  <a:ea typeface="Arial"/>
                </a:rPr>
                <a:t>✓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安全保护层激活，具备基础运动能力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10b981"/>
                  </a:solidFill>
                  <a:latin typeface="Arial"/>
                  <a:ea typeface="Arial"/>
                </a:rPr>
                <a:t>✓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可接收云端任务指令，执行人工示教轨迹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✗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不具备自主插拔能力，依赖人工干预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0" y="0"/>
            <a:ext cx="9142920" cy="10962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Text 1"/>
          <p:cNvSpPr/>
          <p:nvPr/>
        </p:nvSpPr>
        <p:spPr>
          <a:xfrm>
            <a:off x="731520" y="228600"/>
            <a:ext cx="7679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8fafc"/>
                </a:solidFill>
                <a:latin typeface="Arial Black"/>
                <a:ea typeface="Arial Black"/>
              </a:rPr>
              <a:t>L3 - </a:t>
            </a:r>
            <a:r>
              <a:rPr b="1" lang="zh-CN" sz="3200" spc="-1" strike="noStrike">
                <a:solidFill>
                  <a:srgbClr val="f8fafc"/>
                </a:solidFill>
                <a:latin typeface="Arial Black"/>
                <a:ea typeface="Arial Black"/>
              </a:rPr>
              <a:t>条件自主插拔</a:t>
            </a:r>
            <a:endParaRPr b="0" lang="en-US" sz="3200" spc="-1" strike="noStrike">
              <a:latin typeface="Arial"/>
            </a:endParaRPr>
          </a:p>
        </p:txBody>
      </p:sp>
      <p:grpSp>
        <p:nvGrpSpPr>
          <p:cNvPr id="94" name=""/>
          <p:cNvGrpSpPr/>
          <p:nvPr/>
        </p:nvGrpSpPr>
        <p:grpSpPr>
          <a:xfrm>
            <a:off x="731520" y="1371600"/>
            <a:ext cx="7679880" cy="3428280"/>
            <a:chOff x="731520" y="1371600"/>
            <a:chExt cx="7679880" cy="3428280"/>
          </a:xfrm>
        </p:grpSpPr>
        <p:sp>
          <p:nvSpPr>
            <p:cNvPr id="95" name="Shape 2"/>
            <p:cNvSpPr/>
            <p:nvPr/>
          </p:nvSpPr>
          <p:spPr>
            <a:xfrm>
              <a:off x="731520" y="1371600"/>
              <a:ext cx="2446560" cy="1810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6" name="Shape 3"/>
            <p:cNvSpPr/>
            <p:nvPr/>
          </p:nvSpPr>
          <p:spPr>
            <a:xfrm>
              <a:off x="731520" y="1371600"/>
              <a:ext cx="49320" cy="1810800"/>
            </a:xfrm>
            <a:prstGeom prst="rect">
              <a:avLst/>
            </a:prstGeom>
            <a:solidFill>
              <a:srgbClr val="3b82f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" name="Text 4"/>
            <p:cNvSpPr/>
            <p:nvPr/>
          </p:nvSpPr>
          <p:spPr>
            <a:xfrm>
              <a:off x="900360" y="1436400"/>
              <a:ext cx="210924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3b82f6"/>
                  </a:solidFill>
                  <a:latin typeface="Arial"/>
                  <a:ea typeface="Arial"/>
                </a:rPr>
                <a:t>System 0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98" name="Text 5"/>
            <p:cNvSpPr/>
            <p:nvPr/>
          </p:nvSpPr>
          <p:spPr>
            <a:xfrm>
              <a:off x="900360" y="1695240"/>
              <a:ext cx="2109240" cy="19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i="1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L2</a:t>
              </a:r>
              <a:r>
                <a:rPr b="0" i="1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基石层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99" name="Text 6"/>
            <p:cNvSpPr/>
            <p:nvPr/>
          </p:nvSpPr>
          <p:spPr>
            <a:xfrm>
              <a:off x="900360" y="1954080"/>
              <a:ext cx="210924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硬件驱动层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力控安全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急停保护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运动控制基础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00" name="Shape 7"/>
            <p:cNvSpPr/>
            <p:nvPr/>
          </p:nvSpPr>
          <p:spPr>
            <a:xfrm>
              <a:off x="3348000" y="1371600"/>
              <a:ext cx="2446920" cy="1810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1" name="Shape 8"/>
            <p:cNvSpPr/>
            <p:nvPr/>
          </p:nvSpPr>
          <p:spPr>
            <a:xfrm>
              <a:off x="3348000" y="1371600"/>
              <a:ext cx="49680" cy="1810800"/>
            </a:xfrm>
            <a:prstGeom prst="rect">
              <a:avLst/>
            </a:prstGeom>
            <a:solidFill>
              <a:srgbClr val="f59e0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2" name="Text 9"/>
            <p:cNvSpPr/>
            <p:nvPr/>
          </p:nvSpPr>
          <p:spPr>
            <a:xfrm>
              <a:off x="3516840" y="1436400"/>
              <a:ext cx="210924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f59e0b"/>
                  </a:solidFill>
                  <a:latin typeface="Arial"/>
                  <a:ea typeface="Arial"/>
                </a:rPr>
                <a:t>System 1</a:t>
              </a:r>
              <a:r>
                <a:rPr b="1" lang="zh-CN" sz="1600" spc="-1" strike="noStrike">
                  <a:solidFill>
                    <a:srgbClr val="f59e0b"/>
                  </a:solidFill>
                  <a:latin typeface="Arial"/>
                  <a:ea typeface="Arial"/>
                </a:rPr>
                <a:t>（基础） 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03" name="Text 10"/>
            <p:cNvSpPr/>
            <p:nvPr/>
          </p:nvSpPr>
          <p:spPr>
            <a:xfrm>
              <a:off x="3516840" y="1695240"/>
              <a:ext cx="2109240" cy="19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i="1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L3</a:t>
              </a:r>
              <a:r>
                <a:rPr b="0" i="1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动作系统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04" name="Text 11"/>
            <p:cNvSpPr/>
            <p:nvPr/>
          </p:nvSpPr>
          <p:spPr>
            <a:xfrm>
              <a:off x="3516840" y="1954080"/>
              <a:ext cx="210924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多模动作模型（带触觉）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DiT-B/FlowM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动作头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端侧推理 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精细力控执行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05" name="Shape 12"/>
            <p:cNvSpPr/>
            <p:nvPr/>
          </p:nvSpPr>
          <p:spPr>
            <a:xfrm>
              <a:off x="5964840" y="1371600"/>
              <a:ext cx="2446560" cy="1810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6" name="Shape 13"/>
            <p:cNvSpPr/>
            <p:nvPr/>
          </p:nvSpPr>
          <p:spPr>
            <a:xfrm>
              <a:off x="5964840" y="1371600"/>
              <a:ext cx="49320" cy="1810800"/>
            </a:xfrm>
            <a:prstGeom prst="rect">
              <a:avLst/>
            </a:prstGeom>
            <a:solidFill>
              <a:srgbClr val="06b6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7" name="Text 14"/>
            <p:cNvSpPr/>
            <p:nvPr/>
          </p:nvSpPr>
          <p:spPr>
            <a:xfrm>
              <a:off x="6133320" y="1436400"/>
              <a:ext cx="210924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06b6d4"/>
                  </a:solidFill>
                  <a:latin typeface="Arial"/>
                  <a:ea typeface="Arial"/>
                </a:rPr>
                <a:t>System 2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08" name="Text 15"/>
            <p:cNvSpPr/>
            <p:nvPr/>
          </p:nvSpPr>
          <p:spPr>
            <a:xfrm>
              <a:off x="6133320" y="1695240"/>
              <a:ext cx="2109240" cy="19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i="1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L4</a:t>
              </a:r>
              <a:r>
                <a:rPr b="0" i="1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大脑层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09" name="Text 16"/>
            <p:cNvSpPr/>
            <p:nvPr/>
          </p:nvSpPr>
          <p:spPr>
            <a:xfrm>
              <a:off x="6133320" y="1954080"/>
              <a:ext cx="210924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云端智能体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任务调度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状态监控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异常处理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10" name="Text 17"/>
            <p:cNvSpPr/>
            <p:nvPr/>
          </p:nvSpPr>
          <p:spPr>
            <a:xfrm>
              <a:off x="731520" y="3377520"/>
              <a:ext cx="253116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2000" spc="-1" strike="noStrike">
                  <a:solidFill>
                    <a:srgbClr val="f8fafc"/>
                  </a:solidFill>
                  <a:latin typeface="Arial"/>
                  <a:ea typeface="Arial"/>
                </a:rPr>
                <a:t>核心能力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111" name="Text 18"/>
            <p:cNvSpPr/>
            <p:nvPr/>
          </p:nvSpPr>
          <p:spPr>
            <a:xfrm>
              <a:off x="731520" y="3700800"/>
              <a:ext cx="7089120" cy="109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10b981"/>
                  </a:solidFill>
                  <a:latin typeface="Arial"/>
                  <a:ea typeface="Arial"/>
                </a:rPr>
                <a:t>✓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单工位自动插拔能力，精度 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±0.02mm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10b981"/>
                  </a:solidFill>
                  <a:latin typeface="Arial"/>
                  <a:ea typeface="Arial"/>
                </a:rPr>
                <a:t>✓ 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模型端侧推理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[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基线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VTLA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模型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]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10b981"/>
                  </a:solidFill>
                  <a:latin typeface="Arial"/>
                  <a:ea typeface="Arial"/>
                </a:rPr>
                <a:t>✓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支持结构化环境下的自动操作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△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需要人工处理异常情况和复杂故障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0" y="0"/>
            <a:ext cx="9142920" cy="10962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1"/>
          <p:cNvSpPr/>
          <p:nvPr/>
        </p:nvSpPr>
        <p:spPr>
          <a:xfrm>
            <a:off x="731520" y="228600"/>
            <a:ext cx="7679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8fafc"/>
                </a:solidFill>
                <a:latin typeface="Arial Black"/>
                <a:ea typeface="Arial Black"/>
              </a:rPr>
              <a:t>L4 - </a:t>
            </a:r>
            <a:r>
              <a:rPr b="1" lang="zh-CN" sz="3200" spc="-1" strike="noStrike">
                <a:solidFill>
                  <a:srgbClr val="f8fafc"/>
                </a:solidFill>
                <a:latin typeface="Arial Black"/>
                <a:ea typeface="Arial Black"/>
              </a:rPr>
              <a:t>全域无人插拔</a:t>
            </a:r>
            <a:endParaRPr b="0" lang="en-US" sz="3200" spc="-1" strike="noStrike">
              <a:latin typeface="Arial"/>
            </a:endParaRPr>
          </a:p>
        </p:txBody>
      </p:sp>
      <p:grpSp>
        <p:nvGrpSpPr>
          <p:cNvPr id="114" name=""/>
          <p:cNvGrpSpPr/>
          <p:nvPr/>
        </p:nvGrpSpPr>
        <p:grpSpPr>
          <a:xfrm>
            <a:off x="731520" y="1371600"/>
            <a:ext cx="7497360" cy="3428280"/>
            <a:chOff x="731520" y="1371600"/>
            <a:chExt cx="7497360" cy="3428280"/>
          </a:xfrm>
        </p:grpSpPr>
        <p:sp>
          <p:nvSpPr>
            <p:cNvPr id="115" name="Shape 2"/>
            <p:cNvSpPr/>
            <p:nvPr/>
          </p:nvSpPr>
          <p:spPr>
            <a:xfrm>
              <a:off x="731520" y="1371600"/>
              <a:ext cx="1748520" cy="1810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6" name="Shape 3"/>
            <p:cNvSpPr/>
            <p:nvPr/>
          </p:nvSpPr>
          <p:spPr>
            <a:xfrm>
              <a:off x="731520" y="1371600"/>
              <a:ext cx="48960" cy="1810800"/>
            </a:xfrm>
            <a:prstGeom prst="rect">
              <a:avLst/>
            </a:prstGeom>
            <a:solidFill>
              <a:srgbClr val="3b82f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" name="Text 4"/>
            <p:cNvSpPr/>
            <p:nvPr/>
          </p:nvSpPr>
          <p:spPr>
            <a:xfrm>
              <a:off x="856440" y="1436400"/>
              <a:ext cx="154044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3b82f6"/>
                  </a:solidFill>
                  <a:latin typeface="Arial"/>
                  <a:ea typeface="Arial"/>
                </a:rPr>
                <a:t>System 0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18" name="Text 5"/>
            <p:cNvSpPr/>
            <p:nvPr/>
          </p:nvSpPr>
          <p:spPr>
            <a:xfrm>
              <a:off x="856440" y="1695240"/>
              <a:ext cx="1540440" cy="19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i="1" lang="en-US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L2</a:t>
              </a:r>
              <a:r>
                <a:rPr b="0" i="1" lang="zh-CN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基石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19" name="Text 6"/>
            <p:cNvSpPr/>
            <p:nvPr/>
          </p:nvSpPr>
          <p:spPr>
            <a:xfrm>
              <a:off x="856440" y="1954080"/>
              <a:ext cx="154044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硬件驱动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力控安全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急停保护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运动控制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20" name="Shape 7"/>
            <p:cNvSpPr/>
            <p:nvPr/>
          </p:nvSpPr>
          <p:spPr>
            <a:xfrm>
              <a:off x="2647800" y="1371600"/>
              <a:ext cx="1748520" cy="1810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1" name="Shape 8"/>
            <p:cNvSpPr/>
            <p:nvPr/>
          </p:nvSpPr>
          <p:spPr>
            <a:xfrm>
              <a:off x="2647800" y="1371600"/>
              <a:ext cx="48960" cy="1810800"/>
            </a:xfrm>
            <a:prstGeom prst="rect">
              <a:avLst/>
            </a:prstGeom>
            <a:solidFill>
              <a:srgbClr val="f59e0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" name="Text 9"/>
            <p:cNvSpPr/>
            <p:nvPr/>
          </p:nvSpPr>
          <p:spPr>
            <a:xfrm>
              <a:off x="2772720" y="1436400"/>
              <a:ext cx="154044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SYS-11</a:t>
              </a:r>
              <a:r>
                <a:rPr b="1" lang="zh-CN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（实时）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23" name="Text 10"/>
            <p:cNvSpPr/>
            <p:nvPr/>
          </p:nvSpPr>
          <p:spPr>
            <a:xfrm>
              <a:off x="2772720" y="1695240"/>
              <a:ext cx="1540440" cy="19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i="1" lang="en-US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L3</a:t>
              </a:r>
              <a:r>
                <a:rPr b="0" i="1" lang="zh-CN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动作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24" name="Text 11"/>
            <p:cNvSpPr/>
            <p:nvPr/>
          </p:nvSpPr>
          <p:spPr>
            <a:xfrm>
              <a:off x="2772720" y="1954080"/>
              <a:ext cx="154044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多模端到端（优化）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DiT-B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动作头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99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端侧推理</a:t>
              </a: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&lt;10ms</a:t>
              </a:r>
              <a:endParaRPr b="0" lang="en-US" sz="12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精细力控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25" name="Shape 12"/>
            <p:cNvSpPr/>
            <p:nvPr/>
          </p:nvSpPr>
          <p:spPr>
            <a:xfrm>
              <a:off x="4564080" y="1371600"/>
              <a:ext cx="1748520" cy="1810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" name="Shape 13"/>
            <p:cNvSpPr/>
            <p:nvPr/>
          </p:nvSpPr>
          <p:spPr>
            <a:xfrm>
              <a:off x="4564080" y="1371600"/>
              <a:ext cx="48600" cy="1810800"/>
            </a:xfrm>
            <a:prstGeom prst="rect">
              <a:avLst/>
            </a:prstGeom>
            <a:solidFill>
              <a:srgbClr val="8b5cf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" name="Text 14"/>
            <p:cNvSpPr/>
            <p:nvPr/>
          </p:nvSpPr>
          <p:spPr>
            <a:xfrm>
              <a:off x="4689000" y="1436400"/>
              <a:ext cx="154044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8b5cf6"/>
                  </a:solidFill>
                  <a:latin typeface="Arial"/>
                  <a:ea typeface="Arial"/>
                </a:rPr>
                <a:t>SYS-12</a:t>
              </a:r>
              <a:r>
                <a:rPr b="1" lang="zh-CN" sz="1400" spc="-1" strike="noStrike">
                  <a:solidFill>
                    <a:srgbClr val="8b5cf6"/>
                  </a:solidFill>
                  <a:latin typeface="Arial"/>
                  <a:ea typeface="Arial"/>
                </a:rPr>
                <a:t>（因果）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28" name="Text 15"/>
            <p:cNvSpPr/>
            <p:nvPr/>
          </p:nvSpPr>
          <p:spPr>
            <a:xfrm>
              <a:off x="4689000" y="1695240"/>
              <a:ext cx="1540440" cy="19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i="1" lang="en-US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L3</a:t>
              </a:r>
              <a:r>
                <a:rPr b="0" i="1" lang="zh-CN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引导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29" name="Text 16"/>
            <p:cNvSpPr/>
            <p:nvPr/>
          </p:nvSpPr>
          <p:spPr>
            <a:xfrm>
              <a:off x="4689000" y="1954080"/>
              <a:ext cx="154044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 </a:t>
              </a: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LeWorldModel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基线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世界预测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轨迹规划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状态估计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30" name="Shape 17"/>
            <p:cNvSpPr/>
            <p:nvPr/>
          </p:nvSpPr>
          <p:spPr>
            <a:xfrm>
              <a:off x="6480360" y="1371600"/>
              <a:ext cx="1748520" cy="1810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" name="Shape 18"/>
            <p:cNvSpPr/>
            <p:nvPr/>
          </p:nvSpPr>
          <p:spPr>
            <a:xfrm>
              <a:off x="6480360" y="1371600"/>
              <a:ext cx="48600" cy="1810800"/>
            </a:xfrm>
            <a:prstGeom prst="rect">
              <a:avLst/>
            </a:prstGeom>
            <a:solidFill>
              <a:srgbClr val="06b6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" name="Text 19"/>
            <p:cNvSpPr/>
            <p:nvPr/>
          </p:nvSpPr>
          <p:spPr>
            <a:xfrm>
              <a:off x="6605280" y="1436400"/>
              <a:ext cx="154044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06b6d4"/>
                  </a:solidFill>
                  <a:latin typeface="Arial"/>
                  <a:ea typeface="Arial"/>
                </a:rPr>
                <a:t>System 2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33" name="Text 20"/>
            <p:cNvSpPr/>
            <p:nvPr/>
          </p:nvSpPr>
          <p:spPr>
            <a:xfrm>
              <a:off x="6605280" y="1695240"/>
              <a:ext cx="1540440" cy="19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i="1" lang="en-US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L4</a:t>
              </a:r>
              <a:r>
                <a:rPr b="0" i="1" lang="zh-CN" sz="1000" spc="-1" strike="noStrike">
                  <a:solidFill>
                    <a:srgbClr val="cbd5e1"/>
                  </a:solidFill>
                  <a:latin typeface="Arial"/>
                  <a:ea typeface="Arial"/>
                </a:rPr>
                <a:t>大脑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34" name="Text 21"/>
            <p:cNvSpPr/>
            <p:nvPr/>
          </p:nvSpPr>
          <p:spPr>
            <a:xfrm>
              <a:off x="6605280" y="1954080"/>
              <a:ext cx="154044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云端智能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全局规划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异常诊断</a:t>
              </a:r>
              <a:endParaRPr b="0" lang="en-US" sz="11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自学习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35" name="Text 22"/>
            <p:cNvSpPr/>
            <p:nvPr/>
          </p:nvSpPr>
          <p:spPr>
            <a:xfrm>
              <a:off x="731520" y="3377520"/>
              <a:ext cx="2498400" cy="25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2000" spc="-1" strike="noStrike">
                  <a:solidFill>
                    <a:srgbClr val="f8fafc"/>
                  </a:solidFill>
                  <a:latin typeface="Arial"/>
                  <a:ea typeface="Arial"/>
                </a:rPr>
                <a:t>核心能力</a:t>
              </a:r>
              <a:endParaRPr b="0" lang="en-US" sz="2000" spc="-1" strike="noStrike">
                <a:latin typeface="Arial"/>
              </a:endParaRPr>
            </a:p>
          </p:txBody>
        </p:sp>
        <p:sp>
          <p:nvSpPr>
            <p:cNvPr id="136" name="Text 23"/>
            <p:cNvSpPr/>
            <p:nvPr/>
          </p:nvSpPr>
          <p:spPr>
            <a:xfrm>
              <a:off x="731520" y="3700800"/>
              <a:ext cx="6997320" cy="109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★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产线级全自主无人插拔，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7×24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小时连续运行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★ 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SYS-11 + SYS-12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协同，响应 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&lt;10ms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；动作系统与世界模型融合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★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具备异常自主诊断和恢复能力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★ 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成功率达 </a:t>
              </a:r>
              <a:r>
                <a:rPr b="0" lang="en-US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99.2%</a:t>
              </a:r>
              <a:r>
                <a:rPr b="0" lang="zh-CN" sz="1400" spc="-1" strike="noStrike">
                  <a:solidFill>
                    <a:srgbClr val="cbd5e1"/>
                  </a:solidFill>
                  <a:latin typeface="Arial"/>
                  <a:ea typeface="Arial"/>
                </a:rPr>
                <a:t>，达到工业级量产标准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731520" y="457200"/>
            <a:ext cx="7679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3600" spc="-1" strike="noStrike">
                <a:solidFill>
                  <a:srgbClr val="f8fafc"/>
                </a:solidFill>
                <a:latin typeface="Arial Black"/>
                <a:ea typeface="Arial Black"/>
              </a:rPr>
              <a:t>系统架构总览</a:t>
            </a:r>
            <a:endParaRPr b="0" lang="en-US" sz="3600" spc="-1" strike="noStrike">
              <a:latin typeface="Arial"/>
            </a:endParaRPr>
          </a:p>
        </p:txBody>
      </p:sp>
      <p:grpSp>
        <p:nvGrpSpPr>
          <p:cNvPr id="138" name=""/>
          <p:cNvGrpSpPr/>
          <p:nvPr/>
        </p:nvGrpSpPr>
        <p:grpSpPr>
          <a:xfrm>
            <a:off x="731520" y="1188720"/>
            <a:ext cx="7268760" cy="3611160"/>
            <a:chOff x="731520" y="1188720"/>
            <a:chExt cx="7268760" cy="3611160"/>
          </a:xfrm>
        </p:grpSpPr>
        <p:sp>
          <p:nvSpPr>
            <p:cNvPr id="139" name="Shape 1"/>
            <p:cNvSpPr/>
            <p:nvPr/>
          </p:nvSpPr>
          <p:spPr>
            <a:xfrm>
              <a:off x="731520" y="1188720"/>
              <a:ext cx="1690560" cy="360"/>
            </a:xfrm>
            <a:prstGeom prst="line">
              <a:avLst/>
            </a:prstGeom>
            <a:ln w="25400">
              <a:solidFill>
                <a:srgbClr val="3b82f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0" name="Shape 2"/>
            <p:cNvSpPr/>
            <p:nvPr/>
          </p:nvSpPr>
          <p:spPr>
            <a:xfrm>
              <a:off x="731520" y="1477800"/>
              <a:ext cx="2365920" cy="252756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" name="Shape 3"/>
            <p:cNvSpPr/>
            <p:nvPr/>
          </p:nvSpPr>
          <p:spPr>
            <a:xfrm>
              <a:off x="731520" y="1477800"/>
              <a:ext cx="2365920" cy="56520"/>
            </a:xfrm>
            <a:prstGeom prst="rect">
              <a:avLst/>
            </a:prstGeom>
            <a:solidFill>
              <a:srgbClr val="3b82f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" name="Text 4"/>
            <p:cNvSpPr/>
            <p:nvPr/>
          </p:nvSpPr>
          <p:spPr>
            <a:xfrm>
              <a:off x="900720" y="1622160"/>
              <a:ext cx="2027520" cy="36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3b82f6"/>
                  </a:solidFill>
                  <a:latin typeface="Arial"/>
                  <a:ea typeface="Arial"/>
                </a:rPr>
                <a:t>L2</a:t>
              </a:r>
              <a:r>
                <a:rPr b="1" lang="zh-CN" sz="1600" spc="-1" strike="noStrike">
                  <a:solidFill>
                    <a:srgbClr val="3b82f6"/>
                  </a:solidFill>
                  <a:latin typeface="Arial"/>
                  <a:ea typeface="Arial"/>
                </a:rPr>
                <a:t>基石层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43" name="Text 5"/>
            <p:cNvSpPr/>
            <p:nvPr/>
          </p:nvSpPr>
          <p:spPr>
            <a:xfrm>
              <a:off x="900720" y="1983240"/>
              <a:ext cx="2027520" cy="28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8fafc"/>
                  </a:solidFill>
                  <a:latin typeface="Arial"/>
                  <a:ea typeface="Arial"/>
                </a:rPr>
                <a:t>System 0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44" name="Text 6"/>
            <p:cNvSpPr/>
            <p:nvPr/>
          </p:nvSpPr>
          <p:spPr>
            <a:xfrm>
              <a:off x="900720" y="2344680"/>
              <a:ext cx="2027520" cy="144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EtherCAT</a:t>
              </a:r>
              <a:endParaRPr b="0" lang="en-US" sz="12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力控安全</a:t>
              </a:r>
              <a:endParaRPr b="0" lang="en-US" sz="12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急停保护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45" name="Shape 7"/>
            <p:cNvSpPr/>
            <p:nvPr/>
          </p:nvSpPr>
          <p:spPr>
            <a:xfrm>
              <a:off x="3267360" y="1477800"/>
              <a:ext cx="3042360" cy="252756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" name="Shape 8"/>
            <p:cNvSpPr/>
            <p:nvPr/>
          </p:nvSpPr>
          <p:spPr>
            <a:xfrm>
              <a:off x="3267360" y="1477800"/>
              <a:ext cx="3042360" cy="56520"/>
            </a:xfrm>
            <a:prstGeom prst="rect">
              <a:avLst/>
            </a:prstGeom>
            <a:solidFill>
              <a:srgbClr val="f59e0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" name="Text 9"/>
            <p:cNvSpPr/>
            <p:nvPr/>
          </p:nvSpPr>
          <p:spPr>
            <a:xfrm>
              <a:off x="3436560" y="1622160"/>
              <a:ext cx="2703960" cy="36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f59e0b"/>
                  </a:solidFill>
                  <a:latin typeface="Arial"/>
                  <a:ea typeface="Arial"/>
                </a:rPr>
                <a:t>L3/L4</a:t>
              </a:r>
              <a:r>
                <a:rPr b="1" lang="zh-CN" sz="1600" spc="-1" strike="noStrike">
                  <a:solidFill>
                    <a:srgbClr val="f59e0b"/>
                  </a:solidFill>
                  <a:latin typeface="Arial"/>
                  <a:ea typeface="Arial"/>
                </a:rPr>
                <a:t>核心层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48" name="Text 10"/>
            <p:cNvSpPr/>
            <p:nvPr/>
          </p:nvSpPr>
          <p:spPr>
            <a:xfrm>
              <a:off x="3436560" y="1983240"/>
              <a:ext cx="2703960" cy="28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8fafc"/>
                  </a:solidFill>
                  <a:latin typeface="Arial"/>
                  <a:ea typeface="Arial"/>
                </a:rPr>
                <a:t>System 1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8fafc"/>
                  </a:solidFill>
                  <a:latin typeface="Arial"/>
                  <a:ea typeface="Arial"/>
                </a:rPr>
                <a:t>SYS-11 / SYS-12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49" name="Text 11"/>
            <p:cNvSpPr/>
            <p:nvPr/>
          </p:nvSpPr>
          <p:spPr>
            <a:xfrm>
              <a:off x="3436560" y="2344680"/>
              <a:ext cx="2703960" cy="144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VTLA 3B</a:t>
              </a:r>
              <a:endParaRPr b="0" lang="en-US" sz="12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SmolVLA 500M</a:t>
              </a:r>
              <a:endParaRPr b="0" lang="en-US" sz="12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DiT-B Action Head</a:t>
              </a:r>
              <a:endParaRPr b="0" lang="en-US" sz="12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en-US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LeWorldModel 15M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50" name="Shape 12"/>
            <p:cNvSpPr/>
            <p:nvPr/>
          </p:nvSpPr>
          <p:spPr>
            <a:xfrm>
              <a:off x="5972400" y="1477800"/>
              <a:ext cx="2027880" cy="252756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Shape 13"/>
            <p:cNvSpPr/>
            <p:nvPr/>
          </p:nvSpPr>
          <p:spPr>
            <a:xfrm>
              <a:off x="5972400" y="1477800"/>
              <a:ext cx="2027880" cy="56520"/>
            </a:xfrm>
            <a:prstGeom prst="rect">
              <a:avLst/>
            </a:prstGeom>
            <a:solidFill>
              <a:srgbClr val="06b6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" name="Text 14"/>
            <p:cNvSpPr/>
            <p:nvPr/>
          </p:nvSpPr>
          <p:spPr>
            <a:xfrm>
              <a:off x="6141600" y="1622160"/>
              <a:ext cx="1689480" cy="36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06b6d4"/>
                  </a:solidFill>
                  <a:latin typeface="Arial"/>
                  <a:ea typeface="Arial"/>
                </a:rPr>
                <a:t>L4</a:t>
              </a:r>
              <a:r>
                <a:rPr b="1" lang="zh-CN" sz="1600" spc="-1" strike="noStrike">
                  <a:solidFill>
                    <a:srgbClr val="06b6d4"/>
                  </a:solidFill>
                  <a:latin typeface="Arial"/>
                  <a:ea typeface="Arial"/>
                </a:rPr>
                <a:t>大脑层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53" name="Text 15"/>
            <p:cNvSpPr/>
            <p:nvPr/>
          </p:nvSpPr>
          <p:spPr>
            <a:xfrm>
              <a:off x="6141600" y="1983240"/>
              <a:ext cx="1689480" cy="28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8fafc"/>
                  </a:solidFill>
                  <a:latin typeface="Arial"/>
                  <a:ea typeface="Arial"/>
                </a:rPr>
                <a:t>System 2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54" name="Text 16"/>
            <p:cNvSpPr/>
            <p:nvPr/>
          </p:nvSpPr>
          <p:spPr>
            <a:xfrm>
              <a:off x="6141600" y="2344680"/>
              <a:ext cx="1689480" cy="144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云端智能体</a:t>
              </a:r>
              <a:endParaRPr b="0" lang="en-US" sz="12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任务规划</a:t>
              </a:r>
              <a:endParaRPr b="0" lang="en-US" sz="12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601"/>
                </a:spcAft>
                <a:buNone/>
                <a:tabLst>
                  <a:tab algn="l" pos="0"/>
                </a:tabLst>
              </a:pPr>
              <a:r>
                <a:rPr b="0" lang="zh-CN" sz="1200" spc="-1" strike="noStrike">
                  <a:solidFill>
                    <a:srgbClr val="cbd5e1"/>
                  </a:solidFill>
                  <a:latin typeface="Arial"/>
                  <a:ea typeface="Arial"/>
                </a:rPr>
                <a:t>全局调度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155" name="Shape 17"/>
            <p:cNvSpPr/>
            <p:nvPr/>
          </p:nvSpPr>
          <p:spPr>
            <a:xfrm>
              <a:off x="731520" y="4150800"/>
              <a:ext cx="7099560" cy="64908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6" name="Text 18"/>
            <p:cNvSpPr/>
            <p:nvPr/>
          </p:nvSpPr>
          <p:spPr>
            <a:xfrm>
              <a:off x="900720" y="4295160"/>
              <a:ext cx="6761520" cy="36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技术路线：</a:t>
              </a: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LeRobot (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机器人框架</a:t>
              </a: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) + VTLA (SmolVLA)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视触觉</a:t>
              </a: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-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语言</a:t>
              </a: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-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动作 </a:t>
              </a: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+ LeWorldModel (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世界模型</a:t>
              </a: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) + DiT-B / Flow-Matching (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动作生成</a:t>
              </a: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)</a:t>
              </a:r>
              <a:endParaRPr b="0" lang="en-US" sz="13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731520" y="457200"/>
            <a:ext cx="7679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3600" spc="-1" strike="noStrike">
                <a:solidFill>
                  <a:srgbClr val="f8fafc"/>
                </a:solidFill>
                <a:latin typeface="Arial Black"/>
                <a:ea typeface="Arial Black"/>
              </a:rPr>
              <a:t>核心优势与商业价值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8" name="Shape 1"/>
          <p:cNvSpPr/>
          <p:nvPr/>
        </p:nvSpPr>
        <p:spPr>
          <a:xfrm>
            <a:off x="731520" y="1188720"/>
            <a:ext cx="1828800" cy="360"/>
          </a:xfrm>
          <a:prstGeom prst="line">
            <a:avLst/>
          </a:prstGeom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59" name=""/>
          <p:cNvGrpSpPr/>
          <p:nvPr/>
        </p:nvGrpSpPr>
        <p:grpSpPr>
          <a:xfrm>
            <a:off x="731520" y="1554480"/>
            <a:ext cx="7268760" cy="3245400"/>
            <a:chOff x="731520" y="1554480"/>
            <a:chExt cx="7268760" cy="3245400"/>
          </a:xfrm>
        </p:grpSpPr>
        <p:sp>
          <p:nvSpPr>
            <p:cNvPr id="160" name="Shape 2"/>
            <p:cNvSpPr/>
            <p:nvPr/>
          </p:nvSpPr>
          <p:spPr>
            <a:xfrm>
              <a:off x="731520" y="1554480"/>
              <a:ext cx="3508560" cy="11916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Text 3"/>
            <p:cNvSpPr/>
            <p:nvPr/>
          </p:nvSpPr>
          <p:spPr>
            <a:xfrm>
              <a:off x="982080" y="1753200"/>
              <a:ext cx="3007440" cy="595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4800" spc="-1" strike="noStrike">
                  <a:solidFill>
                    <a:srgbClr val="3b82f6"/>
                  </a:solidFill>
                  <a:latin typeface="Arial Black"/>
                  <a:ea typeface="Arial Black"/>
                </a:rPr>
                <a:t>±0.02</a:t>
              </a:r>
              <a:r>
                <a:rPr b="0" lang="en-US" sz="2400" spc="-1" strike="noStrike">
                  <a:solidFill>
                    <a:srgbClr val="3b82f6"/>
                  </a:solidFill>
                  <a:latin typeface="Arial Black"/>
                  <a:ea typeface="Arial Black"/>
                </a:rPr>
                <a:t> mm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162" name="Text 4"/>
            <p:cNvSpPr/>
            <p:nvPr/>
          </p:nvSpPr>
          <p:spPr>
            <a:xfrm>
              <a:off x="982080" y="2349360"/>
              <a:ext cx="300744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600" spc="-1" strike="noStrike">
                  <a:solidFill>
                    <a:srgbClr val="cbd5e1"/>
                  </a:solidFill>
                  <a:latin typeface="Arial"/>
                  <a:ea typeface="Arial"/>
                </a:rPr>
                <a:t>插拔精度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63" name="Shape 5"/>
            <p:cNvSpPr/>
            <p:nvPr/>
          </p:nvSpPr>
          <p:spPr>
            <a:xfrm>
              <a:off x="4491720" y="1554480"/>
              <a:ext cx="3508560" cy="11916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Text 6"/>
            <p:cNvSpPr/>
            <p:nvPr/>
          </p:nvSpPr>
          <p:spPr>
            <a:xfrm>
              <a:off x="4742280" y="1753200"/>
              <a:ext cx="3007440" cy="595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4800" spc="-1" strike="noStrike">
                  <a:solidFill>
                    <a:srgbClr val="10b981"/>
                  </a:solidFill>
                  <a:latin typeface="Arial Black"/>
                  <a:ea typeface="Arial Black"/>
                </a:rPr>
                <a:t>99.2</a:t>
              </a:r>
              <a:r>
                <a:rPr b="0" lang="en-US" sz="2400" spc="-1" strike="noStrike">
                  <a:solidFill>
                    <a:srgbClr val="10b981"/>
                  </a:solidFill>
                  <a:latin typeface="Arial Black"/>
                  <a:ea typeface="Arial Black"/>
                </a:rPr>
                <a:t> %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165" name="Text 7"/>
            <p:cNvSpPr/>
            <p:nvPr/>
          </p:nvSpPr>
          <p:spPr>
            <a:xfrm>
              <a:off x="4742280" y="2349360"/>
              <a:ext cx="300744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600" spc="-1" strike="noStrike">
                  <a:solidFill>
                    <a:srgbClr val="cbd5e1"/>
                  </a:solidFill>
                  <a:latin typeface="Arial"/>
                  <a:ea typeface="Arial"/>
                </a:rPr>
                <a:t>成功率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66" name="Shape 8"/>
            <p:cNvSpPr/>
            <p:nvPr/>
          </p:nvSpPr>
          <p:spPr>
            <a:xfrm>
              <a:off x="731520" y="2945880"/>
              <a:ext cx="3508560" cy="11916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Text 9"/>
            <p:cNvSpPr/>
            <p:nvPr/>
          </p:nvSpPr>
          <p:spPr>
            <a:xfrm>
              <a:off x="982080" y="3144600"/>
              <a:ext cx="3007440" cy="59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4800" spc="-1" strike="noStrike">
                  <a:solidFill>
                    <a:srgbClr val="06b6d4"/>
                  </a:solidFill>
                  <a:latin typeface="Arial Black"/>
                  <a:ea typeface="Arial Black"/>
                </a:rPr>
                <a:t>&lt;10</a:t>
              </a:r>
              <a:r>
                <a:rPr b="0" lang="en-US" sz="2400" spc="-1" strike="noStrike">
                  <a:solidFill>
                    <a:srgbClr val="06b6d4"/>
                  </a:solidFill>
                  <a:latin typeface="Arial Black"/>
                  <a:ea typeface="Arial Black"/>
                </a:rPr>
                <a:t> ms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168" name="Text 10"/>
            <p:cNvSpPr/>
            <p:nvPr/>
          </p:nvSpPr>
          <p:spPr>
            <a:xfrm>
              <a:off x="982080" y="3740760"/>
              <a:ext cx="300744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600" spc="-1" strike="noStrike">
                  <a:solidFill>
                    <a:srgbClr val="cbd5e1"/>
                  </a:solidFill>
                  <a:latin typeface="Arial"/>
                  <a:ea typeface="Arial"/>
                </a:rPr>
                <a:t>端侧推理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69" name="Shape 11"/>
            <p:cNvSpPr/>
            <p:nvPr/>
          </p:nvSpPr>
          <p:spPr>
            <a:xfrm>
              <a:off x="4491720" y="2945880"/>
              <a:ext cx="3508560" cy="11916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Text 12"/>
            <p:cNvSpPr/>
            <p:nvPr/>
          </p:nvSpPr>
          <p:spPr>
            <a:xfrm>
              <a:off x="4742280" y="3144600"/>
              <a:ext cx="3007440" cy="59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4800" spc="-1" strike="noStrike">
                  <a:solidFill>
                    <a:srgbClr val="f59e0b"/>
                  </a:solidFill>
                  <a:latin typeface="Arial Black"/>
                  <a:ea typeface="Arial Black"/>
                </a:rPr>
                <a:t>7×24</a:t>
              </a:r>
              <a:r>
                <a:rPr b="0" lang="en-US" sz="2400" spc="-1" strike="noStrike">
                  <a:solidFill>
                    <a:srgbClr val="f59e0b"/>
                  </a:solidFill>
                  <a:latin typeface="Arial Black"/>
                  <a:ea typeface="Arial Black"/>
                </a:rPr>
                <a:t> h</a:t>
              </a:r>
              <a:endParaRPr b="0" lang="en-US" sz="2400" spc="-1" strike="noStrike">
                <a:latin typeface="Arial"/>
              </a:endParaRPr>
            </a:p>
          </p:txBody>
        </p:sp>
        <p:sp>
          <p:nvSpPr>
            <p:cNvPr id="171" name="Text 13"/>
            <p:cNvSpPr/>
            <p:nvPr/>
          </p:nvSpPr>
          <p:spPr>
            <a:xfrm>
              <a:off x="4742280" y="3740760"/>
              <a:ext cx="300744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1600" spc="-1" strike="noStrike">
                  <a:solidFill>
                    <a:srgbClr val="cbd5e1"/>
                  </a:solidFill>
                  <a:latin typeface="Arial"/>
                  <a:ea typeface="Arial"/>
                </a:rPr>
                <a:t>连续运行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72" name="Text 14"/>
            <p:cNvSpPr/>
            <p:nvPr/>
          </p:nvSpPr>
          <p:spPr>
            <a:xfrm>
              <a:off x="731520" y="4336920"/>
              <a:ext cx="7018200" cy="46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f8fafc"/>
                  </a:solidFill>
                  <a:latin typeface="Arial"/>
                  <a:ea typeface="Arial"/>
                </a:rPr>
                <a:t>商业价值：</a:t>
              </a:r>
              <a:endParaRPr b="0" lang="en-US" sz="14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人工成本降低 → </a:t>
              </a:r>
              <a:r>
                <a:rPr b="1" lang="zh-CN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单机替代</a:t>
              </a:r>
              <a:r>
                <a:rPr b="1" lang="en-US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2-3</a:t>
              </a:r>
              <a:r>
                <a:rPr b="1" lang="zh-CN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名熟练操作工</a:t>
              </a:r>
              <a:endParaRPr b="0" lang="en-US" sz="13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良率提升 → </a:t>
              </a:r>
              <a:r>
                <a:rPr b="1" lang="zh-CN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减少人工损伤，良率从</a:t>
              </a:r>
              <a:r>
                <a:rPr b="1" lang="en-US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95%</a:t>
              </a:r>
              <a:r>
                <a:rPr b="1" lang="zh-CN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提升至</a:t>
              </a:r>
              <a:r>
                <a:rPr b="1" lang="en-US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99%+</a:t>
              </a:r>
              <a:endParaRPr b="0" lang="en-US" sz="1300" spc="-1" strike="noStrike">
                <a:latin typeface="Arial"/>
              </a:endParaRPr>
            </a:p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• </a:t>
              </a:r>
              <a:r>
                <a:rPr b="0" lang="zh-CN" sz="1300" spc="-1" strike="noStrike">
                  <a:solidFill>
                    <a:srgbClr val="cbd5e1"/>
                  </a:solidFill>
                  <a:latin typeface="Arial"/>
                  <a:ea typeface="Arial"/>
                </a:rPr>
                <a:t>换型时间缩短 → </a:t>
              </a:r>
              <a:r>
                <a:rPr b="1" lang="zh-CN" sz="1300" spc="-1" strike="noStrike">
                  <a:solidFill>
                    <a:srgbClr val="10b981"/>
                  </a:solidFill>
                  <a:latin typeface="Arial"/>
                  <a:ea typeface="Arial"/>
                </a:rPr>
                <a:t>从小时级降至分钟级，柔性生产成为可能</a:t>
              </a:r>
              <a:endParaRPr b="0" lang="en-US" sz="13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731520" y="457200"/>
            <a:ext cx="7679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3600" spc="-1" strike="noStrike">
                <a:solidFill>
                  <a:srgbClr val="f8fafc"/>
                </a:solidFill>
                <a:latin typeface="Arial Black"/>
                <a:ea typeface="Arial Black"/>
              </a:rPr>
              <a:t>实施路线图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4" name="Shape 1"/>
          <p:cNvSpPr/>
          <p:nvPr/>
        </p:nvSpPr>
        <p:spPr>
          <a:xfrm>
            <a:off x="731520" y="1188720"/>
            <a:ext cx="1828800" cy="360"/>
          </a:xfrm>
          <a:prstGeom prst="line">
            <a:avLst/>
          </a:prstGeom>
          <a:ln w="254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75" name=""/>
          <p:cNvGrpSpPr/>
          <p:nvPr/>
        </p:nvGrpSpPr>
        <p:grpSpPr>
          <a:xfrm>
            <a:off x="731520" y="1554480"/>
            <a:ext cx="7725960" cy="3016800"/>
            <a:chOff x="731520" y="1554480"/>
            <a:chExt cx="7725960" cy="3016800"/>
          </a:xfrm>
        </p:grpSpPr>
        <p:sp>
          <p:nvSpPr>
            <p:cNvPr id="176" name="Shape 2"/>
            <p:cNvSpPr/>
            <p:nvPr/>
          </p:nvSpPr>
          <p:spPr>
            <a:xfrm>
              <a:off x="2620440" y="2189880"/>
              <a:ext cx="171720" cy="360"/>
            </a:xfrm>
            <a:prstGeom prst="line">
              <a:avLst/>
            </a:prstGeom>
            <a:ln w="254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Shape 3"/>
            <p:cNvSpPr/>
            <p:nvPr/>
          </p:nvSpPr>
          <p:spPr>
            <a:xfrm>
              <a:off x="731520" y="1554480"/>
              <a:ext cx="1801800" cy="3016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Shape 4"/>
            <p:cNvSpPr/>
            <p:nvPr/>
          </p:nvSpPr>
          <p:spPr>
            <a:xfrm>
              <a:off x="731520" y="1554480"/>
              <a:ext cx="1801800" cy="62640"/>
            </a:xfrm>
            <a:prstGeom prst="rect">
              <a:avLst/>
            </a:prstGeom>
            <a:solidFill>
              <a:srgbClr val="10b98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Text 5"/>
            <p:cNvSpPr/>
            <p:nvPr/>
          </p:nvSpPr>
          <p:spPr>
            <a:xfrm>
              <a:off x="860040" y="1713600"/>
              <a:ext cx="158760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10b981"/>
                  </a:solidFill>
                  <a:latin typeface="Arial"/>
                  <a:ea typeface="Arial"/>
                </a:rPr>
                <a:t>Phase 1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80" name="Text 6"/>
            <p:cNvSpPr/>
            <p:nvPr/>
          </p:nvSpPr>
          <p:spPr>
            <a:xfrm>
              <a:off x="860040" y="2031120"/>
              <a:ext cx="158760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f8fafc"/>
                  </a:solidFill>
                  <a:latin typeface="Arial Black"/>
                  <a:ea typeface="Arial Black"/>
                </a:rPr>
                <a:t>2026 Q3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81" name="Text 7"/>
            <p:cNvSpPr/>
            <p:nvPr/>
          </p:nvSpPr>
          <p:spPr>
            <a:xfrm>
              <a:off x="860040" y="2427840"/>
              <a:ext cx="1587600" cy="55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L2</a:t>
              </a:r>
              <a:r>
                <a:rPr b="1" lang="zh-CN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基础搭建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182" name="Text 8"/>
            <p:cNvSpPr/>
            <p:nvPr/>
          </p:nvSpPr>
          <p:spPr>
            <a:xfrm>
              <a:off x="860040" y="3063240"/>
              <a:ext cx="1587600" cy="126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硬件底座完成</a:t>
              </a:r>
              <a:endParaRPr b="0" lang="en-US" sz="11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安全层激活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83" name="Shape 9"/>
            <p:cNvSpPr/>
            <p:nvPr/>
          </p:nvSpPr>
          <p:spPr>
            <a:xfrm>
              <a:off x="4595040" y="2189880"/>
              <a:ext cx="171720" cy="360"/>
            </a:xfrm>
            <a:prstGeom prst="line">
              <a:avLst/>
            </a:prstGeom>
            <a:ln w="254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Shape 10"/>
            <p:cNvSpPr/>
            <p:nvPr/>
          </p:nvSpPr>
          <p:spPr>
            <a:xfrm>
              <a:off x="2706480" y="1554480"/>
              <a:ext cx="1801800" cy="3016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5" name="Shape 11"/>
            <p:cNvSpPr/>
            <p:nvPr/>
          </p:nvSpPr>
          <p:spPr>
            <a:xfrm>
              <a:off x="2706480" y="1554480"/>
              <a:ext cx="1801800" cy="62640"/>
            </a:xfrm>
            <a:prstGeom prst="rect">
              <a:avLst/>
            </a:prstGeom>
            <a:solidFill>
              <a:srgbClr val="06b6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6" name="Text 12"/>
            <p:cNvSpPr/>
            <p:nvPr/>
          </p:nvSpPr>
          <p:spPr>
            <a:xfrm>
              <a:off x="2835000" y="1713600"/>
              <a:ext cx="158724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06b6d4"/>
                  </a:solidFill>
                  <a:latin typeface="Arial"/>
                  <a:ea typeface="Arial"/>
                </a:rPr>
                <a:t>Phase 2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87" name="Text 13"/>
            <p:cNvSpPr/>
            <p:nvPr/>
          </p:nvSpPr>
          <p:spPr>
            <a:xfrm>
              <a:off x="2835000" y="2031120"/>
              <a:ext cx="158724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f8fafc"/>
                  </a:solidFill>
                  <a:latin typeface="Arial Black"/>
                  <a:ea typeface="Arial Black"/>
                </a:rPr>
                <a:t>2026 Q4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88" name="Text 14"/>
            <p:cNvSpPr/>
            <p:nvPr/>
          </p:nvSpPr>
          <p:spPr>
            <a:xfrm>
              <a:off x="2835000" y="2427840"/>
              <a:ext cx="1587240" cy="55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L3</a:t>
              </a:r>
              <a:r>
                <a:rPr b="1" lang="zh-CN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单工位验证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189" name="Text 15"/>
            <p:cNvSpPr/>
            <p:nvPr/>
          </p:nvSpPr>
          <p:spPr>
            <a:xfrm>
              <a:off x="2835000" y="3063240"/>
              <a:ext cx="1587240" cy="126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多模端到端模型部署</a:t>
              </a:r>
              <a:endParaRPr b="0" lang="en-US" sz="11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条件自主插拔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90" name="Shape 16"/>
            <p:cNvSpPr/>
            <p:nvPr/>
          </p:nvSpPr>
          <p:spPr>
            <a:xfrm>
              <a:off x="6569640" y="2189880"/>
              <a:ext cx="171720" cy="360"/>
            </a:xfrm>
            <a:prstGeom prst="line">
              <a:avLst/>
            </a:prstGeom>
            <a:ln w="254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Shape 17"/>
            <p:cNvSpPr/>
            <p:nvPr/>
          </p:nvSpPr>
          <p:spPr>
            <a:xfrm>
              <a:off x="4680720" y="1554480"/>
              <a:ext cx="1801800" cy="3016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Shape 18"/>
            <p:cNvSpPr/>
            <p:nvPr/>
          </p:nvSpPr>
          <p:spPr>
            <a:xfrm>
              <a:off x="4680720" y="1554480"/>
              <a:ext cx="1801800" cy="62640"/>
            </a:xfrm>
            <a:prstGeom prst="rect">
              <a:avLst/>
            </a:prstGeom>
            <a:solidFill>
              <a:srgbClr val="f59e0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Text 19"/>
            <p:cNvSpPr/>
            <p:nvPr/>
          </p:nvSpPr>
          <p:spPr>
            <a:xfrm>
              <a:off x="4809600" y="1713600"/>
              <a:ext cx="158724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f59e0b"/>
                  </a:solidFill>
                  <a:latin typeface="Arial"/>
                  <a:ea typeface="Arial"/>
                </a:rPr>
                <a:t>Phase 3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194" name="Text 20"/>
            <p:cNvSpPr/>
            <p:nvPr/>
          </p:nvSpPr>
          <p:spPr>
            <a:xfrm>
              <a:off x="4809600" y="2031120"/>
              <a:ext cx="158724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f8fafc"/>
                  </a:solidFill>
                  <a:latin typeface="Arial Black"/>
                  <a:ea typeface="Arial Black"/>
                </a:rPr>
                <a:t>2027 Q1-Q2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195" name="Text 21"/>
            <p:cNvSpPr/>
            <p:nvPr/>
          </p:nvSpPr>
          <p:spPr>
            <a:xfrm>
              <a:off x="4809600" y="2427840"/>
              <a:ext cx="1587240" cy="55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L4</a:t>
              </a:r>
              <a:r>
                <a:rPr b="1" lang="zh-CN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产线落地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196" name="Text 22"/>
            <p:cNvSpPr/>
            <p:nvPr/>
          </p:nvSpPr>
          <p:spPr>
            <a:xfrm>
              <a:off x="4809600" y="3063240"/>
              <a:ext cx="1587240" cy="126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en-US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SYS-11+12</a:t>
              </a: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融合</a:t>
              </a:r>
              <a:endParaRPr b="0" lang="en-US" sz="11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全域无人插拔</a:t>
              </a:r>
              <a:endParaRPr b="0" lang="en-US" sz="1100" spc="-1" strike="noStrike">
                <a:latin typeface="Arial"/>
              </a:endParaRPr>
            </a:p>
          </p:txBody>
        </p:sp>
        <p:sp>
          <p:nvSpPr>
            <p:cNvPr id="197" name="Shape 23"/>
            <p:cNvSpPr/>
            <p:nvPr/>
          </p:nvSpPr>
          <p:spPr>
            <a:xfrm>
              <a:off x="6655680" y="1554480"/>
              <a:ext cx="1801800" cy="30168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Shape 24"/>
            <p:cNvSpPr/>
            <p:nvPr/>
          </p:nvSpPr>
          <p:spPr>
            <a:xfrm>
              <a:off x="6655680" y="1554480"/>
              <a:ext cx="1801800" cy="62640"/>
            </a:xfrm>
            <a:prstGeom prst="rect">
              <a:avLst/>
            </a:prstGeom>
            <a:solidFill>
              <a:srgbClr val="ec48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Text 25"/>
            <p:cNvSpPr/>
            <p:nvPr/>
          </p:nvSpPr>
          <p:spPr>
            <a:xfrm>
              <a:off x="6784560" y="1713600"/>
              <a:ext cx="158688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400" spc="-1" strike="noStrike">
                  <a:solidFill>
                    <a:srgbClr val="ec4899"/>
                  </a:solidFill>
                  <a:latin typeface="Arial"/>
                  <a:ea typeface="Arial"/>
                </a:rPr>
                <a:t>Phase 4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200" name="Text 26"/>
            <p:cNvSpPr/>
            <p:nvPr/>
          </p:nvSpPr>
          <p:spPr>
            <a:xfrm>
              <a:off x="6784560" y="2031120"/>
              <a:ext cx="1586880" cy="31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en-US" sz="1600" spc="-1" strike="noStrike">
                  <a:solidFill>
                    <a:srgbClr val="f8fafc"/>
                  </a:solidFill>
                  <a:latin typeface="Arial Black"/>
                  <a:ea typeface="Arial Black"/>
                </a:rPr>
                <a:t>2027+</a:t>
              </a:r>
              <a:endParaRPr b="0" lang="en-US" sz="1600" spc="-1" strike="noStrike">
                <a:latin typeface="Arial"/>
              </a:endParaRPr>
            </a:p>
          </p:txBody>
        </p:sp>
        <p:sp>
          <p:nvSpPr>
            <p:cNvPr id="201" name="Text 27"/>
            <p:cNvSpPr/>
            <p:nvPr/>
          </p:nvSpPr>
          <p:spPr>
            <a:xfrm>
              <a:off x="6784560" y="2427840"/>
              <a:ext cx="1586880" cy="55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300" spc="-1" strike="noStrike">
                  <a:solidFill>
                    <a:srgbClr val="f8fafc"/>
                  </a:solidFill>
                  <a:latin typeface="Arial"/>
                  <a:ea typeface="Arial"/>
                </a:rPr>
                <a:t>规模化复制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202" name="Text 28"/>
            <p:cNvSpPr/>
            <p:nvPr/>
          </p:nvSpPr>
          <p:spPr>
            <a:xfrm>
              <a:off x="6784560" y="3063240"/>
              <a:ext cx="1586880" cy="126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多产线部署</a:t>
              </a:r>
              <a:endParaRPr b="0" lang="en-US" sz="11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spcAft>
                  <a:spcPts val="400"/>
                </a:spcAft>
                <a:buNone/>
                <a:tabLst>
                  <a:tab algn="l" pos="0"/>
                </a:tabLst>
              </a:pPr>
              <a:r>
                <a:rPr b="0" lang="zh-CN" sz="1100" spc="-1" strike="noStrike">
                  <a:solidFill>
                    <a:srgbClr val="cbd5e1"/>
                  </a:solidFill>
                  <a:latin typeface="Arial"/>
                  <a:ea typeface="Arial"/>
                </a:rPr>
                <a:t>持续优化</a:t>
              </a:r>
              <a:endParaRPr b="0" lang="en-US" sz="11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2026-07-01T06:54:38Z</dcterms:created>
  <dc:creator>智蜂创元</dc:creator>
  <dc:description/>
  <dc:language>en-US</dc:language>
  <cp:lastModifiedBy/>
  <dcterms:modified xsi:type="dcterms:W3CDTF">2026-07-01T15:29:34Z</dcterms:modified>
  <cp:revision>18</cp:revision>
  <dc:subject>PptxGenJS Presentation</dc:subject>
  <dc:title>Z-MAX 多模态动作专家 - 管理层汇报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