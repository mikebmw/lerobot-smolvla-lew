
<file path=[Content_Types].xml><?xml version="1.0" encoding="utf-8"?>
<ns0:Types xmlns:ns0="http://schemas.openxmlformats.org/package/2006/content-types"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Layouts/slideLayout1.xml" ContentType="application/vnd.openxmlformats-officedocument.presentationml.slideLayout+xml"/>
  <ns0:Override PartName="/ppt/theme/theme1.xml" ContentType="application/vnd.openxmlformats-officedocument.theme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</ns0:Types>
</file>

<file path=_rels/.rels><?xml version="1.0"?><ns0:Relationships xmlns:ns0="http://schemas.openxmlformats.org/package/2006/relationships"><ns0:Relationship Id="rId1" Type="{http://schemas.openxmlformats.org/officeDocument/2006/relationships}officeDocument" Target="ppt/presentation.xml" /></ns0: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 type="screen4x3"/>
</p:presentation>
</file>

<file path=ppt/_rels/presentation.xml.rels><?xml version="1.0"?><ns0:Relationships xmlns:ns0="http://schemas.openxmlformats.org/package/2006/relationships"><ns0:Relationship Id="rId1" Type="{http://schemas.openxmlformats.org/officeDocument/2006/relationships}slideMaster" Target="slideMasters/slideMaster1.xml" /><ns0:Relationship Id="rId2" Type="{http://schemas.openxmlformats.org/officeDocument/2006/relationships}theme" Target="theme/theme1.xml" /><ns0:Relationship Id="rId3" Type="{http://schemas.openxmlformats.org/officeDocument/2006/relationships}slide" Target="slides/slide1.xml" /><ns0:Relationship Id="rId4" Type="{http://schemas.openxmlformats.org/officeDocument/2006/relationships}slide" Target="slides/slide2.xml" /><ns0:Relationship Id="rId5" Type="{http://schemas.openxmlformats.org/officeDocument/2006/relationships}slide" Target="slides/slide3.xml" /><ns0:Relationship Id="rId6" Type="{http://schemas.openxmlformats.org/officeDocument/2006/relationships}slide" Target="slides/slide4.xml" /><ns0:Relationship Id="rId7" Type="{http://schemas.openxmlformats.org/officeDocument/2006/relationships}slide" Target="slides/slide5.xml" /><ns0:Relationship Id="rId8" Type="{http://schemas.openxmlformats.org/officeDocument/2006/relationships}slide" Target="slides/slide6.xml" /><ns0:Relationship Id="rId9" Type="{http://schemas.openxmlformats.org/officeDocument/2006/relationships}slide" Target="slides/slide7.xml" /><ns0:Relationship Id="rId10" Type="{http://schemas.openxmlformats.org/officeDocument/2006/relationships}slide" Target="slides/slide8.xml" /><ns0:Relationship Id="rId11" Type="{http://schemas.openxmlformats.org/officeDocument/2006/relationships}slide" Target="slides/slide9.xml" /></ns0:Relationships>
</file>

<file path=ppt/slideLayouts/_rels/slideLayout1.xml.rels><?xml version="1.0"?><Relationships xmlns="http://schemas.openxmlformats.org/package/2006/relationships"><Relationship Id="rId1" Type="http://schemas.openxmlformats.org/officeDocument/2006/relationshipsslideMaster" Target="../slideMasters/slideMaster1.xml"/></Relationships>
</file>

<file path=ppt/slideLayouts/slideLayout1.xml><?xml version="1.0" encoding="utf-8"?>
<p:sldLayout xmlns:p="http://schemas.openxmlformats.org/presentationml/2006/main" type="blank">
  <p:cSld>
    <p:spTree>
      <p:nvGrpSpPr/>
      <p:grpSpPr/>
    </p:spTree>
  </p:cSld>
</p:sldLayout>
</file>

<file path=ppt/slideMasters/_rels/slideMaster1.xml.rels><?xml version="1.0"?><Relationships xmlns="http://schemas.openxmlformats.org/package/2006/relationships"><Relationship Id="rId1" Type="http://schemas.openxmlformats.org/officeDocument/2006/relationshipsslideLayout" Target="../slideLayouts/slideLayout1.xml"/></Relationships>
</file>

<file path=ppt/slideMasters/slideMaster1.xml><?xml version="1.0" encoding="utf-8"?>
<p:sldMaster xmlns:p="http://schemas.openxmlformats.org/presentationml/2006/main" xmlns:r="http://schemas.openxmlformats.org/officeDocument/2006/relationships">
  <p:cSld>
    <p:spTree>
      <p:nvGrpSpPr/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?><Relationships xmlns="http://schemas.openxmlformats.org/package/2006/relationships"></Relationships>
</file>

<file path=ppt/slides/_rels/slide2.xml.rels><?xml version="1.0"?><Relationships xmlns="http://schemas.openxmlformats.org/package/2006/relationships"></Relationships>
</file>

<file path=ppt/slides/_rels/slide3.xml.rels><?xml version="1.0"?><Relationships xmlns="http://schemas.openxmlformats.org/package/2006/relationships"></Relationships>
</file>

<file path=ppt/slides/_rels/slide4.xml.rels><?xml version="1.0"?><Relationships xmlns="http://schemas.openxmlformats.org/package/2006/relationships"></Relationships>
</file>

<file path=ppt/slides/_rels/slide5.xml.rels><?xml version="1.0"?><Relationships xmlns="http://schemas.openxmlformats.org/package/2006/relationships"></Relationships>
</file>

<file path=ppt/slides/_rels/slide6.xml.rels><?xml version="1.0"?><Relationships xmlns="http://schemas.openxmlformats.org/package/2006/relationships"></Relationships>
</file>

<file path=ppt/slides/_rels/slide7.xml.rels><?xml version="1.0"?><Relationships xmlns="http://schemas.openxmlformats.org/package/2006/relationships"></Relationships>
</file>

<file path=ppt/slides/_rels/slide8.xml.rels><?xml version="1.0"?><Relationships xmlns="http://schemas.openxmlformats.org/package/2006/relationships"></Relationships>
</file>

<file path=ppt/slides/_rels/slide9.xml.rels><?xml version="1.0"?>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800000" y="1800000"/>
            <a:ext cx="7544000" cy="900000"/>
          </a:xfrm>
          <a:prstGeom>
            <a:avLst/>
          </a:prstGeom>
        </p:spPr>
        <p:txBody>
          <a:bodyPr wrap="square"/>
          <a:p>
            <a:r>
              <a:rPr sz="3600" b="1" lang="zh-CN">
                <a:solidFill>
                  <a:srgbClr val="1F497D"/>
                </a:solidFill>
              </a:rPr>
              <a:t>Z-MAX 基线版 · 光模块精细操作机器人</a:t>
            </a:r>
          </a:p>
        </p:txBody>
      </p:sp>
      <p:sp>
        <p:nvSpPr>
          <p:cNvPr id="2" name="TB2"/>
          <p:cNvSpPr txBox="1"/>
          <p:nvPr/>
        </p:nvSpPr>
        <p:spPr>
          <a:xfrm>
            <a:off x="800000" y="2900000"/>
            <a:ext cx="7544000" cy="600000"/>
          </a:xfrm>
          <a:prstGeom>
            <a:avLst/>
          </a:prstGeom>
        </p:spPr>
        <p:txBody>
          <a:bodyPr wrap="square"/>
          <a:p>
            <a:r>
              <a:rPr sz="2400" b="1" lang="zh-CN">
                <a:solidFill>
                  <a:srgbClr val="4F81BD"/>
                </a:solidFill>
              </a:rPr>
              <a:t>Z700 轮式双臂机器人 · L2 基线版</a:t>
            </a:r>
          </a:p>
        </p:txBody>
      </p:sp>
      <p:sp>
        <p:nvSpPr>
          <p:cNvPr id="3" name="TB3"/>
          <p:cNvSpPr txBox="1"/>
          <p:nvPr/>
        </p:nvSpPr>
        <p:spPr>
          <a:xfrm>
            <a:off x="800000" y="3800000"/>
            <a:ext cx="7544000" cy="400000"/>
          </a:xfrm>
          <a:prstGeom>
            <a:avLst/>
          </a:prstGeom>
        </p:spPr>
        <p:txBody>
          <a:bodyPr wrap="square"/>
          <a:p>
            <a:r>
              <a:rPr sz="1800" b="0" lang="zh-CN">
                <a:solidFill>
                  <a:srgbClr val="888888"/>
                </a:solidFill>
              </a:rPr>
              <a:t>智蜂创元(ZFCY)  |  买回去当天就能用  |  12个月回本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1F497D"/>
                </a:solidFill>
              </a:rPr>
              <a:t>一台 Z700 能帮你省多少钱？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100000"/>
            <a:ext cx="8344000" cy="500000"/>
          </a:xfrm>
          <a:prstGeom>
            <a:avLst/>
          </a:prstGeom>
        </p:spPr>
        <p:txBody>
          <a:bodyPr wrap="square"/>
          <a:p>
            <a:r>
              <a:rPr sz="2400" b="1" lang="zh-CN">
                <a:solidFill>
                  <a:srgbClr val="C0504D"/>
                </a:solidFill>
              </a:rPr>
              <a:t>12 个月回本 · 之后每年净省 95 万+</a:t>
            </a:r>
          </a:p>
        </p:txBody>
      </p:sp>
      <p:sp>
        <p:nvSpPr>
          <p:cNvPr id="3" name="TB3"/>
          <p:cNvSpPr txBox="1"/>
          <p:nvPr/>
        </p:nvSpPr>
        <p:spPr>
          <a:xfrm>
            <a:off x="400000" y="1800000"/>
            <a:ext cx="8344000" cy="4000000"/>
          </a:xfrm>
          <a:prstGeom>
            <a:avLst/>
          </a:prstGeom>
        </p:spPr>
        <p:txBody>
          <a:bodyPr wrap="square"/>
          <a:p>
            <a:r>
              <a:rPr sz="1300" b="0" lang="zh-CN">
                <a:solidFill>
                  <a:srgbClr val="333333"/>
                </a:solidFill>
              </a:rPr>
              <a:t>对比项          熟练工人(3班)    Z700 基线版
年人力成本       108万/年         0(仅电费)
关键工序良率     95~97%           ≥99.2%
单模块节拍       45~60秒          38秒(稳定)
工作时间         8h×3班=24h       24h×7天
培训成本         3个月/新人       1天培训
年综合成本      ≈120万           ≈25万(折旧)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1F497D"/>
                </a:solidFill>
              </a:rPr>
              <a:t>Z700 硬件 — 为光模块产线而生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100000"/>
            <a:ext cx="8344000" cy="45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◈ 左右双臂 7-DOF(14轴) · 重复定位 ±0.02mm
◈ 六维力传感器 · 力控柔顺 · 比人手还灵敏
◈ 深度3D相机(RealSense D405) · 0.1mm定位
◈ 电动夹爪 · 夹持力自适应 · 不伤光模块
◈ AGX Orin 智算中枢 · 1ms实时控制
◈ 三色塔灯(绿/黄/红) + 双路急停 · 安全冗余
◈ 触觉传感器 · 扫码枪 · 轮式底盘即插即用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1F497D"/>
                </a:solidFill>
              </a:rPr>
              <a:t>Z-MAX 能力路线  Q/ZFCY 001.1-2026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100000"/>
            <a:ext cx="8344000" cy="600000"/>
          </a:xfrm>
          <a:prstGeom>
            <a:avLst/>
          </a:prstGeom>
        </p:spPr>
        <p:txBody>
          <a:bodyPr wrap="square"/>
          <a:p>
            <a:r>
              <a:rPr sz="2000" b="1" lang="zh-CN">
                <a:solidFill>
                  <a:srgbClr val="4F81BD"/>
                </a:solidFill>
              </a:rPr>
              <a:t>✅ L2 基线版 (当前交付)</a:t>
            </a:r>
          </a:p>
        </p:txBody>
      </p:sp>
      <p:sp>
        <p:nvSpPr>
          <p:cNvPr id="3" name="TB3"/>
          <p:cNvSpPr txBox="1"/>
          <p:nvPr/>
        </p:nvSpPr>
        <p:spPr>
          <a:xfrm>
            <a:off x="400000" y="1800000"/>
            <a:ext cx="8344000" cy="600000"/>
          </a:xfrm>
          <a:prstGeom>
            <a:avLst/>
          </a:prstGeom>
        </p:spPr>
        <p:txBody>
          <a:bodyPr wrap="square"/>
          <a:p>
            <a:r>
              <a:rPr sz="1400" b="0" lang="zh-CN">
                <a:solidFill>
                  <a:srgbClr val="555555"/>
                </a:solidFill>
              </a:rPr>
              <a:t>点到点运动 · 力控柔顺 · 预制工序 · 良率≥99.2%</a:t>
            </a:r>
          </a:p>
        </p:txBody>
      </p:sp>
      <p:sp>
        <p:nvSpPr>
          <p:cNvPr id="4" name="TB4"/>
          <p:cNvSpPr txBox="1"/>
          <p:nvPr/>
        </p:nvSpPr>
        <p:spPr>
          <a:xfrm>
            <a:off x="400000" y="2600000"/>
            <a:ext cx="8344000" cy="600000"/>
          </a:xfrm>
          <a:prstGeom>
            <a:avLst/>
          </a:prstGeom>
        </p:spPr>
        <p:txBody>
          <a:bodyPr wrap="square"/>
          <a:p>
            <a:r>
              <a:rPr sz="2000" b="1" lang="zh-CN">
                <a:solidFill>
                  <a:srgbClr val="9BBB59"/>
                </a:solidFill>
              </a:rPr>
              <a:t>⏳ L3 增强版 (OTA升级)</a:t>
            </a:r>
          </a:p>
        </p:txBody>
      </p:sp>
      <p:sp>
        <p:nvSpPr>
          <p:cNvPr id="5" name="TB5"/>
          <p:cNvSpPr txBox="1"/>
          <p:nvPr/>
        </p:nvSpPr>
        <p:spPr>
          <a:xfrm>
            <a:off x="400000" y="3300000"/>
            <a:ext cx="8344000" cy="600000"/>
          </a:xfrm>
          <a:prstGeom>
            <a:avLst/>
          </a:prstGeom>
        </p:spPr>
        <p:txBody>
          <a:bodyPr wrap="square"/>
          <a:p>
            <a:r>
              <a:rPr sz="1400" b="0" lang="zh-CN">
                <a:solidFill>
                  <a:srgbClr val="555555"/>
                </a:solidFill>
              </a:rPr>
              <a:t>视觉引导定位 · 多工序自动编排 · 异常自恢复 · 良率≥99.5%</a:t>
            </a:r>
          </a:p>
        </p:txBody>
      </p:sp>
      <p:sp>
        <p:nvSpPr>
          <p:cNvPr id="6" name="TB6"/>
          <p:cNvSpPr txBox="1"/>
          <p:nvPr/>
        </p:nvSpPr>
        <p:spPr>
          <a:xfrm>
            <a:off x="400000" y="4100000"/>
            <a:ext cx="8344000" cy="600000"/>
          </a:xfrm>
          <a:prstGeom>
            <a:avLst/>
          </a:prstGeom>
        </p:spPr>
        <p:txBody>
          <a:bodyPr wrap="square"/>
          <a:p>
            <a:r>
              <a:rPr sz="2000" b="1" lang="zh-CN">
                <a:solidFill>
                  <a:srgbClr val="C0504D"/>
                </a:solidFill>
              </a:rPr>
              <a:t>🔮 L4 旗舰版 (AI自主)</a:t>
            </a:r>
          </a:p>
        </p:txBody>
      </p:sp>
      <p:sp>
        <p:nvSpPr>
          <p:cNvPr id="7" name="TB7"/>
          <p:cNvSpPr txBox="1"/>
          <p:nvPr/>
        </p:nvSpPr>
        <p:spPr>
          <a:xfrm>
            <a:off x="400000" y="4800000"/>
            <a:ext cx="8344000" cy="600000"/>
          </a:xfrm>
          <a:prstGeom>
            <a:avLst/>
          </a:prstGeom>
        </p:spPr>
        <p:txBody>
          <a:bodyPr wrap="square"/>
          <a:p>
            <a:r>
              <a:rPr sz="1400" b="0" lang="zh-CN">
                <a:solidFill>
                  <a:srgbClr val="555555"/>
                </a:solidFill>
              </a:rPr>
              <a:t>VLA视觉语言动作模型 · 7×24无人值守 · 零人工干预 · 良率≥99.9%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400" b="1" lang="zh-CN">
                <a:solidFill>
                  <a:srgbClr val="1F497D"/>
                </a:solidFill>
              </a:rPr>
              <a:t>Phase 0 · 从平台到产品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100000"/>
            <a:ext cx="8344000" cy="40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Z-MAX 基线版在 6-DOF 机械臂平台上完成全套验证:
✅  精准运动控制 (14轴协调)
✅  六维力控柔顺操作
✅  塔灯/急停/触觉/扫码 IO 全控制
✅  RealSense 3D 视觉定位
✅  XSpace Studio 一站式操控
✅  双路安全急停 + 力控过载保护
所有功能在真实光模块产线上稳定运行
L2 基线版已可投产 · L3/L4 OTA升级获得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1F497D"/>
                </a:solidFill>
              </a:rPr>
              <a:t>日常操作 · 5 分钟学会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100000"/>
            <a:ext cx="8344000" cy="18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① 按电源 → 等绿灯亮 → 打开 XSpace Studio
② 选工序: 固件加载 / 老化上下料 / 模块测试
③ 点「开始」→ 机器人自动执行</a:t>
            </a:r>
          </a:p>
        </p:txBody>
      </p:sp>
      <p:sp>
        <p:nvSpPr>
          <p:cNvPr id="3" name="TB3"/>
          <p:cNvSpPr txBox="1"/>
          <p:nvPr/>
        </p:nvSpPr>
        <p:spPr>
          <a:xfrm>
            <a:off x="1000000" y="3200000"/>
            <a:ext cx="2500000" cy="800000"/>
          </a:xfrm>
          <a:prstGeom>
            <a:avLst/>
          </a:prstGeom>
        </p:spPr>
        <p:txBody>
          <a:bodyPr wrap="square"/>
          <a:p>
            <a:r>
              <a:rPr sz="2000" b="1" lang="zh-CN">
                <a:solidFill>
                  <a:srgbClr val="333333"/>
                </a:solidFill>
              </a:rPr>
              <a:t>🟢 绿灯 = 正常运行
🟡 黄灯 = 需要人工处理
🔴 红灯 = 紧急停止</a:t>
            </a:r>
          </a:p>
        </p:txBody>
      </p:sp>
      <p:sp>
        <p:nvSpPr>
          <p:cNvPr id="4" name="TB4"/>
          <p:cNvSpPr txBox="1"/>
          <p:nvPr/>
        </p:nvSpPr>
        <p:spPr>
          <a:xfrm>
            <a:off x="400000" y="4300000"/>
            <a:ext cx="8344000" cy="600000"/>
          </a:xfrm>
          <a:prstGeom>
            <a:avLst/>
          </a:prstGeom>
        </p:spPr>
        <p:txBody>
          <a:bodyPr wrap="square"/>
          <a:p>
            <a:r>
              <a:rPr sz="1800" b="1" lang="zh-CN">
                <a:solidFill>
                  <a:srgbClr val="4F81BD"/>
                </a:solidFill>
              </a:rPr>
              <a:t>会玩手机就会操作 Z700 · 全中文界面 · 一键式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1F497D"/>
                </a:solidFill>
              </a:rPr>
              <a:t>为什么选 Z-MAX？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200000"/>
            <a:ext cx="8344000" cy="1000000"/>
          </a:xfrm>
          <a:prstGeom>
            <a:avLst/>
          </a:prstGeom>
        </p:spPr>
        <p:txBody>
          <a:bodyPr wrap="square"/>
          <a:p>
            <a:r>
              <a:rPr sz="1800" b="1" lang="zh-CN">
                <a:solidFill>
                  <a:srgbClr val="4F81BD"/>
                </a:solidFill>
              </a:rPr>
              <a:t>厂长: 12个月回本 · 24h×7产能翻倍 · 良率从95%→99.2% · 年省95万</a:t>
            </a:r>
          </a:p>
        </p:txBody>
      </p:sp>
      <p:sp>
        <p:nvSpPr>
          <p:cNvPr id="3" name="TB3"/>
          <p:cNvSpPr txBox="1"/>
          <p:nvPr/>
        </p:nvSpPr>
        <p:spPr>
          <a:xfrm>
            <a:off x="400000" y="2400000"/>
            <a:ext cx="8344000" cy="1000000"/>
          </a:xfrm>
          <a:prstGeom>
            <a:avLst/>
          </a:prstGeom>
        </p:spPr>
        <p:txBody>
          <a:bodyPr wrap="square"/>
          <a:p>
            <a:r>
              <a:rPr sz="1800" b="1" lang="zh-CN">
                <a:solidFill>
                  <a:srgbClr val="9BBB59"/>
                </a:solidFill>
              </a:rPr>
              <a:t>质量经理: ±0.02mm精度 · 每模块全程可追溯 · 机器不疲劳不走神</a:t>
            </a:r>
          </a:p>
        </p:txBody>
      </p:sp>
      <p:sp>
        <p:nvSpPr>
          <p:cNvPr id="4" name="TB4"/>
          <p:cNvSpPr txBox="1"/>
          <p:nvPr/>
        </p:nvSpPr>
        <p:spPr>
          <a:xfrm>
            <a:off x="400000" y="3600000"/>
            <a:ext cx="8344000" cy="1000000"/>
          </a:xfrm>
          <a:prstGeom>
            <a:avLst/>
          </a:prstGeom>
        </p:spPr>
        <p:txBody>
          <a:bodyPr wrap="square"/>
          <a:p>
            <a:r>
              <a:rPr sz="1800" b="1" lang="zh-CN">
                <a:solidFill>
                  <a:srgbClr val="F79646"/>
                </a:solidFill>
              </a:rPr>
              <a:t>产线工人: 从重复插拔→机器人管理员 · 工作更轻松更有技术含量</a:t>
            </a:r>
          </a:p>
        </p:txBody>
      </p:sp>
      <p:sp>
        <p:nvSpPr>
          <p:cNvPr id="5" name="TB5"/>
          <p:cNvSpPr txBox="1"/>
          <p:nvPr/>
        </p:nvSpPr>
        <p:spPr>
          <a:xfrm>
            <a:off x="400000" y="4800000"/>
            <a:ext cx="8344000" cy="500000"/>
          </a:xfrm>
          <a:prstGeom>
            <a:avLst/>
          </a:prstGeom>
        </p:spPr>
        <p:txBody>
          <a:bodyPr wrap="square"/>
          <a:p>
            <a:r>
              <a:rPr sz="1400" b="0" lang="zh-CN">
                <a:solidFill>
                  <a:srgbClr val="888888"/>
                </a:solidFill>
              </a:rPr>
              <a:t>已有光模块工厂使用 Z-MAX 基线版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400000" y="300000"/>
            <a:ext cx="83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1F497D"/>
                </a:solidFill>
              </a:rPr>
              <a:t>常见问题</a:t>
            </a:r>
          </a:p>
        </p:txBody>
      </p:sp>
      <p:sp>
        <p:nvSpPr>
          <p:cNvPr id="2" name="TB2"/>
          <p:cNvSpPr txBox="1"/>
          <p:nvPr/>
        </p:nvSpPr>
        <p:spPr>
          <a:xfrm>
            <a:off x="400000" y="1200000"/>
            <a:ext cx="8344000" cy="6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Q: 难学吗？A: 1天培训上手 · 全中文 · 一键操作</a:t>
            </a:r>
          </a:p>
        </p:txBody>
      </p:sp>
      <p:sp>
        <p:nvSpPr>
          <p:cNvPr id="3" name="TB3"/>
          <p:cNvSpPr txBox="1"/>
          <p:nvPr/>
        </p:nvSpPr>
        <p:spPr>
          <a:xfrm>
            <a:off x="400000" y="2000000"/>
            <a:ext cx="8344000" cy="6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Q: 坏了怎么办？A: 2年保修 · 模块化30分钟更换 · 7×24远程</a:t>
            </a:r>
          </a:p>
        </p:txBody>
      </p:sp>
      <p:sp>
        <p:nvSpPr>
          <p:cNvPr id="4" name="TB4"/>
          <p:cNvSpPr txBox="1"/>
          <p:nvPr/>
        </p:nvSpPr>
        <p:spPr>
          <a:xfrm>
            <a:off x="400000" y="2800000"/>
            <a:ext cx="8344000" cy="6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Q: 适配产线？A: 轮式底盘推到位 · 220V即插即用 · 不改造</a:t>
            </a:r>
          </a:p>
        </p:txBody>
      </p:sp>
      <p:sp>
        <p:nvSpPr>
          <p:cNvPr id="5" name="TB5"/>
          <p:cNvSpPr txBox="1"/>
          <p:nvPr/>
        </p:nvSpPr>
        <p:spPr>
          <a:xfrm>
            <a:off x="400000" y="3600000"/>
            <a:ext cx="8344000" cy="600000"/>
          </a:xfrm>
          <a:prstGeom>
            <a:avLst/>
          </a:prstGeom>
        </p:spPr>
        <p:txBody>
          <a:bodyPr wrap="square"/>
          <a:p>
            <a:r>
              <a:rPr sz="1600" b="0" lang="zh-CN">
                <a:solidFill>
                  <a:srgbClr val="333333"/>
                </a:solidFill>
              </a:rPr>
              <a:t>Q: 怎么升级？A: OTA远程 · 不用换硬件 · 2026Q4推L3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/>
      <p:grpSpPr/>
      <p:sp>
        <p:nvSpPr>
          <p:cNvPr id="1" name="TB1"/>
          <p:cNvSpPr txBox="1"/>
          <p:nvPr/>
        </p:nvSpPr>
        <p:spPr>
          <a:xfrm>
            <a:off x="800000" y="1800000"/>
            <a:ext cx="7544000" cy="900000"/>
          </a:xfrm>
          <a:prstGeom>
            <a:avLst/>
          </a:prstGeom>
        </p:spPr>
        <p:txBody>
          <a:bodyPr wrap="square"/>
          <a:p>
            <a:r>
              <a:rPr sz="3600" b="1" lang="zh-CN">
                <a:solidFill>
                  <a:srgbClr val="1F497D"/>
                </a:solidFill>
              </a:rPr>
              <a:t>Z-MAX 基线版</a:t>
            </a:r>
          </a:p>
        </p:txBody>
      </p:sp>
      <p:sp>
        <p:nvSpPr>
          <p:cNvPr id="2" name="TB2"/>
          <p:cNvSpPr txBox="1"/>
          <p:nvPr/>
        </p:nvSpPr>
        <p:spPr>
          <a:xfrm>
            <a:off x="800000" y="2900000"/>
            <a:ext cx="7544000" cy="600000"/>
          </a:xfrm>
          <a:prstGeom>
            <a:avLst/>
          </a:prstGeom>
        </p:spPr>
        <p:txBody>
          <a:bodyPr wrap="square"/>
          <a:p>
            <a:r>
              <a:rPr sz="2800" b="1" lang="zh-CN">
                <a:solidFill>
                  <a:srgbClr val="4F81BD"/>
                </a:solidFill>
              </a:rPr>
              <a:t>让每个光模块都经得起考验</a:t>
            </a:r>
          </a:p>
        </p:txBody>
      </p:sp>
      <p:sp>
        <p:nvSpPr>
          <p:cNvPr id="3" name="TB3"/>
          <p:cNvSpPr txBox="1"/>
          <p:nvPr/>
        </p:nvSpPr>
        <p:spPr>
          <a:xfrm>
            <a:off x="800000" y="3800000"/>
            <a:ext cx="7544000" cy="400000"/>
          </a:xfrm>
          <a:prstGeom>
            <a:avLst/>
          </a:prstGeom>
        </p:spPr>
        <p:txBody>
          <a:bodyPr wrap="square"/>
          <a:p>
            <a:r>
              <a:rPr sz="1800" b="0" lang="zh-CN">
                <a:solidFill>
                  <a:srgbClr val="888888"/>
                </a:solidFill>
              </a:rPr>
              <a:t>智蜂创元(ZFCY) · 预约现场演示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00000" y="4500000"/>
            <a:ext cx="7544000" cy="300000"/>
          </a:xfrm>
          <a:prstGeom>
            <a:avLst/>
          </a:prstGeom>
        </p:spPr>
        <p:txBody>
          <a:bodyPr wrap="square"/>
          <a:p>
            <a:r>
              <a:rPr sz="1400" b="0" lang="zh-CN">
                <a:solidFill>
                  <a:srgbClr val="AAAAAA"/>
                </a:solidFill>
              </a:rPr>
              <a:t>Q/ZFCY 001.1-2026</a:t>
            </a:r>
          </a:p>
        </p:txBody>
      </p:sp>
    </p:spTree>
  </p:cSld>
</p:sld>
</file>

<file path=ppt/theme/theme1.xml><?xml version="1.0" encoding="utf-8"?>
<a:theme xmlns:a="http://schemas.openxmlformats.org/drawingml/2006/main" name="Z-MAX">
  <a:themeElements>
    <a:clrScheme name="Z-MAX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Z-MAX">
      <a:majorFont>
        <a:latin typeface="Microsoft YaHei"/>
      </a:majorFont>
      <a:minorFont>
        <a:latin typeface="Microsoft YaHei"/>
      </a:minorFont>
    </a:fontScheme>
    <a:fmtScheme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