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69" r:id="rId4"/>
    <p:sldId id="266" r:id="rId5"/>
    <p:sldId id="268" r:id="rId6"/>
    <p:sldId id="267" r:id="rId7"/>
    <p:sldId id="270" r:id="rId8"/>
    <p:sldId id="263" r:id="rId9"/>
    <p:sldId id="264" r:id="rId10"/>
    <p:sldId id="271" r:id="rId11"/>
    <p:sldId id="274" r:id="rId12"/>
    <p:sldId id="272" r:id="rId13"/>
    <p:sldId id="273" r:id="rId14"/>
    <p:sldId id="275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82F6"/>
    <a:srgbClr val="06B6D4"/>
    <a:srgbClr val="F59E0B"/>
    <a:srgbClr val="10B9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96" y="5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5316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7EDCD-57DE-9B16-6A4E-DF057E8CE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E13085-23C7-0DB9-F480-0CECF51B06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A8043C-996F-40C3-5E91-6D9921E8FC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111EA4-78BC-459F-9250-C6DB3CFA90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8401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D8314-0877-A37F-ECC0-42D1B24C1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6A0742-9F85-244F-8B84-B6AA22DB1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EC71B0-32BD-B271-E3A8-BDB5EF8AC1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EBC82F-750C-22F5-7AA4-FA37E44F49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8971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7397C-D556-68D3-C137-3EC6429C9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E8642D-2E7F-2F11-F80B-6433199132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1B5C57-7FD2-56EE-592B-F33948D904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CA94FA-C1C3-2AED-7435-13348FDB06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8634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F84CE-D53B-4982-E924-0436EF4B3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C13DEE-D776-0BE0-ADCC-5CF606FD69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DB0595-6B5F-360C-D07A-E9C4A3F55C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F4D059-3DA0-3FAF-416A-76B86AE821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8341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FC793-9D06-4069-9197-61F815320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016F71-65FF-2155-713A-D759D47585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046E89-E93B-4138-91EB-73FE3ABF99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53770-58BF-EB7E-81F9-F0023A9392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283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C99E2-C477-A00D-7715-8166E5519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09234F-BEE2-E6E1-9DF7-B9BB15D6A6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531E40-E0A5-17B9-A524-5CC3679994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8B5C2C-8315-9E69-8E32-25984A0E82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0081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42B64-61CA-F2B4-DC4E-5D746376F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FC2693-6C40-F906-843F-8B1EC35D25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58832A-4CEB-49C6-F349-7AEEA21D2A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298A24-E6B1-FE11-6E65-2F3D453782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6374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DDFFE-5419-41CF-44DE-98AF0FA17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E93C41-8C94-F26A-C1F0-ED8EFC3356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5559AA-1BD3-E2D5-4278-38E23E9DAD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40855E-5D26-CAAA-9E12-2FACA018B6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5607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DDFFE-5419-41CF-44DE-98AF0FA17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E93C41-8C94-F26A-C1F0-ED8EFC3356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5559AA-1BD3-E2D5-4278-38E23E9DAD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40855E-5D26-CAAA-9E12-2FACA018B6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9218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DDFFE-5419-41CF-44DE-98AF0FA17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E93C41-8C94-F26A-C1F0-ED8EFC3356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5559AA-1BD3-E2D5-4278-38E23E9DAD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40855E-5D26-CAAA-9E12-2FACA018B6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8997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3.xml"/><Relationship Id="rId3" Type="http://schemas.microsoft.com/office/2007/relationships/media" Target="../media/media3.mp4"/><Relationship Id="rId7" Type="http://schemas.openxmlformats.org/officeDocument/2006/relationships/slideLayout" Target="../slideLayouts/slideLayout1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video" Target="../media/media4.mp4"/><Relationship Id="rId11" Type="http://schemas.openxmlformats.org/officeDocument/2006/relationships/image" Target="../media/image9.png"/><Relationship Id="rId5" Type="http://schemas.microsoft.com/office/2007/relationships/media" Target="../media/media4.mp4"/><Relationship Id="rId10" Type="http://schemas.openxmlformats.org/officeDocument/2006/relationships/image" Target="../media/image8.png"/><Relationship Id="rId4" Type="http://schemas.openxmlformats.org/officeDocument/2006/relationships/video" Target="../media/media3.mp4"/><Relationship Id="rId9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Z-MAX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多模态动作专家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731520" y="3017520"/>
            <a:ext cx="274320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31520" y="329184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光模块工厂智能插拔解决方案</a:t>
            </a:r>
            <a:endParaRPr lang="en-US" sz="24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400" dirty="0"/>
          </a:p>
          <a:p>
            <a:pPr marL="0" indent="0" algn="l"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±0.02mm 精度  |  &gt;99% 成功率  |  </a:t>
            </a:r>
            <a:r>
              <a:rPr lang="en-US" sz="1800" b="1" dirty="0" err="1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全自主</a:t>
            </a:r>
            <a:r>
              <a:rPr lang="zh-CN" altLang="en-US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具身智能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0" y="4503420"/>
            <a:ext cx="9144000" cy="6400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731520" y="46405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智蜂创元 | 具身机器人产品解决方案</a:t>
            </a:r>
            <a:endParaRPr lang="en-US" sz="1400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DDA30F82-E04E-BB36-B9A5-3D5AF3DC17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6725" y="937260"/>
            <a:ext cx="819414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核心产品形态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18288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Z-MAX </a:t>
            </a: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智蜂 - 多模态动作专家</a:t>
            </a:r>
            <a:endParaRPr lang="en-US" sz="2800" dirty="0"/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2539603A-992E-2AE6-525F-FC184460A6C9}"/>
              </a:ext>
            </a:extLst>
          </p:cNvPr>
          <p:cNvGrpSpPr/>
          <p:nvPr/>
        </p:nvGrpSpPr>
        <p:grpSpPr>
          <a:xfrm>
            <a:off x="731520" y="2011680"/>
            <a:ext cx="6621780" cy="2999232"/>
            <a:chOff x="731520" y="2011680"/>
            <a:chExt cx="7680960" cy="5029200"/>
          </a:xfrm>
        </p:grpSpPr>
        <p:sp>
          <p:nvSpPr>
            <p:cNvPr id="6" name="Text 4"/>
            <p:cNvSpPr/>
            <p:nvPr/>
          </p:nvSpPr>
          <p:spPr>
            <a:xfrm>
              <a:off x="731520" y="2011680"/>
              <a:ext cx="76809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i="1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命名逻辑</a:t>
              </a:r>
              <a:endParaRPr lang="en-US" sz="16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731520" y="2468880"/>
              <a:ext cx="7680960" cy="914400"/>
            </a:xfrm>
            <a:prstGeom prst="rect">
              <a:avLst/>
            </a:prstGeom>
            <a:solidFill>
              <a:srgbClr val="1E293B"/>
            </a:solidFill>
            <a:ln w="12700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Shape 6"/>
            <p:cNvSpPr/>
            <p:nvPr/>
          </p:nvSpPr>
          <p:spPr>
            <a:xfrm>
              <a:off x="731520" y="2468880"/>
              <a:ext cx="73152" cy="914400"/>
            </a:xfrm>
            <a:prstGeom prst="rect">
              <a:avLst/>
            </a:prstGeom>
            <a:solidFill>
              <a:srgbClr val="F59E0B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Text 7"/>
            <p:cNvSpPr/>
            <p:nvPr/>
          </p:nvSpPr>
          <p:spPr>
            <a:xfrm>
              <a:off x="1005840" y="2651760"/>
              <a:ext cx="72237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800" b="1" dirty="0">
                  <a:solidFill>
                    <a:srgbClr val="F59E0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智蜂 Z-Bee</a:t>
              </a:r>
              <a:r>
                <a:rPr lang="en-US" sz="1600" dirty="0">
                  <a:solidFill>
                    <a:srgbClr val="F8FAF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 ·  精密、高效、协同的工业级品牌IP</a:t>
              </a:r>
              <a:endParaRPr lang="en-US" sz="18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731520" y="3566160"/>
              <a:ext cx="76809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i="1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Z-MAX 四维含义</a:t>
              </a:r>
              <a:endParaRPr lang="en-US" sz="16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731520" y="4023360"/>
              <a:ext cx="594360" cy="502920"/>
            </a:xfrm>
            <a:prstGeom prst="rect">
              <a:avLst/>
            </a:prstGeom>
            <a:solidFill>
              <a:srgbClr val="3B82F6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Text 10"/>
            <p:cNvSpPr/>
            <p:nvPr/>
          </p:nvSpPr>
          <p:spPr>
            <a:xfrm>
              <a:off x="731520" y="4096512"/>
              <a:ext cx="59436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8FAFC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Z</a:t>
              </a:r>
              <a:endParaRPr lang="en-US" sz="22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1463040" y="4096512"/>
              <a:ext cx="69494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F8FAF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潜在特征空间</a:t>
              </a:r>
              <a:r>
                <a:rPr lang="en-US" sz="14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 →  </a:t>
              </a:r>
              <a:r>
                <a:rPr lang="en-US" sz="1300" dirty="0" err="1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全域感知与认知底座</a:t>
              </a:r>
              <a:endParaRPr lang="en-US" sz="14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731520" y="4617720"/>
              <a:ext cx="594360" cy="502920"/>
            </a:xfrm>
            <a:prstGeom prst="rect">
              <a:avLst/>
            </a:prstGeom>
            <a:solidFill>
              <a:srgbClr val="06B6D4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Text 13"/>
            <p:cNvSpPr/>
            <p:nvPr/>
          </p:nvSpPr>
          <p:spPr>
            <a:xfrm>
              <a:off x="731520" y="4690872"/>
              <a:ext cx="59436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8FAFC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M</a:t>
              </a:r>
              <a:endParaRPr lang="en-US" sz="22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1463040" y="4690872"/>
              <a:ext cx="69494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F8FAF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模态</a:t>
              </a:r>
              <a:r>
                <a:rPr lang="en-US" sz="14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 →  </a:t>
              </a:r>
              <a:r>
                <a:rPr lang="en-US" sz="1300" dirty="0" err="1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感官融合与自适应泛化</a:t>
              </a:r>
              <a:endParaRPr lang="en-US" sz="14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731520" y="5212080"/>
              <a:ext cx="594360" cy="502920"/>
            </a:xfrm>
            <a:prstGeom prst="rect">
              <a:avLst/>
            </a:prstGeom>
            <a:solidFill>
              <a:srgbClr val="10B981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Text 16"/>
            <p:cNvSpPr/>
            <p:nvPr/>
          </p:nvSpPr>
          <p:spPr>
            <a:xfrm>
              <a:off x="731520" y="5285232"/>
              <a:ext cx="59436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8FAFC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A</a:t>
              </a:r>
              <a:endParaRPr lang="en-US" sz="22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1463040" y="5285232"/>
              <a:ext cx="69494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F8FAF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Action / 动作</a:t>
              </a:r>
              <a:r>
                <a:rPr lang="en-US" sz="14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 →  </a:t>
              </a:r>
              <a:r>
                <a:rPr lang="en-US" sz="1300" dirty="0" err="1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精细力控与动态执行</a:t>
              </a:r>
              <a:endParaRPr lang="en-US" sz="14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731520" y="5806440"/>
              <a:ext cx="594360" cy="502920"/>
            </a:xfrm>
            <a:prstGeom prst="rect">
              <a:avLst/>
            </a:prstGeom>
            <a:solidFill>
              <a:srgbClr val="F59E0B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Text 19"/>
            <p:cNvSpPr/>
            <p:nvPr/>
          </p:nvSpPr>
          <p:spPr>
            <a:xfrm>
              <a:off x="731520" y="5879592"/>
              <a:ext cx="59436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8FAFC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X</a:t>
              </a:r>
              <a:endParaRPr lang="en-US" sz="22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1463040" y="5879592"/>
              <a:ext cx="69494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F8FAF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eXpert / 专家</a:t>
              </a:r>
              <a:r>
                <a:rPr lang="en-US" sz="14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 →  </a:t>
              </a:r>
              <a:r>
                <a:rPr lang="en-US" sz="1300" dirty="0" err="1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自主决策与全自主闭环</a:t>
              </a:r>
              <a:endParaRPr lang="en-US" sz="14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731520" y="6400800"/>
              <a:ext cx="7680960" cy="640080"/>
            </a:xfrm>
            <a:prstGeom prst="rect">
              <a:avLst/>
            </a:prstGeom>
            <a:solidFill>
              <a:srgbClr val="1E293B"/>
            </a:solidFill>
            <a:ln w="12700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Text 22"/>
            <p:cNvSpPr/>
            <p:nvPr/>
          </p:nvSpPr>
          <p:spPr>
            <a:xfrm>
              <a:off x="914400" y="6537960"/>
              <a:ext cx="73152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品牌注册备选  |  </a:t>
              </a:r>
              <a:r>
                <a:rPr lang="en-US" sz="1300" b="1" dirty="0">
                  <a:solidFill>
                    <a:srgbClr val="3B82F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R-MAX</a:t>
              </a:r>
              <a:r>
                <a:rPr lang="en-US" sz="13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 ·  </a:t>
              </a:r>
              <a:r>
                <a:rPr lang="en-US" sz="1300" b="1" dirty="0">
                  <a:solidFill>
                    <a:srgbClr val="06B6D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RB-MAX</a:t>
              </a:r>
              <a:r>
                <a:rPr lang="en-US" sz="13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 ·  </a:t>
              </a:r>
              <a:endParaRPr lang="en-US" sz="1200" dirty="0"/>
            </a:p>
          </p:txBody>
        </p:sp>
      </p:grpSp>
      <p:pic>
        <p:nvPicPr>
          <p:cNvPr id="27" name="图片 26">
            <a:extLst>
              <a:ext uri="{FF2B5EF4-FFF2-40B4-BE49-F238E27FC236}">
                <a16:creationId xmlns:a16="http://schemas.microsoft.com/office/drawing/2014/main" id="{9B75B488-D905-6ED3-466B-EE7272F1B8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5803" y="164459"/>
            <a:ext cx="819414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85C778-8F23-09D4-B8F1-00305BA5F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11">
            <a:extLst>
              <a:ext uri="{FF2B5EF4-FFF2-40B4-BE49-F238E27FC236}">
                <a16:creationId xmlns:a16="http://schemas.microsoft.com/office/drawing/2014/main" id="{AF97CC7A-FAEF-3426-CC43-BF29D4D5A00F}"/>
              </a:ext>
            </a:extLst>
          </p:cNvPr>
          <p:cNvSpPr/>
          <p:nvPr/>
        </p:nvSpPr>
        <p:spPr>
          <a:xfrm>
            <a:off x="731520" y="4146300"/>
            <a:ext cx="5669196" cy="72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6201F0E3-E5C6-7328-BA93-529BF36E8E18}"/>
              </a:ext>
            </a:extLst>
          </p:cNvPr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CN" altLang="en-US" sz="3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产品迭代策略</a:t>
            </a:r>
            <a:r>
              <a:rPr lang="en-US" altLang="zh-CN" sz="3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</a:t>
            </a:r>
            <a:r>
              <a:rPr lang="zh-CN" altLang="en-US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人工编制流程，</a:t>
            </a:r>
            <a:r>
              <a:rPr lang="zh-CN" altLang="zh-CN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实现精细插拔操作</a:t>
            </a:r>
            <a:endParaRPr lang="en-US" sz="36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2F61986-0FCA-33AE-C8C3-3D338204A381}"/>
              </a:ext>
            </a:extLst>
          </p:cNvPr>
          <p:cNvSpPr/>
          <p:nvPr/>
        </p:nvSpPr>
        <p:spPr>
          <a:xfrm>
            <a:off x="731520" y="1188720"/>
            <a:ext cx="18288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3DD43B92-EECC-3AC3-3494-247186304AC9}"/>
              </a:ext>
            </a:extLst>
          </p:cNvPr>
          <p:cNvSpPr/>
          <p:nvPr/>
        </p:nvSpPr>
        <p:spPr>
          <a:xfrm>
            <a:off x="727109" y="2728271"/>
            <a:ext cx="2520000" cy="108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8438490D-6DFB-80DA-CBD6-69E699B9F43E}"/>
              </a:ext>
            </a:extLst>
          </p:cNvPr>
          <p:cNvSpPr/>
          <p:nvPr/>
        </p:nvSpPr>
        <p:spPr>
          <a:xfrm>
            <a:off x="3880716" y="2728271"/>
            <a:ext cx="2520000" cy="108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箭头: 右 36">
            <a:extLst>
              <a:ext uri="{FF2B5EF4-FFF2-40B4-BE49-F238E27FC236}">
                <a16:creationId xmlns:a16="http://schemas.microsoft.com/office/drawing/2014/main" id="{8158D83A-C471-8C88-1DE5-82A470909FA2}"/>
              </a:ext>
            </a:extLst>
          </p:cNvPr>
          <p:cNvSpPr/>
          <p:nvPr/>
        </p:nvSpPr>
        <p:spPr>
          <a:xfrm>
            <a:off x="3247109" y="3200798"/>
            <a:ext cx="638776" cy="25200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箭头: 右 37">
            <a:extLst>
              <a:ext uri="{FF2B5EF4-FFF2-40B4-BE49-F238E27FC236}">
                <a16:creationId xmlns:a16="http://schemas.microsoft.com/office/drawing/2014/main" id="{87E52896-5C56-6437-A192-E063C7C205C1}"/>
              </a:ext>
            </a:extLst>
          </p:cNvPr>
          <p:cNvSpPr/>
          <p:nvPr/>
        </p:nvSpPr>
        <p:spPr>
          <a:xfrm rot="5400000">
            <a:off x="4872021" y="3846178"/>
            <a:ext cx="327812" cy="25200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箭头: 右 38">
            <a:extLst>
              <a:ext uri="{FF2B5EF4-FFF2-40B4-BE49-F238E27FC236}">
                <a16:creationId xmlns:a16="http://schemas.microsoft.com/office/drawing/2014/main" id="{F93513A8-ED35-B1CF-264B-23B5C9B366FC}"/>
              </a:ext>
            </a:extLst>
          </p:cNvPr>
          <p:cNvSpPr/>
          <p:nvPr/>
        </p:nvSpPr>
        <p:spPr>
          <a:xfrm rot="16200000">
            <a:off x="1781225" y="3846177"/>
            <a:ext cx="327813" cy="25200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Text 12">
            <a:extLst>
              <a:ext uri="{FF2B5EF4-FFF2-40B4-BE49-F238E27FC236}">
                <a16:creationId xmlns:a16="http://schemas.microsoft.com/office/drawing/2014/main" id="{624278CF-58C6-2064-C527-DE6E994950D8}"/>
              </a:ext>
            </a:extLst>
          </p:cNvPr>
          <p:cNvSpPr/>
          <p:nvPr/>
        </p:nvSpPr>
        <p:spPr>
          <a:xfrm>
            <a:off x="4798479" y="2868689"/>
            <a:ext cx="638776" cy="60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zh-CN" sz="4800" b="1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42" name="Text 13">
            <a:extLst>
              <a:ext uri="{FF2B5EF4-FFF2-40B4-BE49-F238E27FC236}">
                <a16:creationId xmlns:a16="http://schemas.microsoft.com/office/drawing/2014/main" id="{F2DEA3C6-135B-72B6-2BA9-22B766D216E1}"/>
              </a:ext>
            </a:extLst>
          </p:cNvPr>
          <p:cNvSpPr/>
          <p:nvPr/>
        </p:nvSpPr>
        <p:spPr>
          <a:xfrm>
            <a:off x="4852246" y="3439390"/>
            <a:ext cx="1742919" cy="26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动作（标准接口）</a:t>
            </a:r>
            <a:endParaRPr lang="en-US" sz="1600" dirty="0"/>
          </a:p>
        </p:txBody>
      </p:sp>
      <p:sp>
        <p:nvSpPr>
          <p:cNvPr id="43" name="Text 9">
            <a:extLst>
              <a:ext uri="{FF2B5EF4-FFF2-40B4-BE49-F238E27FC236}">
                <a16:creationId xmlns:a16="http://schemas.microsoft.com/office/drawing/2014/main" id="{9DB5B02E-9DCF-3FE1-235F-620677983FA9}"/>
              </a:ext>
            </a:extLst>
          </p:cNvPr>
          <p:cNvSpPr/>
          <p:nvPr/>
        </p:nvSpPr>
        <p:spPr>
          <a:xfrm>
            <a:off x="3772826" y="4228695"/>
            <a:ext cx="1724473" cy="60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2800" b="1" dirty="0">
                <a:solidFill>
                  <a:schemeClr val="accent4">
                    <a:lumMod val="50000"/>
                  </a:scheme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真实环境</a:t>
            </a:r>
            <a:endParaRPr lang="en-US" sz="28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44" name="Text 9">
            <a:extLst>
              <a:ext uri="{FF2B5EF4-FFF2-40B4-BE49-F238E27FC236}">
                <a16:creationId xmlns:a16="http://schemas.microsoft.com/office/drawing/2014/main" id="{F50B525A-727D-D3B4-33D0-7ED71B915138}"/>
              </a:ext>
            </a:extLst>
          </p:cNvPr>
          <p:cNvSpPr/>
          <p:nvPr/>
        </p:nvSpPr>
        <p:spPr>
          <a:xfrm>
            <a:off x="1016000" y="2928568"/>
            <a:ext cx="1992991" cy="60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2000" b="1" dirty="0">
                <a:solidFill>
                  <a:schemeClr val="bg1"/>
                </a:solidFill>
                <a:latin typeface="Arial Black" pitchFamily="34" charset="0"/>
              </a:rPr>
              <a:t>人工流程编排</a:t>
            </a:r>
            <a:endParaRPr lang="en-US" altLang="zh-CN" sz="2000" b="1" dirty="0">
              <a:solidFill>
                <a:schemeClr val="bg1"/>
              </a:solidFill>
              <a:latin typeface="Arial Black" pitchFamily="34" charset="0"/>
            </a:endParaRPr>
          </a:p>
          <a:p>
            <a:pPr marL="0" indent="0" algn="l">
              <a:buNone/>
            </a:pPr>
            <a:r>
              <a:rPr lang="zh-CN" altLang="en-US" sz="2000" b="1" dirty="0">
                <a:solidFill>
                  <a:schemeClr val="bg1"/>
                </a:solidFill>
                <a:latin typeface="Arial Black" pitchFamily="34" charset="0"/>
              </a:rPr>
              <a:t>标准原子功能库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C61896FA-EEB2-9AE7-1917-6D29576E400D}"/>
              </a:ext>
            </a:extLst>
          </p:cNvPr>
          <p:cNvSpPr/>
          <p:nvPr/>
        </p:nvSpPr>
        <p:spPr>
          <a:xfrm>
            <a:off x="73152" y="2571750"/>
            <a:ext cx="6559466" cy="1383030"/>
          </a:xfrm>
          <a:prstGeom prst="roundRect">
            <a:avLst/>
          </a:pr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Text 13">
            <a:extLst>
              <a:ext uri="{FF2B5EF4-FFF2-40B4-BE49-F238E27FC236}">
                <a16:creationId xmlns:a16="http://schemas.microsoft.com/office/drawing/2014/main" id="{5B3263EC-D446-DC98-77D3-6C0AD39C730C}"/>
              </a:ext>
            </a:extLst>
          </p:cNvPr>
          <p:cNvSpPr/>
          <p:nvPr/>
        </p:nvSpPr>
        <p:spPr>
          <a:xfrm>
            <a:off x="146871" y="3103866"/>
            <a:ext cx="563907" cy="365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5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系统 </a:t>
            </a:r>
            <a:r>
              <a:rPr lang="en-US" altLang="zh-CN" sz="15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0</a:t>
            </a:r>
          </a:p>
          <a:p>
            <a:pPr marL="0" indent="0" algn="l">
              <a:buNone/>
            </a:pPr>
            <a:r>
              <a:rPr lang="zh-CN" altLang="en-US" sz="1000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-120"/>
              </a:rPr>
              <a:t>分段式</a:t>
            </a:r>
            <a:endParaRPr lang="en-US" altLang="zh-CN" sz="1000" dirty="0">
              <a:solidFill>
                <a:schemeClr val="accent4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-120"/>
            </a:endParaRPr>
          </a:p>
          <a:p>
            <a:pPr marL="0" indent="0" algn="l">
              <a:buNone/>
            </a:pPr>
            <a:r>
              <a:rPr lang="zh-CN" altLang="en-US" sz="1000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-120"/>
              </a:rPr>
              <a:t>功能</a:t>
            </a:r>
            <a:endParaRPr lang="en-US" altLang="zh-CN" sz="1000" dirty="0">
              <a:solidFill>
                <a:schemeClr val="accent4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A61073B9-D39E-6D92-2353-54F0146161F5}"/>
              </a:ext>
            </a:extLst>
          </p:cNvPr>
          <p:cNvSpPr txBox="1"/>
          <p:nvPr/>
        </p:nvSpPr>
        <p:spPr>
          <a:xfrm>
            <a:off x="545910" y="1224912"/>
            <a:ext cx="7866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     </a:t>
            </a:r>
            <a:r>
              <a:rPr lang="zh-CN" altLang="en-US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固定式精密操作具身机器人，精密制造智能技工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93EE8DE-1CB5-2800-335E-16B4F7DEF6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964" y="1629396"/>
            <a:ext cx="5541244" cy="835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409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2D32FD-987D-A73D-8C4B-D1E7E805C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11">
            <a:extLst>
              <a:ext uri="{FF2B5EF4-FFF2-40B4-BE49-F238E27FC236}">
                <a16:creationId xmlns:a16="http://schemas.microsoft.com/office/drawing/2014/main" id="{420CFC5F-D29D-1E40-88F6-E967B496B256}"/>
              </a:ext>
            </a:extLst>
          </p:cNvPr>
          <p:cNvSpPr/>
          <p:nvPr/>
        </p:nvSpPr>
        <p:spPr>
          <a:xfrm>
            <a:off x="731520" y="4146300"/>
            <a:ext cx="5669196" cy="72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760A9D2C-FBA8-4F3B-DE12-348080C0BDF0}"/>
              </a:ext>
            </a:extLst>
          </p:cNvPr>
          <p:cNvSpPr/>
          <p:nvPr/>
        </p:nvSpPr>
        <p:spPr>
          <a:xfrm>
            <a:off x="731520" y="457200"/>
            <a:ext cx="80422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CN" altLang="en-US" sz="3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产品迭代策略</a:t>
            </a:r>
            <a:r>
              <a:rPr lang="en-US" altLang="zh-CN" sz="3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</a:t>
            </a:r>
            <a:r>
              <a:rPr lang="zh-CN" altLang="zh-CN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基于</a:t>
            </a:r>
            <a:r>
              <a:rPr lang="zh-CN" altLang="en-US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自研多模态端到端</a:t>
            </a:r>
            <a:r>
              <a:rPr lang="zh-CN" altLang="zh-CN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模型，实现精细插拔操作</a:t>
            </a:r>
            <a:endParaRPr lang="en-US" sz="36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C2AD307-5917-ACE3-41A5-79817687FDAA}"/>
              </a:ext>
            </a:extLst>
          </p:cNvPr>
          <p:cNvSpPr/>
          <p:nvPr/>
        </p:nvSpPr>
        <p:spPr>
          <a:xfrm>
            <a:off x="731520" y="1188720"/>
            <a:ext cx="18288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F040D59B-30F4-FF41-40CD-175A45BC66B4}"/>
              </a:ext>
            </a:extLst>
          </p:cNvPr>
          <p:cNvSpPr/>
          <p:nvPr/>
        </p:nvSpPr>
        <p:spPr>
          <a:xfrm>
            <a:off x="727109" y="2728271"/>
            <a:ext cx="2520000" cy="108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B7E8927F-A6CD-B2CA-68BC-F0C6E3A63288}"/>
              </a:ext>
            </a:extLst>
          </p:cNvPr>
          <p:cNvSpPr/>
          <p:nvPr/>
        </p:nvSpPr>
        <p:spPr>
          <a:xfrm>
            <a:off x="3880716" y="2728271"/>
            <a:ext cx="2520000" cy="108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箭头: 右 36">
            <a:extLst>
              <a:ext uri="{FF2B5EF4-FFF2-40B4-BE49-F238E27FC236}">
                <a16:creationId xmlns:a16="http://schemas.microsoft.com/office/drawing/2014/main" id="{0C6D746F-101D-C7F4-BE97-0360E625374A}"/>
              </a:ext>
            </a:extLst>
          </p:cNvPr>
          <p:cNvSpPr/>
          <p:nvPr/>
        </p:nvSpPr>
        <p:spPr>
          <a:xfrm>
            <a:off x="3247109" y="3200798"/>
            <a:ext cx="638776" cy="25200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箭头: 右 37">
            <a:extLst>
              <a:ext uri="{FF2B5EF4-FFF2-40B4-BE49-F238E27FC236}">
                <a16:creationId xmlns:a16="http://schemas.microsoft.com/office/drawing/2014/main" id="{AA8260A5-9AD5-C5D7-9143-E876C27F1CA4}"/>
              </a:ext>
            </a:extLst>
          </p:cNvPr>
          <p:cNvSpPr/>
          <p:nvPr/>
        </p:nvSpPr>
        <p:spPr>
          <a:xfrm rot="5400000">
            <a:off x="4872021" y="3846178"/>
            <a:ext cx="327812" cy="25200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箭头: 右 38">
            <a:extLst>
              <a:ext uri="{FF2B5EF4-FFF2-40B4-BE49-F238E27FC236}">
                <a16:creationId xmlns:a16="http://schemas.microsoft.com/office/drawing/2014/main" id="{187BAFD1-2C52-15DA-2C8D-806EBE3146D1}"/>
              </a:ext>
            </a:extLst>
          </p:cNvPr>
          <p:cNvSpPr/>
          <p:nvPr/>
        </p:nvSpPr>
        <p:spPr>
          <a:xfrm rot="16200000">
            <a:off x="1781225" y="3846177"/>
            <a:ext cx="327813" cy="25200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Text 10">
            <a:extLst>
              <a:ext uri="{FF2B5EF4-FFF2-40B4-BE49-F238E27FC236}">
                <a16:creationId xmlns:a16="http://schemas.microsoft.com/office/drawing/2014/main" id="{0EBAB4A0-F07D-FB65-743C-65381C23EA63}"/>
              </a:ext>
            </a:extLst>
          </p:cNvPr>
          <p:cNvSpPr/>
          <p:nvPr/>
        </p:nvSpPr>
        <p:spPr>
          <a:xfrm>
            <a:off x="1635707" y="3441679"/>
            <a:ext cx="658328" cy="26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多模态</a:t>
            </a:r>
            <a:endParaRPr lang="en-US" sz="1600" dirty="0"/>
          </a:p>
        </p:txBody>
      </p:sp>
      <p:sp>
        <p:nvSpPr>
          <p:cNvPr id="41" name="Text 12">
            <a:extLst>
              <a:ext uri="{FF2B5EF4-FFF2-40B4-BE49-F238E27FC236}">
                <a16:creationId xmlns:a16="http://schemas.microsoft.com/office/drawing/2014/main" id="{42B3A500-9359-4978-49F0-4F0183E7C070}"/>
              </a:ext>
            </a:extLst>
          </p:cNvPr>
          <p:cNvSpPr/>
          <p:nvPr/>
        </p:nvSpPr>
        <p:spPr>
          <a:xfrm>
            <a:off x="4798479" y="2868689"/>
            <a:ext cx="638776" cy="60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zh-CN" sz="4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4800" dirty="0">
              <a:solidFill>
                <a:srgbClr val="10B981"/>
              </a:solidFill>
            </a:endParaRPr>
          </a:p>
        </p:txBody>
      </p:sp>
      <p:sp>
        <p:nvSpPr>
          <p:cNvPr id="42" name="Text 13">
            <a:extLst>
              <a:ext uri="{FF2B5EF4-FFF2-40B4-BE49-F238E27FC236}">
                <a16:creationId xmlns:a16="http://schemas.microsoft.com/office/drawing/2014/main" id="{F50BA106-9249-77C2-CA47-F149C46E1E5C}"/>
              </a:ext>
            </a:extLst>
          </p:cNvPr>
          <p:cNvSpPr/>
          <p:nvPr/>
        </p:nvSpPr>
        <p:spPr>
          <a:xfrm>
            <a:off x="4852246" y="3439390"/>
            <a:ext cx="823127" cy="26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动作</a:t>
            </a:r>
            <a:endParaRPr lang="en-US" sz="1600" dirty="0"/>
          </a:p>
        </p:txBody>
      </p:sp>
      <p:sp>
        <p:nvSpPr>
          <p:cNvPr id="43" name="Text 9">
            <a:extLst>
              <a:ext uri="{FF2B5EF4-FFF2-40B4-BE49-F238E27FC236}">
                <a16:creationId xmlns:a16="http://schemas.microsoft.com/office/drawing/2014/main" id="{9B730CEB-0857-2327-CDDE-47416293B74D}"/>
              </a:ext>
            </a:extLst>
          </p:cNvPr>
          <p:cNvSpPr/>
          <p:nvPr/>
        </p:nvSpPr>
        <p:spPr>
          <a:xfrm>
            <a:off x="3772826" y="4228695"/>
            <a:ext cx="1724473" cy="60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2800" b="1" dirty="0">
                <a:solidFill>
                  <a:schemeClr val="accent4">
                    <a:lumMod val="50000"/>
                  </a:scheme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真实环境</a:t>
            </a:r>
            <a:endParaRPr lang="en-US" sz="28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44" name="Text 9">
            <a:extLst>
              <a:ext uri="{FF2B5EF4-FFF2-40B4-BE49-F238E27FC236}">
                <a16:creationId xmlns:a16="http://schemas.microsoft.com/office/drawing/2014/main" id="{6F9F86E9-5E5E-F888-E95A-D6C5AA27411B}"/>
              </a:ext>
            </a:extLst>
          </p:cNvPr>
          <p:cNvSpPr/>
          <p:nvPr/>
        </p:nvSpPr>
        <p:spPr>
          <a:xfrm>
            <a:off x="1633224" y="2928568"/>
            <a:ext cx="658328" cy="60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</a:t>
            </a:r>
            <a:endParaRPr lang="en-US" sz="4800" dirty="0">
              <a:solidFill>
                <a:srgbClr val="06B6D4"/>
              </a:solidFill>
            </a:endParaRP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079A4D36-93DF-9E2B-DC22-61FBB27D0BEC}"/>
              </a:ext>
            </a:extLst>
          </p:cNvPr>
          <p:cNvSpPr/>
          <p:nvPr/>
        </p:nvSpPr>
        <p:spPr>
          <a:xfrm>
            <a:off x="73152" y="2571750"/>
            <a:ext cx="6559466" cy="1383030"/>
          </a:xfrm>
          <a:prstGeom prst="roundRect">
            <a:avLst/>
          </a:pr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Text 13">
            <a:extLst>
              <a:ext uri="{FF2B5EF4-FFF2-40B4-BE49-F238E27FC236}">
                <a16:creationId xmlns:a16="http://schemas.microsoft.com/office/drawing/2014/main" id="{86FB4BA6-E8BE-378C-7543-978F87BD277E}"/>
              </a:ext>
            </a:extLst>
          </p:cNvPr>
          <p:cNvSpPr/>
          <p:nvPr/>
        </p:nvSpPr>
        <p:spPr>
          <a:xfrm>
            <a:off x="146871" y="3103866"/>
            <a:ext cx="563907" cy="365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5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系统 </a:t>
            </a:r>
            <a:r>
              <a:rPr lang="en-US" altLang="zh-CN" sz="15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1</a:t>
            </a:r>
          </a:p>
          <a:p>
            <a:pPr marL="0" indent="0" algn="l">
              <a:buNone/>
            </a:pPr>
            <a:r>
              <a:rPr lang="zh-CN" altLang="en-US" sz="1000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-120"/>
              </a:rPr>
              <a:t>端到端</a:t>
            </a:r>
            <a:endParaRPr lang="en-US" altLang="zh-CN" sz="1000" dirty="0">
              <a:solidFill>
                <a:schemeClr val="accent4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-120"/>
            </a:endParaRPr>
          </a:p>
          <a:p>
            <a:pPr marL="0" indent="0" algn="l">
              <a:buNone/>
            </a:pPr>
            <a:r>
              <a:rPr lang="zh-CN" altLang="en-US" sz="1000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-120"/>
              </a:rPr>
              <a:t>功能</a:t>
            </a:r>
            <a:endParaRPr lang="en-US" altLang="zh-CN" sz="1000" dirty="0">
              <a:solidFill>
                <a:schemeClr val="accent4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59316F0E-FFFA-1F43-6329-66E08C6E05EB}"/>
              </a:ext>
            </a:extLst>
          </p:cNvPr>
          <p:cNvSpPr txBox="1"/>
          <p:nvPr/>
        </p:nvSpPr>
        <p:spPr>
          <a:xfrm>
            <a:off x="545910" y="1224912"/>
            <a:ext cx="78665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     </a:t>
            </a:r>
            <a:r>
              <a:rPr lang="zh-CN" altLang="zh-CN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聚焦光模块插拔场景，依托</a:t>
            </a:r>
            <a:r>
              <a:rPr lang="zh-CN" altLang="en-US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自研</a:t>
            </a:r>
            <a:r>
              <a:rPr lang="zh-CN" altLang="zh-CN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VTLA（视触觉语言动作）</a:t>
            </a:r>
            <a:r>
              <a:rPr lang="zh-CN" altLang="zh-CN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 多模态模型，建立从“感知”到“动作”的端到端执行能力。</a:t>
            </a:r>
            <a:r>
              <a:rPr lang="zh-CN" altLang="zh-CN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M/A</a:t>
            </a:r>
            <a:r>
              <a:rPr lang="zh-CN" altLang="zh-CN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 融合视觉与力觉反馈，完成高精度、高可靠的插拔基础动作，在真实产线环境中落地验证。</a:t>
            </a:r>
            <a:endParaRPr lang="zh-CN" altLang="en-US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4257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605A15-D5AE-C92B-1BAA-E8D46A0DC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11">
            <a:extLst>
              <a:ext uri="{FF2B5EF4-FFF2-40B4-BE49-F238E27FC236}">
                <a16:creationId xmlns:a16="http://schemas.microsoft.com/office/drawing/2014/main" id="{21085D6F-FCA5-F9C6-C51E-D9BAABF10099}"/>
              </a:ext>
            </a:extLst>
          </p:cNvPr>
          <p:cNvSpPr/>
          <p:nvPr/>
        </p:nvSpPr>
        <p:spPr>
          <a:xfrm>
            <a:off x="731520" y="4146300"/>
            <a:ext cx="5669196" cy="72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EF9CCADC-A246-2A09-979A-45661A685AF3}"/>
              </a:ext>
            </a:extLst>
          </p:cNvPr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CN" altLang="en-US" sz="3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产品迭代策略  </a:t>
            </a:r>
            <a:r>
              <a:rPr lang="zh-CN" altLang="zh-CN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泛化调优与端侧部署</a:t>
            </a:r>
            <a:endParaRPr lang="en-US" altLang="zh-CN" sz="36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3512E1D-1C1F-5C71-21DF-1F28E7B1CD58}"/>
              </a:ext>
            </a:extLst>
          </p:cNvPr>
          <p:cNvSpPr/>
          <p:nvPr/>
        </p:nvSpPr>
        <p:spPr>
          <a:xfrm>
            <a:off x="731520" y="1188720"/>
            <a:ext cx="18288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FF1255F-1CE0-3E88-3B8A-67A3154C482E}"/>
              </a:ext>
            </a:extLst>
          </p:cNvPr>
          <p:cNvSpPr/>
          <p:nvPr/>
        </p:nvSpPr>
        <p:spPr>
          <a:xfrm>
            <a:off x="731520" y="1670242"/>
            <a:ext cx="5669196" cy="72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B6777E13-D7D7-F875-C07D-894ABF18A063}"/>
              </a:ext>
            </a:extLst>
          </p:cNvPr>
          <p:cNvSpPr/>
          <p:nvPr/>
        </p:nvSpPr>
        <p:spPr>
          <a:xfrm>
            <a:off x="727109" y="2728271"/>
            <a:ext cx="2520000" cy="108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BE85D365-91C6-757B-8A60-A6ACC9803A40}"/>
              </a:ext>
            </a:extLst>
          </p:cNvPr>
          <p:cNvSpPr/>
          <p:nvPr/>
        </p:nvSpPr>
        <p:spPr>
          <a:xfrm>
            <a:off x="3880716" y="2728271"/>
            <a:ext cx="2520000" cy="108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箭头: 右 3">
            <a:extLst>
              <a:ext uri="{FF2B5EF4-FFF2-40B4-BE49-F238E27FC236}">
                <a16:creationId xmlns:a16="http://schemas.microsoft.com/office/drawing/2014/main" id="{071B1FB8-6C08-9F9E-2E53-81218269242F}"/>
              </a:ext>
            </a:extLst>
          </p:cNvPr>
          <p:cNvSpPr/>
          <p:nvPr/>
        </p:nvSpPr>
        <p:spPr>
          <a:xfrm>
            <a:off x="3247109" y="3200798"/>
            <a:ext cx="638776" cy="25200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258E8389-2DB4-9D90-7FC8-E3F78DE877AC}"/>
              </a:ext>
            </a:extLst>
          </p:cNvPr>
          <p:cNvSpPr/>
          <p:nvPr/>
        </p:nvSpPr>
        <p:spPr>
          <a:xfrm rot="5400000">
            <a:off x="4872021" y="3846178"/>
            <a:ext cx="327812" cy="25200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0A2E60B0-3C5B-5448-BC59-AF1BC6D06CA7}"/>
              </a:ext>
            </a:extLst>
          </p:cNvPr>
          <p:cNvSpPr/>
          <p:nvPr/>
        </p:nvSpPr>
        <p:spPr>
          <a:xfrm rot="16200000">
            <a:off x="1781225" y="3846177"/>
            <a:ext cx="327813" cy="25200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E7752B6E-544E-8239-F0F4-97124639431E}"/>
              </a:ext>
            </a:extLst>
          </p:cNvPr>
          <p:cNvSpPr/>
          <p:nvPr/>
        </p:nvSpPr>
        <p:spPr>
          <a:xfrm rot="5400000">
            <a:off x="4850810" y="2442140"/>
            <a:ext cx="327812" cy="25200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13BDF5DD-E945-B8CC-59D4-E7AE6094A624}"/>
              </a:ext>
            </a:extLst>
          </p:cNvPr>
          <p:cNvSpPr/>
          <p:nvPr/>
        </p:nvSpPr>
        <p:spPr>
          <a:xfrm rot="16200000">
            <a:off x="1760014" y="2442139"/>
            <a:ext cx="327813" cy="25200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2AD7D803-DA00-A673-4E34-90C3274F6D3F}"/>
              </a:ext>
            </a:extLst>
          </p:cNvPr>
          <p:cNvSpPr/>
          <p:nvPr/>
        </p:nvSpPr>
        <p:spPr>
          <a:xfrm>
            <a:off x="1633224" y="2928568"/>
            <a:ext cx="658328" cy="60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</a:t>
            </a:r>
            <a:endParaRPr lang="en-US" sz="4800" dirty="0">
              <a:solidFill>
                <a:srgbClr val="06B6D4"/>
              </a:solidFill>
            </a:endParaRPr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61F0B180-5874-BA55-C31B-860C736F6F41}"/>
              </a:ext>
            </a:extLst>
          </p:cNvPr>
          <p:cNvSpPr/>
          <p:nvPr/>
        </p:nvSpPr>
        <p:spPr>
          <a:xfrm>
            <a:off x="1635707" y="3441679"/>
            <a:ext cx="658328" cy="26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多模态</a:t>
            </a:r>
            <a:endParaRPr lang="en-US" sz="1600" dirty="0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A5E96534-5BF3-DD03-AEAC-E89C3C70ED6E}"/>
              </a:ext>
            </a:extLst>
          </p:cNvPr>
          <p:cNvSpPr/>
          <p:nvPr/>
        </p:nvSpPr>
        <p:spPr>
          <a:xfrm>
            <a:off x="4798479" y="2868689"/>
            <a:ext cx="638776" cy="60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zh-CN" sz="4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4800" dirty="0">
              <a:solidFill>
                <a:srgbClr val="10B981"/>
              </a:solidFill>
            </a:endParaRPr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AE16EDDE-AA05-7824-4935-143DFADBE2C3}"/>
              </a:ext>
            </a:extLst>
          </p:cNvPr>
          <p:cNvSpPr/>
          <p:nvPr/>
        </p:nvSpPr>
        <p:spPr>
          <a:xfrm>
            <a:off x="4852246" y="3439390"/>
            <a:ext cx="823127" cy="26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动作</a:t>
            </a:r>
            <a:endParaRPr lang="en-US" sz="1600" dirty="0"/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D9C8ACFF-DF1A-B0BD-356A-6171FF65FD15}"/>
              </a:ext>
            </a:extLst>
          </p:cNvPr>
          <p:cNvSpPr/>
          <p:nvPr/>
        </p:nvSpPr>
        <p:spPr>
          <a:xfrm>
            <a:off x="3772826" y="4228695"/>
            <a:ext cx="1724473" cy="60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2800" b="1" dirty="0">
                <a:solidFill>
                  <a:schemeClr val="accent4">
                    <a:lumMod val="50000"/>
                  </a:scheme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真实环境</a:t>
            </a:r>
            <a:endParaRPr lang="en-US" sz="28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B27F2BB1-61FA-C4E7-3E02-AFFC15547A3F}"/>
              </a:ext>
            </a:extLst>
          </p:cNvPr>
          <p:cNvSpPr/>
          <p:nvPr/>
        </p:nvSpPr>
        <p:spPr>
          <a:xfrm>
            <a:off x="4706763" y="1729795"/>
            <a:ext cx="658328" cy="60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</a:t>
            </a:r>
            <a:endParaRPr lang="en-US" sz="4800" dirty="0">
              <a:solidFill>
                <a:srgbClr val="3B82F6"/>
              </a:solidFill>
            </a:endParaRPr>
          </a:p>
        </p:txBody>
      </p:sp>
      <p:sp>
        <p:nvSpPr>
          <p:cNvPr id="22" name="Text 13">
            <a:extLst>
              <a:ext uri="{FF2B5EF4-FFF2-40B4-BE49-F238E27FC236}">
                <a16:creationId xmlns:a16="http://schemas.microsoft.com/office/drawing/2014/main" id="{F5F46D3F-9C9C-8520-175D-E992BE1491DC}"/>
              </a:ext>
            </a:extLst>
          </p:cNvPr>
          <p:cNvSpPr/>
          <p:nvPr/>
        </p:nvSpPr>
        <p:spPr>
          <a:xfrm>
            <a:off x="5874103" y="1944287"/>
            <a:ext cx="1015085" cy="26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9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潜空间  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A3BC7D69-032C-DDB3-8EDF-0673596C24CD}"/>
              </a:ext>
            </a:extLst>
          </p:cNvPr>
          <p:cNvSpPr/>
          <p:nvPr/>
        </p:nvSpPr>
        <p:spPr>
          <a:xfrm>
            <a:off x="1962389" y="1912190"/>
            <a:ext cx="1376442" cy="26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规划  决策</a:t>
            </a:r>
            <a:endParaRPr lang="en-US" sz="1600" dirty="0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C14AF3DC-D09F-79FC-EE81-9641881E0870}"/>
              </a:ext>
            </a:extLst>
          </p:cNvPr>
          <p:cNvSpPr/>
          <p:nvPr/>
        </p:nvSpPr>
        <p:spPr>
          <a:xfrm>
            <a:off x="73152" y="2571750"/>
            <a:ext cx="6559466" cy="1383030"/>
          </a:xfrm>
          <a:prstGeom prst="roundRect">
            <a:avLst/>
          </a:pr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A94570E1-F8AE-D1BD-A430-AF3C00CF0DDC}"/>
              </a:ext>
            </a:extLst>
          </p:cNvPr>
          <p:cNvSpPr/>
          <p:nvPr/>
        </p:nvSpPr>
        <p:spPr>
          <a:xfrm>
            <a:off x="73152" y="1521562"/>
            <a:ext cx="6559466" cy="2429308"/>
          </a:xfrm>
          <a:prstGeom prst="roundRect">
            <a:avLst/>
          </a:prstGeom>
          <a:noFill/>
          <a:ln>
            <a:solidFill>
              <a:srgbClr val="FFFF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Text 13">
            <a:extLst>
              <a:ext uri="{FF2B5EF4-FFF2-40B4-BE49-F238E27FC236}">
                <a16:creationId xmlns:a16="http://schemas.microsoft.com/office/drawing/2014/main" id="{77FD02A2-D92E-758D-0970-187181DC6599}"/>
              </a:ext>
            </a:extLst>
          </p:cNvPr>
          <p:cNvSpPr/>
          <p:nvPr/>
        </p:nvSpPr>
        <p:spPr>
          <a:xfrm>
            <a:off x="146870" y="1781754"/>
            <a:ext cx="658328" cy="365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5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系统 </a:t>
            </a:r>
            <a:r>
              <a:rPr lang="en-US" altLang="zh-CN" sz="10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11</a:t>
            </a:r>
          </a:p>
          <a:p>
            <a:pPr marL="0" indent="0" algn="l">
              <a:buNone/>
            </a:pPr>
            <a:r>
              <a:rPr lang="zh-CN" altLang="en-US" sz="1000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-120"/>
              </a:rPr>
              <a:t>泛化调优</a:t>
            </a:r>
            <a:endParaRPr lang="en-US" altLang="zh-CN" sz="1000" dirty="0">
              <a:solidFill>
                <a:schemeClr val="accent4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AD4ABBA-ACB5-050F-5B74-D85BFE619CA5}"/>
              </a:ext>
            </a:extLst>
          </p:cNvPr>
          <p:cNvSpPr txBox="1"/>
          <p:nvPr/>
        </p:nvSpPr>
        <p:spPr>
          <a:xfrm>
            <a:off x="6753492" y="1365547"/>
            <a:ext cx="239050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构建</a:t>
            </a:r>
            <a:r>
              <a:rPr lang="zh-CN" altLang="en-US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自研</a:t>
            </a:r>
            <a:r>
              <a:rPr lang="zh-CN" altLang="zh-CN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 </a:t>
            </a:r>
            <a:r>
              <a:rPr lang="zh-CN" altLang="zh-CN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Z潜空间</a:t>
            </a:r>
            <a:r>
              <a:rPr lang="zh-CN" altLang="zh-CN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，对基础模型动作特征进行压缩和泛化。实现“一脑多能”，将泛化能力迁移至多型号模块。通过端侧优化与量化压缩，让精细操作在低延迟、低功耗的边缘设备上高效运行。</a:t>
            </a:r>
            <a:endParaRPr lang="zh-CN" altLang="en-US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1" name="Text 13">
            <a:extLst>
              <a:ext uri="{FF2B5EF4-FFF2-40B4-BE49-F238E27FC236}">
                <a16:creationId xmlns:a16="http://schemas.microsoft.com/office/drawing/2014/main" id="{C93C6E73-0485-159A-46AA-A988250E2B92}"/>
              </a:ext>
            </a:extLst>
          </p:cNvPr>
          <p:cNvSpPr/>
          <p:nvPr/>
        </p:nvSpPr>
        <p:spPr>
          <a:xfrm>
            <a:off x="146871" y="3103866"/>
            <a:ext cx="563907" cy="365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5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系统 </a:t>
            </a:r>
            <a:r>
              <a:rPr lang="en-US" altLang="zh-CN" sz="15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1</a:t>
            </a:r>
          </a:p>
          <a:p>
            <a:pPr marL="0" indent="0" algn="l">
              <a:buNone/>
            </a:pPr>
            <a:r>
              <a:rPr lang="zh-CN" altLang="en-US" sz="1000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-120"/>
              </a:rPr>
              <a:t>端到端</a:t>
            </a:r>
            <a:endParaRPr lang="en-US" altLang="zh-CN" sz="1000" dirty="0">
              <a:solidFill>
                <a:schemeClr val="accent4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-120"/>
            </a:endParaRPr>
          </a:p>
          <a:p>
            <a:pPr marL="0" indent="0" algn="l">
              <a:buNone/>
            </a:pPr>
            <a:r>
              <a:rPr lang="zh-CN" altLang="en-US" sz="1000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-120"/>
              </a:rPr>
              <a:t>功能</a:t>
            </a:r>
            <a:endParaRPr lang="en-US" altLang="zh-CN" sz="1000" dirty="0">
              <a:solidFill>
                <a:schemeClr val="accent4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042438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4F7D39-A3B6-51A0-0A41-27F2E6826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11">
            <a:extLst>
              <a:ext uri="{FF2B5EF4-FFF2-40B4-BE49-F238E27FC236}">
                <a16:creationId xmlns:a16="http://schemas.microsoft.com/office/drawing/2014/main" id="{91EF3A00-3347-D346-9E46-26E29294D354}"/>
              </a:ext>
            </a:extLst>
          </p:cNvPr>
          <p:cNvSpPr/>
          <p:nvPr/>
        </p:nvSpPr>
        <p:spPr>
          <a:xfrm>
            <a:off x="731519" y="4146300"/>
            <a:ext cx="7742803" cy="72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44FE42B1-E5FB-BA94-1D2E-21ACE7711A57}"/>
              </a:ext>
            </a:extLst>
          </p:cNvPr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CN" altLang="en-US" sz="3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产品迭代策略  </a:t>
            </a:r>
            <a:r>
              <a:rPr lang="zh-CN" altLang="en-US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精细感知</a:t>
            </a:r>
            <a:r>
              <a:rPr lang="zh-CN" altLang="zh-CN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与</a:t>
            </a:r>
            <a:r>
              <a:rPr lang="zh-CN" altLang="en-US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操作场景</a:t>
            </a:r>
            <a:r>
              <a:rPr lang="zh-CN" altLang="zh-CN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闭环</a:t>
            </a:r>
            <a:endParaRPr lang="en-US" altLang="zh-CN" sz="36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05342D4-3C8C-CDA5-26BB-D2686E010F21}"/>
              </a:ext>
            </a:extLst>
          </p:cNvPr>
          <p:cNvSpPr/>
          <p:nvPr/>
        </p:nvSpPr>
        <p:spPr>
          <a:xfrm>
            <a:off x="731520" y="1188720"/>
            <a:ext cx="18288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0CEDFD1-5FB3-62F4-AA8E-97B94531E927}"/>
              </a:ext>
            </a:extLst>
          </p:cNvPr>
          <p:cNvSpPr/>
          <p:nvPr/>
        </p:nvSpPr>
        <p:spPr>
          <a:xfrm>
            <a:off x="731520" y="1670242"/>
            <a:ext cx="5669196" cy="72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3BB14BD5-278F-2132-A64A-B9E3F8B208D9}"/>
              </a:ext>
            </a:extLst>
          </p:cNvPr>
          <p:cNvSpPr/>
          <p:nvPr/>
        </p:nvSpPr>
        <p:spPr>
          <a:xfrm>
            <a:off x="727109" y="2728271"/>
            <a:ext cx="2520000" cy="108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B548B5E-65C4-98FD-0076-A37B6E977F38}"/>
              </a:ext>
            </a:extLst>
          </p:cNvPr>
          <p:cNvSpPr/>
          <p:nvPr/>
        </p:nvSpPr>
        <p:spPr>
          <a:xfrm>
            <a:off x="1633224" y="2928568"/>
            <a:ext cx="658328" cy="60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</a:t>
            </a:r>
            <a:endParaRPr lang="en-US" sz="4800" dirty="0">
              <a:solidFill>
                <a:srgbClr val="06B6D4"/>
              </a:solidFill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F503B3B-78A0-5C2C-4720-3C6328774D17}"/>
              </a:ext>
            </a:extLst>
          </p:cNvPr>
          <p:cNvSpPr/>
          <p:nvPr/>
        </p:nvSpPr>
        <p:spPr>
          <a:xfrm>
            <a:off x="1635707" y="3441679"/>
            <a:ext cx="658328" cy="26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多模态</a:t>
            </a:r>
            <a:endParaRPr lang="en-US" sz="16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FE46DB40-CFB8-F219-A1C3-9C8E8651364C}"/>
              </a:ext>
            </a:extLst>
          </p:cNvPr>
          <p:cNvSpPr/>
          <p:nvPr/>
        </p:nvSpPr>
        <p:spPr>
          <a:xfrm>
            <a:off x="3880716" y="2728271"/>
            <a:ext cx="2520000" cy="108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8ABFC698-BE9B-EBE9-68CC-847A0F878BAF}"/>
              </a:ext>
            </a:extLst>
          </p:cNvPr>
          <p:cNvSpPr/>
          <p:nvPr/>
        </p:nvSpPr>
        <p:spPr>
          <a:xfrm>
            <a:off x="4798479" y="2868689"/>
            <a:ext cx="638776" cy="60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zh-CN" sz="4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4800" dirty="0">
              <a:solidFill>
                <a:srgbClr val="10B981"/>
              </a:solidFill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A84D6AB-EA7F-B978-03D2-7996596B2061}"/>
              </a:ext>
            </a:extLst>
          </p:cNvPr>
          <p:cNvSpPr/>
          <p:nvPr/>
        </p:nvSpPr>
        <p:spPr>
          <a:xfrm>
            <a:off x="4852246" y="3439390"/>
            <a:ext cx="823127" cy="26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动作</a:t>
            </a:r>
            <a:endParaRPr lang="en-US" sz="1600" dirty="0"/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CED74ED6-8454-8833-FDE1-1641103F3221}"/>
              </a:ext>
            </a:extLst>
          </p:cNvPr>
          <p:cNvSpPr/>
          <p:nvPr/>
        </p:nvSpPr>
        <p:spPr>
          <a:xfrm>
            <a:off x="3772826" y="4228695"/>
            <a:ext cx="1724473" cy="60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2800" b="1" dirty="0">
                <a:solidFill>
                  <a:schemeClr val="accent4">
                    <a:lumMod val="50000"/>
                  </a:scheme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真实环境</a:t>
            </a:r>
            <a:endParaRPr lang="en-US" sz="28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6" name="Shape 11">
            <a:extLst>
              <a:ext uri="{FF2B5EF4-FFF2-40B4-BE49-F238E27FC236}">
                <a16:creationId xmlns:a16="http://schemas.microsoft.com/office/drawing/2014/main" id="{DF6F51E9-D507-CBC6-414C-D34B5044FDA8}"/>
              </a:ext>
            </a:extLst>
          </p:cNvPr>
          <p:cNvSpPr/>
          <p:nvPr/>
        </p:nvSpPr>
        <p:spPr>
          <a:xfrm>
            <a:off x="7034323" y="2728271"/>
            <a:ext cx="1440000" cy="108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FA8E5FDA-F06C-AC3C-34F7-4DB217FCC598}"/>
              </a:ext>
            </a:extLst>
          </p:cNvPr>
          <p:cNvSpPr/>
          <p:nvPr/>
        </p:nvSpPr>
        <p:spPr>
          <a:xfrm>
            <a:off x="6400715" y="1670242"/>
            <a:ext cx="2073607" cy="719999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04F8020E-608D-470C-D641-8BD726E7CC6A}"/>
              </a:ext>
            </a:extLst>
          </p:cNvPr>
          <p:cNvSpPr/>
          <p:nvPr/>
        </p:nvSpPr>
        <p:spPr>
          <a:xfrm rot="16200000">
            <a:off x="7561555" y="3854151"/>
            <a:ext cx="327812" cy="25200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3100F8E7-1A49-95EC-1285-E956D8B6D80E}"/>
              </a:ext>
            </a:extLst>
          </p:cNvPr>
          <p:cNvSpPr/>
          <p:nvPr/>
        </p:nvSpPr>
        <p:spPr>
          <a:xfrm>
            <a:off x="3247109" y="3200798"/>
            <a:ext cx="638776" cy="25200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EB24844C-EAF1-4402-136B-A59F2D8FDA35}"/>
              </a:ext>
            </a:extLst>
          </p:cNvPr>
          <p:cNvSpPr/>
          <p:nvPr/>
        </p:nvSpPr>
        <p:spPr>
          <a:xfrm rot="5400000">
            <a:off x="4872021" y="3846178"/>
            <a:ext cx="327812" cy="25200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箭头: 右 15">
            <a:extLst>
              <a:ext uri="{FF2B5EF4-FFF2-40B4-BE49-F238E27FC236}">
                <a16:creationId xmlns:a16="http://schemas.microsoft.com/office/drawing/2014/main" id="{7A5A7AC5-EAC1-DD50-2DF0-9ADAB932ADF1}"/>
              </a:ext>
            </a:extLst>
          </p:cNvPr>
          <p:cNvSpPr/>
          <p:nvPr/>
        </p:nvSpPr>
        <p:spPr>
          <a:xfrm rot="16200000">
            <a:off x="1781225" y="3846177"/>
            <a:ext cx="327813" cy="25200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箭头: 右 16">
            <a:extLst>
              <a:ext uri="{FF2B5EF4-FFF2-40B4-BE49-F238E27FC236}">
                <a16:creationId xmlns:a16="http://schemas.microsoft.com/office/drawing/2014/main" id="{84A9B59D-8503-A0D9-0D11-4FD06B353E6F}"/>
              </a:ext>
            </a:extLst>
          </p:cNvPr>
          <p:cNvSpPr/>
          <p:nvPr/>
        </p:nvSpPr>
        <p:spPr>
          <a:xfrm rot="5400000">
            <a:off x="4850810" y="2442140"/>
            <a:ext cx="327812" cy="25200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箭头: 右 17">
            <a:extLst>
              <a:ext uri="{FF2B5EF4-FFF2-40B4-BE49-F238E27FC236}">
                <a16:creationId xmlns:a16="http://schemas.microsoft.com/office/drawing/2014/main" id="{44C231F5-06D2-B46C-798F-E2B63C1290E4}"/>
              </a:ext>
            </a:extLst>
          </p:cNvPr>
          <p:cNvSpPr/>
          <p:nvPr/>
        </p:nvSpPr>
        <p:spPr>
          <a:xfrm rot="16200000">
            <a:off x="1760014" y="2442139"/>
            <a:ext cx="327813" cy="25200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箭头: 右 18">
            <a:extLst>
              <a:ext uri="{FF2B5EF4-FFF2-40B4-BE49-F238E27FC236}">
                <a16:creationId xmlns:a16="http://schemas.microsoft.com/office/drawing/2014/main" id="{CFB964F4-F09C-D807-D7BA-E8ED30091EEC}"/>
              </a:ext>
            </a:extLst>
          </p:cNvPr>
          <p:cNvSpPr/>
          <p:nvPr/>
        </p:nvSpPr>
        <p:spPr>
          <a:xfrm rot="10800000">
            <a:off x="6395547" y="3159882"/>
            <a:ext cx="638776" cy="25200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6143D695-7AD8-2D1B-EF81-115F0383D0B3}"/>
              </a:ext>
            </a:extLst>
          </p:cNvPr>
          <p:cNvSpPr/>
          <p:nvPr/>
        </p:nvSpPr>
        <p:spPr>
          <a:xfrm>
            <a:off x="7425159" y="2900352"/>
            <a:ext cx="658328" cy="60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</a:t>
            </a:r>
            <a:endParaRPr lang="en-US" sz="4800" dirty="0">
              <a:solidFill>
                <a:srgbClr val="F59E0B"/>
              </a:solidFill>
            </a:endParaRPr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F086DA6F-722E-6E81-B54E-6C407454FFC4}"/>
              </a:ext>
            </a:extLst>
          </p:cNvPr>
          <p:cNvSpPr/>
          <p:nvPr/>
        </p:nvSpPr>
        <p:spPr>
          <a:xfrm>
            <a:off x="4706763" y="1729795"/>
            <a:ext cx="658328" cy="60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</a:t>
            </a:r>
            <a:endParaRPr lang="en-US" sz="4800" dirty="0">
              <a:solidFill>
                <a:srgbClr val="3B82F6"/>
              </a:solidFill>
            </a:endParaRPr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8C84105B-7367-5637-7259-1201C7A6F938}"/>
              </a:ext>
            </a:extLst>
          </p:cNvPr>
          <p:cNvSpPr/>
          <p:nvPr/>
        </p:nvSpPr>
        <p:spPr>
          <a:xfrm>
            <a:off x="7305091" y="1896708"/>
            <a:ext cx="873303" cy="26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精细感知</a:t>
            </a:r>
            <a:endParaRPr lang="en-US" sz="1600" dirty="0"/>
          </a:p>
        </p:txBody>
      </p:sp>
      <p:sp>
        <p:nvSpPr>
          <p:cNvPr id="27" name="Text 13">
            <a:extLst>
              <a:ext uri="{FF2B5EF4-FFF2-40B4-BE49-F238E27FC236}">
                <a16:creationId xmlns:a16="http://schemas.microsoft.com/office/drawing/2014/main" id="{5FA90304-96E2-00CC-9342-C739A130FBB0}"/>
              </a:ext>
            </a:extLst>
          </p:cNvPr>
          <p:cNvSpPr/>
          <p:nvPr/>
        </p:nvSpPr>
        <p:spPr>
          <a:xfrm>
            <a:off x="5874103" y="1944287"/>
            <a:ext cx="1015085" cy="26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9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潜空间  联合  扩展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8" name="Text 13">
            <a:extLst>
              <a:ext uri="{FF2B5EF4-FFF2-40B4-BE49-F238E27FC236}">
                <a16:creationId xmlns:a16="http://schemas.microsoft.com/office/drawing/2014/main" id="{E05FD076-0A2E-4FE9-8EB7-823125A18013}"/>
              </a:ext>
            </a:extLst>
          </p:cNvPr>
          <p:cNvSpPr/>
          <p:nvPr/>
        </p:nvSpPr>
        <p:spPr>
          <a:xfrm>
            <a:off x="7276691" y="3439389"/>
            <a:ext cx="823127" cy="26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精细引导</a:t>
            </a:r>
            <a:endParaRPr lang="en-US" sz="1600" dirty="0"/>
          </a:p>
        </p:txBody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B1CB56BE-D51D-D48C-7DDC-644B9528AC0B}"/>
              </a:ext>
            </a:extLst>
          </p:cNvPr>
          <p:cNvSpPr/>
          <p:nvPr/>
        </p:nvSpPr>
        <p:spPr>
          <a:xfrm>
            <a:off x="1962389" y="1912190"/>
            <a:ext cx="1376442" cy="26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规划  决策</a:t>
            </a:r>
            <a:endParaRPr lang="en-US" sz="1600" dirty="0"/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CA575DE3-D94B-909E-42BD-12CCEAA64634}"/>
              </a:ext>
            </a:extLst>
          </p:cNvPr>
          <p:cNvSpPr/>
          <p:nvPr/>
        </p:nvSpPr>
        <p:spPr>
          <a:xfrm>
            <a:off x="73152" y="2571750"/>
            <a:ext cx="8602274" cy="1383030"/>
          </a:xfrm>
          <a:prstGeom prst="roundRect">
            <a:avLst/>
          </a:pr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Text 13">
            <a:extLst>
              <a:ext uri="{FF2B5EF4-FFF2-40B4-BE49-F238E27FC236}">
                <a16:creationId xmlns:a16="http://schemas.microsoft.com/office/drawing/2014/main" id="{5CEF54CF-A1F4-54A5-B2C7-AAD350323C40}"/>
              </a:ext>
            </a:extLst>
          </p:cNvPr>
          <p:cNvSpPr/>
          <p:nvPr/>
        </p:nvSpPr>
        <p:spPr>
          <a:xfrm>
            <a:off x="146871" y="3103866"/>
            <a:ext cx="563907" cy="365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5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系统 </a:t>
            </a:r>
            <a:r>
              <a:rPr lang="en-US" altLang="zh-CN" sz="15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1</a:t>
            </a:r>
          </a:p>
          <a:p>
            <a:pPr marL="0" indent="0" algn="l">
              <a:buNone/>
            </a:pPr>
            <a:r>
              <a:rPr lang="zh-CN" altLang="en-US" sz="1000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-120"/>
              </a:rPr>
              <a:t>端到端</a:t>
            </a:r>
            <a:endParaRPr lang="en-US" altLang="zh-CN" sz="1000" dirty="0">
              <a:solidFill>
                <a:schemeClr val="accent4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-120"/>
            </a:endParaRPr>
          </a:p>
          <a:p>
            <a:pPr marL="0" indent="0" algn="l">
              <a:buNone/>
            </a:pPr>
            <a:r>
              <a:rPr lang="zh-CN" altLang="en-US" sz="1000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-120"/>
              </a:rPr>
              <a:t>功能</a:t>
            </a:r>
            <a:endParaRPr lang="en-US" altLang="zh-CN" sz="1000" dirty="0">
              <a:solidFill>
                <a:schemeClr val="accent4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BD68DFD9-913D-0E73-B7DB-9E85699EE67D}"/>
              </a:ext>
            </a:extLst>
          </p:cNvPr>
          <p:cNvSpPr/>
          <p:nvPr/>
        </p:nvSpPr>
        <p:spPr>
          <a:xfrm>
            <a:off x="73151" y="1521562"/>
            <a:ext cx="8602275" cy="2429308"/>
          </a:xfrm>
          <a:prstGeom prst="roundRect">
            <a:avLst/>
          </a:prstGeom>
          <a:noFill/>
          <a:ln>
            <a:solidFill>
              <a:srgbClr val="FFFF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Text 13">
            <a:extLst>
              <a:ext uri="{FF2B5EF4-FFF2-40B4-BE49-F238E27FC236}">
                <a16:creationId xmlns:a16="http://schemas.microsoft.com/office/drawing/2014/main" id="{62140ECF-CEF8-D571-A73C-A8D26ECC58AD}"/>
              </a:ext>
            </a:extLst>
          </p:cNvPr>
          <p:cNvSpPr/>
          <p:nvPr/>
        </p:nvSpPr>
        <p:spPr>
          <a:xfrm>
            <a:off x="146870" y="1781754"/>
            <a:ext cx="658328" cy="365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5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系统 </a:t>
            </a:r>
            <a:r>
              <a:rPr lang="en-US" altLang="zh-CN" sz="10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11</a:t>
            </a:r>
          </a:p>
          <a:p>
            <a:pPr marL="0" indent="0" algn="l">
              <a:buNone/>
            </a:pPr>
            <a:r>
              <a:rPr lang="zh-CN" altLang="en-US" sz="1000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-120"/>
              </a:rPr>
              <a:t>压缩优化</a:t>
            </a:r>
            <a:endParaRPr lang="en-US" altLang="zh-CN" sz="1000" dirty="0">
              <a:solidFill>
                <a:schemeClr val="accent4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39" name="箭头: 右 38">
            <a:extLst>
              <a:ext uri="{FF2B5EF4-FFF2-40B4-BE49-F238E27FC236}">
                <a16:creationId xmlns:a16="http://schemas.microsoft.com/office/drawing/2014/main" id="{F2D1DEBC-4688-3F63-BDB2-870CFA32A308}"/>
              </a:ext>
            </a:extLst>
          </p:cNvPr>
          <p:cNvSpPr/>
          <p:nvPr/>
        </p:nvSpPr>
        <p:spPr>
          <a:xfrm rot="16200000">
            <a:off x="7561555" y="2435458"/>
            <a:ext cx="327812" cy="25200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FA7105D7-7D0F-8058-7DA6-E6C5015C1BC7}"/>
              </a:ext>
            </a:extLst>
          </p:cNvPr>
          <p:cNvSpPr txBox="1"/>
          <p:nvPr/>
        </p:nvSpPr>
        <p:spPr>
          <a:xfrm>
            <a:off x="146871" y="1180040"/>
            <a:ext cx="895618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500" b="0" i="0" dirty="0">
                <a:solidFill>
                  <a:schemeClr val="accent4">
                    <a:lumMod val="20000"/>
                    <a:lumOff val="80000"/>
                  </a:schemeClr>
                </a:solidFill>
                <a:effectLst/>
                <a:latin typeface="quote-cjk-patch"/>
              </a:rPr>
              <a:t>引入</a:t>
            </a:r>
            <a:r>
              <a:rPr lang="zh-CN" altLang="en-US" sz="1500" b="0" i="0" dirty="0">
                <a:solidFill>
                  <a:schemeClr val="accent4">
                    <a:lumMod val="20000"/>
                    <a:lumOff val="80000"/>
                  </a:schemeClr>
                </a:solidFill>
                <a:effectLst/>
                <a:latin typeface="quote-cjk-patch"/>
              </a:rPr>
              <a:t>自研</a:t>
            </a:r>
            <a:r>
              <a:rPr lang="zh-CN" altLang="zh-CN" sz="1500" b="0" i="0" dirty="0">
                <a:solidFill>
                  <a:schemeClr val="accent4">
                    <a:lumMod val="20000"/>
                    <a:lumOff val="80000"/>
                  </a:schemeClr>
                </a:solidFill>
                <a:effectLst/>
                <a:latin typeface="quote-cjk-patch"/>
              </a:rPr>
              <a:t> </a:t>
            </a:r>
            <a:r>
              <a:rPr lang="zh-CN" altLang="en-US" sz="15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quote-cjk-patch"/>
              </a:rPr>
              <a:t>精细感知</a:t>
            </a:r>
            <a:r>
              <a:rPr lang="zh-CN" altLang="zh-CN" sz="1500" b="1" i="0" dirty="0">
                <a:solidFill>
                  <a:schemeClr val="accent4">
                    <a:lumMod val="20000"/>
                    <a:lumOff val="80000"/>
                  </a:schemeClr>
                </a:solidFill>
                <a:effectLst/>
                <a:latin typeface="quote-cjk-patch"/>
              </a:rPr>
              <a:t>模型</a:t>
            </a:r>
            <a:r>
              <a:rPr lang="zh-CN" altLang="zh-CN" sz="1500" b="0" i="0" dirty="0">
                <a:solidFill>
                  <a:schemeClr val="accent4">
                    <a:lumMod val="20000"/>
                    <a:lumOff val="80000"/>
                  </a:schemeClr>
                </a:solidFill>
                <a:effectLst/>
                <a:latin typeface="quote-cjk-patch"/>
              </a:rPr>
              <a:t>，联合扩展 </a:t>
            </a:r>
            <a:r>
              <a:rPr lang="zh-CN" altLang="zh-CN" sz="1500" b="1" i="0" dirty="0">
                <a:solidFill>
                  <a:schemeClr val="accent4">
                    <a:lumMod val="20000"/>
                    <a:lumOff val="80000"/>
                  </a:schemeClr>
                </a:solidFill>
                <a:effectLst/>
                <a:latin typeface="quote-cjk-patch"/>
              </a:rPr>
              <a:t>Z潜空间</a:t>
            </a:r>
            <a:r>
              <a:rPr lang="zh-CN" altLang="zh-CN" sz="1500" b="0" i="0" dirty="0">
                <a:solidFill>
                  <a:schemeClr val="accent4">
                    <a:lumMod val="20000"/>
                    <a:lumOff val="80000"/>
                  </a:schemeClr>
                </a:solidFill>
                <a:effectLst/>
                <a:latin typeface="quote-cjk-patch"/>
              </a:rPr>
              <a:t> 的</a:t>
            </a:r>
            <a:r>
              <a:rPr lang="zh-CN" altLang="en-US" sz="1500" b="0" i="0" dirty="0">
                <a:solidFill>
                  <a:schemeClr val="accent4">
                    <a:lumMod val="20000"/>
                    <a:lumOff val="80000"/>
                  </a:schemeClr>
                </a:solidFill>
                <a:effectLst/>
                <a:latin typeface="quote-cjk-patch"/>
              </a:rPr>
              <a:t>精密</a:t>
            </a:r>
            <a:r>
              <a:rPr lang="zh-CN" altLang="en-US" sz="1500" dirty="0">
                <a:solidFill>
                  <a:schemeClr val="accent4">
                    <a:lumMod val="20000"/>
                    <a:lumOff val="80000"/>
                  </a:schemeClr>
                </a:solidFill>
                <a:latin typeface="quote-cjk-patch"/>
              </a:rPr>
              <a:t>感知</a:t>
            </a:r>
            <a:r>
              <a:rPr lang="zh-CN" altLang="zh-CN" sz="1500" b="0" i="0" dirty="0">
                <a:solidFill>
                  <a:schemeClr val="accent4">
                    <a:lumMod val="20000"/>
                    <a:lumOff val="80000"/>
                  </a:schemeClr>
                </a:solidFill>
                <a:effectLst/>
                <a:latin typeface="quote-cjk-patch"/>
              </a:rPr>
              <a:t>能力。系统升级</a:t>
            </a:r>
            <a:r>
              <a:rPr lang="zh-CN" altLang="en-US" sz="1500" b="0" i="0" dirty="0">
                <a:solidFill>
                  <a:schemeClr val="accent4">
                    <a:lumMod val="20000"/>
                    <a:lumOff val="80000"/>
                  </a:schemeClr>
                </a:solidFill>
                <a:effectLst/>
                <a:latin typeface="quote-cjk-patch"/>
              </a:rPr>
              <a:t>为</a:t>
            </a:r>
            <a:r>
              <a:rPr lang="zh-CN" altLang="en-US" sz="1500" dirty="0">
                <a:solidFill>
                  <a:schemeClr val="accent4">
                    <a:lumMod val="20000"/>
                    <a:lumOff val="80000"/>
                  </a:schemeClr>
                </a:solidFill>
                <a:latin typeface="quote-cjk-patch"/>
              </a:rPr>
              <a:t>以</a:t>
            </a:r>
            <a:r>
              <a:rPr lang="en-US" altLang="zh-CN" sz="1500" dirty="0">
                <a:solidFill>
                  <a:schemeClr val="accent4">
                    <a:lumMod val="20000"/>
                    <a:lumOff val="80000"/>
                  </a:schemeClr>
                </a:solidFill>
                <a:latin typeface="quote-cjk-patch"/>
              </a:rPr>
              <a:t>Z-MAX</a:t>
            </a:r>
            <a:r>
              <a:rPr lang="zh-CN" altLang="en-US" sz="1500" dirty="0">
                <a:solidFill>
                  <a:schemeClr val="accent4">
                    <a:lumMod val="20000"/>
                    <a:lumOff val="80000"/>
                  </a:schemeClr>
                </a:solidFill>
                <a:latin typeface="quote-cjk-patch"/>
              </a:rPr>
              <a:t>主导的具身智能系统</a:t>
            </a:r>
            <a:endParaRPr lang="zh-CN" altLang="en-US" sz="1500" dirty="0"/>
          </a:p>
        </p:txBody>
      </p:sp>
    </p:spTree>
    <p:extLst>
      <p:ext uri="{BB962C8B-B14F-4D97-AF65-F5344CB8AC3E}">
        <p14:creationId xmlns:p14="http://schemas.microsoft.com/office/powerpoint/2010/main" val="28473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30B4A0-5E0D-9625-48DD-225FFF66E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11">
            <a:extLst>
              <a:ext uri="{FF2B5EF4-FFF2-40B4-BE49-F238E27FC236}">
                <a16:creationId xmlns:a16="http://schemas.microsoft.com/office/drawing/2014/main" id="{FB69DB26-D368-EE86-3B7F-5425082DFA39}"/>
              </a:ext>
            </a:extLst>
          </p:cNvPr>
          <p:cNvSpPr/>
          <p:nvPr/>
        </p:nvSpPr>
        <p:spPr>
          <a:xfrm>
            <a:off x="731519" y="4146300"/>
            <a:ext cx="7742803" cy="72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FAF2AE5C-BDC6-A149-06E0-6FDA8938B1E4}"/>
              </a:ext>
            </a:extLst>
          </p:cNvPr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CN" altLang="en-US" sz="3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产品迭代策略  </a:t>
            </a:r>
            <a:r>
              <a:rPr lang="zh-CN" altLang="zh-CN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空间</a:t>
            </a:r>
            <a:r>
              <a:rPr lang="zh-CN" altLang="en-US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理解</a:t>
            </a:r>
            <a:r>
              <a:rPr lang="zh-CN" altLang="zh-CN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与全域认知闭环</a:t>
            </a:r>
            <a:endParaRPr lang="en-US" altLang="zh-CN" sz="36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61778BF-35D6-8267-03CC-DEEC197E92AF}"/>
              </a:ext>
            </a:extLst>
          </p:cNvPr>
          <p:cNvSpPr/>
          <p:nvPr/>
        </p:nvSpPr>
        <p:spPr>
          <a:xfrm>
            <a:off x="731520" y="1188720"/>
            <a:ext cx="18288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F22B668-9EE9-ADE9-A063-29D7E5ED93D3}"/>
              </a:ext>
            </a:extLst>
          </p:cNvPr>
          <p:cNvSpPr/>
          <p:nvPr/>
        </p:nvSpPr>
        <p:spPr>
          <a:xfrm>
            <a:off x="731520" y="1670242"/>
            <a:ext cx="5669196" cy="72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096719CD-4383-266A-7AC9-CAE04CCB28F4}"/>
              </a:ext>
            </a:extLst>
          </p:cNvPr>
          <p:cNvSpPr/>
          <p:nvPr/>
        </p:nvSpPr>
        <p:spPr>
          <a:xfrm>
            <a:off x="727109" y="2728271"/>
            <a:ext cx="2520000" cy="108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D5FD66F-D55C-D8F7-1DA8-A5B50F13CE27}"/>
              </a:ext>
            </a:extLst>
          </p:cNvPr>
          <p:cNvSpPr/>
          <p:nvPr/>
        </p:nvSpPr>
        <p:spPr>
          <a:xfrm>
            <a:off x="1633224" y="2928568"/>
            <a:ext cx="658328" cy="60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</a:t>
            </a:r>
            <a:endParaRPr lang="en-US" sz="4800" dirty="0">
              <a:solidFill>
                <a:srgbClr val="06B6D4"/>
              </a:solidFill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4A0AA15D-5F3E-9089-D5CC-73D018ADD054}"/>
              </a:ext>
            </a:extLst>
          </p:cNvPr>
          <p:cNvSpPr/>
          <p:nvPr/>
        </p:nvSpPr>
        <p:spPr>
          <a:xfrm>
            <a:off x="1635707" y="3441679"/>
            <a:ext cx="658328" cy="26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多模态</a:t>
            </a:r>
            <a:endParaRPr lang="en-US" sz="16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6917E98A-5188-604A-E81F-487565303407}"/>
              </a:ext>
            </a:extLst>
          </p:cNvPr>
          <p:cNvSpPr/>
          <p:nvPr/>
        </p:nvSpPr>
        <p:spPr>
          <a:xfrm>
            <a:off x="3880716" y="2728271"/>
            <a:ext cx="2520000" cy="108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6AB3538-824F-C81B-6619-CF480B8699B2}"/>
              </a:ext>
            </a:extLst>
          </p:cNvPr>
          <p:cNvSpPr/>
          <p:nvPr/>
        </p:nvSpPr>
        <p:spPr>
          <a:xfrm>
            <a:off x="4798479" y="2868689"/>
            <a:ext cx="638776" cy="60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zh-CN" sz="4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4800" dirty="0">
              <a:solidFill>
                <a:srgbClr val="10B981"/>
              </a:solidFill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F8439FB7-EA4F-7B16-3FF7-261FBCA81B39}"/>
              </a:ext>
            </a:extLst>
          </p:cNvPr>
          <p:cNvSpPr/>
          <p:nvPr/>
        </p:nvSpPr>
        <p:spPr>
          <a:xfrm>
            <a:off x="4852246" y="3439390"/>
            <a:ext cx="823127" cy="26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动作</a:t>
            </a:r>
            <a:endParaRPr lang="en-US" sz="1600" dirty="0"/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AC3B1873-F787-FE1D-0D7B-7AB90DA0D7F0}"/>
              </a:ext>
            </a:extLst>
          </p:cNvPr>
          <p:cNvSpPr/>
          <p:nvPr/>
        </p:nvSpPr>
        <p:spPr>
          <a:xfrm>
            <a:off x="3772826" y="4228695"/>
            <a:ext cx="1724473" cy="60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2800" b="1" dirty="0">
                <a:solidFill>
                  <a:schemeClr val="accent4">
                    <a:lumMod val="50000"/>
                  </a:scheme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真实环境</a:t>
            </a:r>
            <a:endParaRPr lang="en-US" sz="28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6" name="Shape 11">
            <a:extLst>
              <a:ext uri="{FF2B5EF4-FFF2-40B4-BE49-F238E27FC236}">
                <a16:creationId xmlns:a16="http://schemas.microsoft.com/office/drawing/2014/main" id="{9609803A-D679-3733-EB79-9A69847E7802}"/>
              </a:ext>
            </a:extLst>
          </p:cNvPr>
          <p:cNvSpPr/>
          <p:nvPr/>
        </p:nvSpPr>
        <p:spPr>
          <a:xfrm>
            <a:off x="7034323" y="2728271"/>
            <a:ext cx="1440000" cy="108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CDF7EEF6-40BC-8202-8E4F-8C59D36F7DDE}"/>
              </a:ext>
            </a:extLst>
          </p:cNvPr>
          <p:cNvSpPr/>
          <p:nvPr/>
        </p:nvSpPr>
        <p:spPr>
          <a:xfrm>
            <a:off x="6400715" y="1670242"/>
            <a:ext cx="2073607" cy="719999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46FCB74E-53B0-0E54-F6BB-0D0ED6FFFE99}"/>
              </a:ext>
            </a:extLst>
          </p:cNvPr>
          <p:cNvSpPr/>
          <p:nvPr/>
        </p:nvSpPr>
        <p:spPr>
          <a:xfrm rot="16200000">
            <a:off x="7561555" y="3854151"/>
            <a:ext cx="327812" cy="25200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EC02A56F-A493-1D81-B43A-E8419980E592}"/>
              </a:ext>
            </a:extLst>
          </p:cNvPr>
          <p:cNvSpPr/>
          <p:nvPr/>
        </p:nvSpPr>
        <p:spPr>
          <a:xfrm>
            <a:off x="3247109" y="3200798"/>
            <a:ext cx="638776" cy="25200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03F62967-0BD3-EC63-F5BC-91FD9EB17A3E}"/>
              </a:ext>
            </a:extLst>
          </p:cNvPr>
          <p:cNvSpPr/>
          <p:nvPr/>
        </p:nvSpPr>
        <p:spPr>
          <a:xfrm rot="5400000">
            <a:off x="4872021" y="3846178"/>
            <a:ext cx="327812" cy="25200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箭头: 右 15">
            <a:extLst>
              <a:ext uri="{FF2B5EF4-FFF2-40B4-BE49-F238E27FC236}">
                <a16:creationId xmlns:a16="http://schemas.microsoft.com/office/drawing/2014/main" id="{A9425235-E80C-5FBC-D09A-9D3DE363B216}"/>
              </a:ext>
            </a:extLst>
          </p:cNvPr>
          <p:cNvSpPr/>
          <p:nvPr/>
        </p:nvSpPr>
        <p:spPr>
          <a:xfrm rot="16200000">
            <a:off x="1781225" y="3846177"/>
            <a:ext cx="327813" cy="25200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箭头: 右 16">
            <a:extLst>
              <a:ext uri="{FF2B5EF4-FFF2-40B4-BE49-F238E27FC236}">
                <a16:creationId xmlns:a16="http://schemas.microsoft.com/office/drawing/2014/main" id="{E5B2D419-CDB1-7B96-90A4-A700C0E7478C}"/>
              </a:ext>
            </a:extLst>
          </p:cNvPr>
          <p:cNvSpPr/>
          <p:nvPr/>
        </p:nvSpPr>
        <p:spPr>
          <a:xfrm rot="5400000">
            <a:off x="4850810" y="2442140"/>
            <a:ext cx="327812" cy="25200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箭头: 右 17">
            <a:extLst>
              <a:ext uri="{FF2B5EF4-FFF2-40B4-BE49-F238E27FC236}">
                <a16:creationId xmlns:a16="http://schemas.microsoft.com/office/drawing/2014/main" id="{5C2455E2-6E67-84E3-C170-43721AF72EDE}"/>
              </a:ext>
            </a:extLst>
          </p:cNvPr>
          <p:cNvSpPr/>
          <p:nvPr/>
        </p:nvSpPr>
        <p:spPr>
          <a:xfrm rot="16200000">
            <a:off x="1760014" y="2442139"/>
            <a:ext cx="327813" cy="25200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箭头: 右 18">
            <a:extLst>
              <a:ext uri="{FF2B5EF4-FFF2-40B4-BE49-F238E27FC236}">
                <a16:creationId xmlns:a16="http://schemas.microsoft.com/office/drawing/2014/main" id="{293FFA57-DE7C-60CA-094A-A29A95B12DC1}"/>
              </a:ext>
            </a:extLst>
          </p:cNvPr>
          <p:cNvSpPr/>
          <p:nvPr/>
        </p:nvSpPr>
        <p:spPr>
          <a:xfrm rot="10800000">
            <a:off x="6395547" y="3159882"/>
            <a:ext cx="638776" cy="25200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986ADEA5-A141-1689-E2A0-BCC2E6407089}"/>
              </a:ext>
            </a:extLst>
          </p:cNvPr>
          <p:cNvSpPr/>
          <p:nvPr/>
        </p:nvSpPr>
        <p:spPr>
          <a:xfrm>
            <a:off x="7425159" y="2900352"/>
            <a:ext cx="658328" cy="60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</a:t>
            </a:r>
            <a:endParaRPr lang="en-US" sz="4800" dirty="0">
              <a:solidFill>
                <a:srgbClr val="F59E0B"/>
              </a:solidFill>
            </a:endParaRPr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46BD9C9C-6212-A2F5-E011-BA0E059D5A93}"/>
              </a:ext>
            </a:extLst>
          </p:cNvPr>
          <p:cNvSpPr/>
          <p:nvPr/>
        </p:nvSpPr>
        <p:spPr>
          <a:xfrm>
            <a:off x="4706763" y="1729795"/>
            <a:ext cx="658328" cy="60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</a:t>
            </a:r>
            <a:endParaRPr lang="en-US" sz="4800" dirty="0">
              <a:solidFill>
                <a:srgbClr val="3B82F6"/>
              </a:solidFill>
            </a:endParaRPr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B526AA56-AEFB-6891-2E06-1C7B0A6C114D}"/>
              </a:ext>
            </a:extLst>
          </p:cNvPr>
          <p:cNvSpPr/>
          <p:nvPr/>
        </p:nvSpPr>
        <p:spPr>
          <a:xfrm>
            <a:off x="7305091" y="1896708"/>
            <a:ext cx="873303" cy="26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空间理解</a:t>
            </a:r>
            <a:endParaRPr lang="en-US" sz="1600" dirty="0"/>
          </a:p>
        </p:txBody>
      </p:sp>
      <p:sp>
        <p:nvSpPr>
          <p:cNvPr id="27" name="Text 13">
            <a:extLst>
              <a:ext uri="{FF2B5EF4-FFF2-40B4-BE49-F238E27FC236}">
                <a16:creationId xmlns:a16="http://schemas.microsoft.com/office/drawing/2014/main" id="{B527D7D2-1843-F3C3-B89C-6B5AA24E9DD8}"/>
              </a:ext>
            </a:extLst>
          </p:cNvPr>
          <p:cNvSpPr/>
          <p:nvPr/>
        </p:nvSpPr>
        <p:spPr>
          <a:xfrm>
            <a:off x="5874103" y="1944287"/>
            <a:ext cx="1015085" cy="26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9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潜空间  联合  扩展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8" name="Text 13">
            <a:extLst>
              <a:ext uri="{FF2B5EF4-FFF2-40B4-BE49-F238E27FC236}">
                <a16:creationId xmlns:a16="http://schemas.microsoft.com/office/drawing/2014/main" id="{E2418F21-C924-D83E-2987-8525BB4855C4}"/>
              </a:ext>
            </a:extLst>
          </p:cNvPr>
          <p:cNvSpPr/>
          <p:nvPr/>
        </p:nvSpPr>
        <p:spPr>
          <a:xfrm>
            <a:off x="7276691" y="3439389"/>
            <a:ext cx="823127" cy="26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场景引导</a:t>
            </a:r>
            <a:endParaRPr lang="en-US" sz="1600" dirty="0"/>
          </a:p>
        </p:txBody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20F473FD-E594-4A5E-6009-84D2D13F967E}"/>
              </a:ext>
            </a:extLst>
          </p:cNvPr>
          <p:cNvSpPr/>
          <p:nvPr/>
        </p:nvSpPr>
        <p:spPr>
          <a:xfrm>
            <a:off x="1962389" y="1912190"/>
            <a:ext cx="1376442" cy="26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规划  决策</a:t>
            </a:r>
            <a:endParaRPr lang="en-US" sz="1600" dirty="0"/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4E517240-A72F-FA6E-DD43-D4A2777B3B88}"/>
              </a:ext>
            </a:extLst>
          </p:cNvPr>
          <p:cNvSpPr/>
          <p:nvPr/>
        </p:nvSpPr>
        <p:spPr>
          <a:xfrm>
            <a:off x="73152" y="2571750"/>
            <a:ext cx="6559466" cy="1383030"/>
          </a:xfrm>
          <a:prstGeom prst="roundRect">
            <a:avLst/>
          </a:pr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Text 13">
            <a:extLst>
              <a:ext uri="{FF2B5EF4-FFF2-40B4-BE49-F238E27FC236}">
                <a16:creationId xmlns:a16="http://schemas.microsoft.com/office/drawing/2014/main" id="{84BC1060-5F86-B2E0-7EA2-2707FDD5AD13}"/>
              </a:ext>
            </a:extLst>
          </p:cNvPr>
          <p:cNvSpPr/>
          <p:nvPr/>
        </p:nvSpPr>
        <p:spPr>
          <a:xfrm>
            <a:off x="146871" y="3103866"/>
            <a:ext cx="563907" cy="365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5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系统 </a:t>
            </a:r>
            <a:r>
              <a:rPr lang="en-US" altLang="zh-CN" sz="15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1</a:t>
            </a:r>
          </a:p>
          <a:p>
            <a:pPr marL="0" indent="0" algn="l">
              <a:buNone/>
            </a:pPr>
            <a:r>
              <a:rPr lang="zh-CN" altLang="en-US" sz="1000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-120"/>
              </a:rPr>
              <a:t>端到端</a:t>
            </a:r>
            <a:endParaRPr lang="en-US" altLang="zh-CN" sz="1000" dirty="0">
              <a:solidFill>
                <a:schemeClr val="accent4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-120"/>
            </a:endParaRPr>
          </a:p>
          <a:p>
            <a:pPr marL="0" indent="0" algn="l">
              <a:buNone/>
            </a:pPr>
            <a:r>
              <a:rPr lang="zh-CN" altLang="en-US" sz="1000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-120"/>
              </a:rPr>
              <a:t>功能</a:t>
            </a:r>
            <a:endParaRPr lang="en-US" altLang="zh-CN" sz="1000" dirty="0">
              <a:solidFill>
                <a:schemeClr val="accent4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9642A883-F4AA-887E-AA4D-5594EF57A5EB}"/>
              </a:ext>
            </a:extLst>
          </p:cNvPr>
          <p:cNvSpPr/>
          <p:nvPr/>
        </p:nvSpPr>
        <p:spPr>
          <a:xfrm>
            <a:off x="6632618" y="1521562"/>
            <a:ext cx="2438230" cy="2429308"/>
          </a:xfrm>
          <a:prstGeom prst="roundRect">
            <a:avLst/>
          </a:prstGeom>
          <a:noFill/>
          <a:ln>
            <a:solidFill>
              <a:schemeClr val="accent6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Text 13">
            <a:extLst>
              <a:ext uri="{FF2B5EF4-FFF2-40B4-BE49-F238E27FC236}">
                <a16:creationId xmlns:a16="http://schemas.microsoft.com/office/drawing/2014/main" id="{D0C13312-ADA9-3875-1EB3-45984009696D}"/>
              </a:ext>
            </a:extLst>
          </p:cNvPr>
          <p:cNvSpPr/>
          <p:nvPr/>
        </p:nvSpPr>
        <p:spPr>
          <a:xfrm>
            <a:off x="8611180" y="2413231"/>
            <a:ext cx="415776" cy="365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5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系统       </a:t>
            </a:r>
            <a:endParaRPr lang="en-US" altLang="zh-CN" sz="1500" dirty="0">
              <a:solidFill>
                <a:schemeClr val="bg1"/>
              </a:solidFill>
              <a:latin typeface="Arial" pitchFamily="34" charset="0"/>
              <a:cs typeface="Arial" pitchFamily="34" charset="-120"/>
            </a:endParaRPr>
          </a:p>
          <a:p>
            <a:pPr marL="0" indent="0" algn="l">
              <a:buNone/>
            </a:pPr>
            <a:r>
              <a:rPr lang="en-US" altLang="zh-CN" sz="15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  12</a:t>
            </a:r>
          </a:p>
          <a:p>
            <a:pPr marL="0" indent="0" algn="l">
              <a:buNone/>
            </a:pPr>
            <a:r>
              <a:rPr lang="zh-CN" altLang="en-US" sz="10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（可选）</a:t>
            </a:r>
            <a:endParaRPr lang="en-US" altLang="zh-CN" sz="1000" dirty="0">
              <a:solidFill>
                <a:schemeClr val="bg1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CC89815C-2002-B789-CA53-4552AECAB48B}"/>
              </a:ext>
            </a:extLst>
          </p:cNvPr>
          <p:cNvSpPr/>
          <p:nvPr/>
        </p:nvSpPr>
        <p:spPr>
          <a:xfrm>
            <a:off x="73152" y="1521562"/>
            <a:ext cx="6559466" cy="2429308"/>
          </a:xfrm>
          <a:prstGeom prst="roundRect">
            <a:avLst/>
          </a:prstGeom>
          <a:noFill/>
          <a:ln>
            <a:solidFill>
              <a:srgbClr val="FFFF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Text 13">
            <a:extLst>
              <a:ext uri="{FF2B5EF4-FFF2-40B4-BE49-F238E27FC236}">
                <a16:creationId xmlns:a16="http://schemas.microsoft.com/office/drawing/2014/main" id="{3E0A677F-3CA5-A064-AC80-70C92171DA84}"/>
              </a:ext>
            </a:extLst>
          </p:cNvPr>
          <p:cNvSpPr/>
          <p:nvPr/>
        </p:nvSpPr>
        <p:spPr>
          <a:xfrm>
            <a:off x="146870" y="1781754"/>
            <a:ext cx="658328" cy="365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5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系统 </a:t>
            </a:r>
            <a:r>
              <a:rPr lang="en-US" altLang="zh-CN" sz="10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11</a:t>
            </a:r>
          </a:p>
          <a:p>
            <a:pPr marL="0" indent="0" algn="l">
              <a:buNone/>
            </a:pPr>
            <a:r>
              <a:rPr lang="zh-CN" altLang="en-US" sz="1000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-120"/>
              </a:rPr>
              <a:t>压缩优化</a:t>
            </a:r>
            <a:endParaRPr lang="en-US" altLang="zh-CN" sz="1000" dirty="0">
              <a:solidFill>
                <a:schemeClr val="accent4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39" name="箭头: 右 38">
            <a:extLst>
              <a:ext uri="{FF2B5EF4-FFF2-40B4-BE49-F238E27FC236}">
                <a16:creationId xmlns:a16="http://schemas.microsoft.com/office/drawing/2014/main" id="{F9FE903B-F578-3CE1-1C21-7A9961790103}"/>
              </a:ext>
            </a:extLst>
          </p:cNvPr>
          <p:cNvSpPr/>
          <p:nvPr/>
        </p:nvSpPr>
        <p:spPr>
          <a:xfrm rot="16200000">
            <a:off x="7561555" y="2435458"/>
            <a:ext cx="327812" cy="25200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2D4CFB8A-BC0A-C671-3815-C7278A7907CC}"/>
              </a:ext>
            </a:extLst>
          </p:cNvPr>
          <p:cNvSpPr txBox="1"/>
          <p:nvPr/>
        </p:nvSpPr>
        <p:spPr>
          <a:xfrm>
            <a:off x="146871" y="1180040"/>
            <a:ext cx="895618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500" dirty="0">
                <a:solidFill>
                  <a:schemeClr val="accent4">
                    <a:lumMod val="20000"/>
                    <a:lumOff val="80000"/>
                  </a:schemeClr>
                </a:solidFill>
                <a:latin typeface="quote-cjk-patch"/>
              </a:rPr>
              <a:t>可选</a:t>
            </a:r>
            <a:r>
              <a:rPr lang="zh-CN" altLang="zh-CN" sz="1500" b="0" i="0" dirty="0">
                <a:solidFill>
                  <a:schemeClr val="accent4">
                    <a:lumMod val="20000"/>
                    <a:lumOff val="80000"/>
                  </a:schemeClr>
                </a:solidFill>
                <a:effectLst/>
                <a:latin typeface="quote-cjk-patch"/>
              </a:rPr>
              <a:t> </a:t>
            </a:r>
            <a:r>
              <a:rPr lang="zh-CN" altLang="zh-CN" sz="1500" b="1" i="0" dirty="0">
                <a:solidFill>
                  <a:schemeClr val="accent4">
                    <a:lumMod val="20000"/>
                    <a:lumOff val="80000"/>
                  </a:schemeClr>
                </a:solidFill>
                <a:effectLst/>
                <a:latin typeface="quote-cjk-patch"/>
              </a:rPr>
              <a:t>场景引导模型</a:t>
            </a:r>
            <a:r>
              <a:rPr lang="zh-CN" altLang="zh-CN" sz="1500" b="0" i="0" dirty="0">
                <a:solidFill>
                  <a:schemeClr val="accent4">
                    <a:lumMod val="20000"/>
                    <a:lumOff val="80000"/>
                  </a:schemeClr>
                </a:solidFill>
                <a:effectLst/>
                <a:latin typeface="quote-cjk-patch"/>
              </a:rPr>
              <a:t>，联合扩展 </a:t>
            </a:r>
            <a:r>
              <a:rPr lang="zh-CN" altLang="zh-CN" sz="1500" b="1" i="0" dirty="0">
                <a:solidFill>
                  <a:schemeClr val="accent4">
                    <a:lumMod val="20000"/>
                    <a:lumOff val="80000"/>
                  </a:schemeClr>
                </a:solidFill>
                <a:effectLst/>
                <a:latin typeface="quote-cjk-patch"/>
              </a:rPr>
              <a:t>Z潜空间</a:t>
            </a:r>
            <a:r>
              <a:rPr lang="zh-CN" altLang="zh-CN" sz="1500" b="0" i="0" dirty="0">
                <a:solidFill>
                  <a:schemeClr val="accent4">
                    <a:lumMod val="20000"/>
                    <a:lumOff val="80000"/>
                  </a:schemeClr>
                </a:solidFill>
                <a:effectLst/>
                <a:latin typeface="quote-cjk-patch"/>
              </a:rPr>
              <a:t> 的空间理解能力。系统</a:t>
            </a:r>
            <a:r>
              <a:rPr lang="zh-CN" altLang="en-US" sz="1500" b="0" i="0" dirty="0">
                <a:solidFill>
                  <a:schemeClr val="accent4">
                    <a:lumMod val="20000"/>
                    <a:lumOff val="80000"/>
                  </a:schemeClr>
                </a:solidFill>
                <a:effectLst/>
                <a:latin typeface="quote-cjk-patch"/>
              </a:rPr>
              <a:t>配置</a:t>
            </a:r>
            <a:r>
              <a:rPr lang="zh-CN" altLang="zh-CN" sz="1500" b="0" i="0" dirty="0">
                <a:solidFill>
                  <a:schemeClr val="accent4">
                    <a:lumMod val="20000"/>
                    <a:lumOff val="80000"/>
                  </a:schemeClr>
                </a:solidFill>
                <a:effectLst/>
                <a:latin typeface="quote-cjk-patch"/>
              </a:rPr>
              <a:t>为</a:t>
            </a:r>
            <a:r>
              <a:rPr lang="zh-CN" altLang="en-US" sz="1500" b="0" i="0" dirty="0">
                <a:solidFill>
                  <a:schemeClr val="accent4">
                    <a:lumMod val="20000"/>
                    <a:lumOff val="80000"/>
                  </a:schemeClr>
                </a:solidFill>
                <a:effectLst/>
                <a:latin typeface="quote-cjk-patch"/>
              </a:rPr>
              <a:t>因果</a:t>
            </a:r>
            <a:r>
              <a:rPr lang="zh-CN" altLang="en-US" sz="1500" dirty="0">
                <a:solidFill>
                  <a:schemeClr val="accent4">
                    <a:lumMod val="20000"/>
                    <a:lumOff val="80000"/>
                  </a:schemeClr>
                </a:solidFill>
                <a:latin typeface="quote-cjk-patch"/>
              </a:rPr>
              <a:t>具身智能。</a:t>
            </a:r>
            <a:endParaRPr lang="zh-CN" altLang="en-US" sz="1500" dirty="0"/>
          </a:p>
        </p:txBody>
      </p:sp>
    </p:spTree>
    <p:extLst>
      <p:ext uri="{BB962C8B-B14F-4D97-AF65-F5344CB8AC3E}">
        <p14:creationId xmlns:p14="http://schemas.microsoft.com/office/powerpoint/2010/main" val="7221908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核心优势与商业价值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18288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A62700F9-7C4F-49B4-A6E4-5E97BF93B530}"/>
              </a:ext>
            </a:extLst>
          </p:cNvPr>
          <p:cNvGrpSpPr/>
          <p:nvPr/>
        </p:nvGrpSpPr>
        <p:grpSpPr>
          <a:xfrm>
            <a:off x="731520" y="1554480"/>
            <a:ext cx="7680960" cy="3271518"/>
            <a:chOff x="731520" y="1554480"/>
            <a:chExt cx="7955280" cy="4480560"/>
          </a:xfrm>
        </p:grpSpPr>
        <p:sp>
          <p:nvSpPr>
            <p:cNvPr id="4" name="Shape 2"/>
            <p:cNvSpPr/>
            <p:nvPr/>
          </p:nvSpPr>
          <p:spPr>
            <a:xfrm>
              <a:off x="731520" y="1554480"/>
              <a:ext cx="3840480" cy="1645920"/>
            </a:xfrm>
            <a:prstGeom prst="rect">
              <a:avLst/>
            </a:prstGeom>
            <a:solidFill>
              <a:srgbClr val="1E293B"/>
            </a:solidFill>
            <a:ln w="12700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Text 3"/>
            <p:cNvSpPr/>
            <p:nvPr/>
          </p:nvSpPr>
          <p:spPr>
            <a:xfrm>
              <a:off x="1005840" y="1828800"/>
              <a:ext cx="3291840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4800" b="1" dirty="0">
                  <a:solidFill>
                    <a:srgbClr val="3B82F6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±0.02</a:t>
              </a:r>
              <a:r>
                <a:rPr lang="en-US" sz="2400" dirty="0">
                  <a:solidFill>
                    <a:srgbClr val="3B82F6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 mm</a:t>
              </a:r>
              <a:endParaRPr lang="en-US" sz="48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1005840" y="2651760"/>
              <a:ext cx="32918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插拔精度</a:t>
              </a:r>
              <a:endParaRPr lang="en-US" sz="16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4846320" y="1554480"/>
              <a:ext cx="3840480" cy="1645920"/>
            </a:xfrm>
            <a:prstGeom prst="rect">
              <a:avLst/>
            </a:prstGeom>
            <a:solidFill>
              <a:srgbClr val="1E293B"/>
            </a:solidFill>
            <a:ln w="12700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Text 6"/>
            <p:cNvSpPr/>
            <p:nvPr/>
          </p:nvSpPr>
          <p:spPr>
            <a:xfrm>
              <a:off x="5120640" y="1828800"/>
              <a:ext cx="3291840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4800" b="1" dirty="0">
                  <a:solidFill>
                    <a:srgbClr val="10B981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&gt;99</a:t>
              </a:r>
              <a:r>
                <a:rPr lang="en-US" sz="2400" dirty="0">
                  <a:solidFill>
                    <a:srgbClr val="10B981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 %</a:t>
              </a:r>
              <a:endParaRPr lang="en-US" sz="48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5120640" y="2651760"/>
              <a:ext cx="32918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成功率</a:t>
              </a:r>
              <a:endParaRPr lang="en-US" sz="16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731520" y="3474720"/>
              <a:ext cx="3840480" cy="1645920"/>
            </a:xfrm>
            <a:prstGeom prst="rect">
              <a:avLst/>
            </a:prstGeom>
            <a:solidFill>
              <a:srgbClr val="1E293B"/>
            </a:solidFill>
            <a:ln w="12700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Text 9"/>
            <p:cNvSpPr/>
            <p:nvPr/>
          </p:nvSpPr>
          <p:spPr>
            <a:xfrm>
              <a:off x="1005840" y="3749040"/>
              <a:ext cx="3291840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4800" b="1" dirty="0">
                  <a:solidFill>
                    <a:srgbClr val="06B6D4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&lt;10</a:t>
              </a:r>
              <a:r>
                <a:rPr lang="en-US" sz="2400" dirty="0">
                  <a:solidFill>
                    <a:srgbClr val="06B6D4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 ms</a:t>
              </a:r>
              <a:endParaRPr lang="en-US" sz="48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1005840" y="4572000"/>
              <a:ext cx="32918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端侧推理</a:t>
              </a:r>
              <a:endParaRPr lang="en-US" sz="16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4846320" y="3474720"/>
              <a:ext cx="3840480" cy="1645920"/>
            </a:xfrm>
            <a:prstGeom prst="rect">
              <a:avLst/>
            </a:prstGeom>
            <a:solidFill>
              <a:srgbClr val="1E293B"/>
            </a:solidFill>
            <a:ln w="12700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Text 12"/>
            <p:cNvSpPr/>
            <p:nvPr/>
          </p:nvSpPr>
          <p:spPr>
            <a:xfrm>
              <a:off x="5120640" y="3749040"/>
              <a:ext cx="3291840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4800" b="1" dirty="0">
                  <a:solidFill>
                    <a:srgbClr val="F59E0B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7×24</a:t>
              </a:r>
              <a:r>
                <a:rPr lang="en-US" sz="2400" dirty="0">
                  <a:solidFill>
                    <a:srgbClr val="F59E0B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 h</a:t>
              </a:r>
              <a:endParaRPr lang="en-US" sz="48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5120640" y="4572000"/>
              <a:ext cx="32918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连续运行</a:t>
              </a:r>
              <a:endParaRPr lang="en-US" sz="16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731520" y="5394960"/>
              <a:ext cx="768096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F8FAF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商业价值：</a:t>
              </a:r>
              <a:endParaRPr lang="en-US" sz="1300" dirty="0"/>
            </a:p>
            <a:p>
              <a:pPr marL="0" indent="0" algn="l">
                <a:buNone/>
              </a:pPr>
              <a:r>
                <a:rPr lang="en-US" sz="13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• 人工成本降低 → </a:t>
              </a:r>
              <a:r>
                <a:rPr lang="en-US" sz="1300" b="1" dirty="0">
                  <a:solidFill>
                    <a:srgbClr val="10B98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单机替代2-3名熟练操作工</a:t>
              </a:r>
              <a:endParaRPr lang="en-US" sz="1300" dirty="0"/>
            </a:p>
            <a:p>
              <a:pPr marL="0" indent="0" algn="l">
                <a:buNone/>
              </a:pPr>
              <a:r>
                <a:rPr lang="en-US" sz="13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• 良率提升 → </a:t>
              </a:r>
              <a:r>
                <a:rPr lang="en-US" sz="1300" b="1" dirty="0">
                  <a:solidFill>
                    <a:srgbClr val="10B98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减少人工损伤，良率从95%提升至99%+</a:t>
              </a:r>
              <a:endParaRPr lang="en-US" sz="1300" dirty="0"/>
            </a:p>
            <a:p>
              <a:pPr marL="0" indent="0" algn="l">
                <a:buNone/>
              </a:pPr>
              <a:r>
                <a:rPr lang="en-US" sz="13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• 换型时间缩短 → </a:t>
              </a:r>
              <a:r>
                <a:rPr lang="en-US" sz="1300" b="1" dirty="0">
                  <a:solidFill>
                    <a:srgbClr val="10B98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从小时级降至分钟级，柔性生产成为可能</a:t>
              </a:r>
              <a:endParaRPr lang="en-US" sz="1300" dirty="0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实施路线图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18288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98FDFA6C-0C86-CCE7-BFB6-21194C27BC57}"/>
              </a:ext>
            </a:extLst>
          </p:cNvPr>
          <p:cNvGrpSpPr/>
          <p:nvPr/>
        </p:nvGrpSpPr>
        <p:grpSpPr>
          <a:xfrm>
            <a:off x="731520" y="1554480"/>
            <a:ext cx="7929880" cy="3347709"/>
            <a:chOff x="731520" y="1554480"/>
            <a:chExt cx="8229600" cy="3474720"/>
          </a:xfrm>
        </p:grpSpPr>
        <p:sp>
          <p:nvSpPr>
            <p:cNvPr id="4" name="Shape 2"/>
            <p:cNvSpPr/>
            <p:nvPr/>
          </p:nvSpPr>
          <p:spPr>
            <a:xfrm>
              <a:off x="2743200" y="2286000"/>
              <a:ext cx="182880" cy="0"/>
            </a:xfrm>
            <a:prstGeom prst="line">
              <a:avLst/>
            </a:prstGeom>
            <a:noFill/>
            <a:ln w="25400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Shape 3"/>
            <p:cNvSpPr/>
            <p:nvPr/>
          </p:nvSpPr>
          <p:spPr>
            <a:xfrm>
              <a:off x="731520" y="1554480"/>
              <a:ext cx="1920240" cy="3474720"/>
            </a:xfrm>
            <a:prstGeom prst="rect">
              <a:avLst/>
            </a:prstGeom>
            <a:solidFill>
              <a:srgbClr val="1E293B"/>
            </a:solidFill>
            <a:ln w="12700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Shape 4"/>
            <p:cNvSpPr/>
            <p:nvPr/>
          </p:nvSpPr>
          <p:spPr>
            <a:xfrm>
              <a:off x="731520" y="1554480"/>
              <a:ext cx="1920240" cy="73152"/>
            </a:xfrm>
            <a:prstGeom prst="rect">
              <a:avLst/>
            </a:prstGeom>
            <a:solidFill>
              <a:srgbClr val="10B981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Text 5"/>
            <p:cNvSpPr/>
            <p:nvPr/>
          </p:nvSpPr>
          <p:spPr>
            <a:xfrm>
              <a:off x="868680" y="1737360"/>
              <a:ext cx="16916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0B98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Phase 1</a:t>
              </a:r>
              <a:endParaRPr lang="en-US" sz="14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868680" y="2103120"/>
              <a:ext cx="16916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8FAFC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2026 Q3</a:t>
              </a:r>
              <a:endParaRPr lang="en-US" sz="16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868680" y="2560320"/>
              <a:ext cx="169164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 err="1">
                  <a:solidFill>
                    <a:srgbClr val="F8FAF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基础搭建</a:t>
              </a:r>
              <a:endParaRPr lang="en-US" sz="13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868680" y="3291840"/>
              <a:ext cx="1691640" cy="1463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spcAft>
                  <a:spcPts val="400"/>
                </a:spcAft>
                <a:buNone/>
              </a:pPr>
              <a:r>
                <a:rPr lang="en-US" sz="11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硬件底座完成</a:t>
              </a:r>
              <a:endParaRPr lang="en-US" sz="1100" dirty="0"/>
            </a:p>
            <a:p>
              <a:pPr marL="0" indent="0" algn="ctr">
                <a:spcAft>
                  <a:spcPts val="400"/>
                </a:spcAft>
                <a:buNone/>
              </a:pPr>
              <a:r>
                <a:rPr lang="en-US" sz="11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安全层激活</a:t>
              </a:r>
              <a:endParaRPr lang="en-US" sz="11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4846320" y="2286000"/>
              <a:ext cx="182880" cy="0"/>
            </a:xfrm>
            <a:prstGeom prst="line">
              <a:avLst/>
            </a:prstGeom>
            <a:noFill/>
            <a:ln w="25400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Shape 10"/>
            <p:cNvSpPr/>
            <p:nvPr/>
          </p:nvSpPr>
          <p:spPr>
            <a:xfrm>
              <a:off x="2834640" y="1554480"/>
              <a:ext cx="1920240" cy="3474720"/>
            </a:xfrm>
            <a:prstGeom prst="rect">
              <a:avLst/>
            </a:prstGeom>
            <a:solidFill>
              <a:srgbClr val="1E293B"/>
            </a:solidFill>
            <a:ln w="12700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Shape 11"/>
            <p:cNvSpPr/>
            <p:nvPr/>
          </p:nvSpPr>
          <p:spPr>
            <a:xfrm>
              <a:off x="2834640" y="1554480"/>
              <a:ext cx="1920240" cy="73152"/>
            </a:xfrm>
            <a:prstGeom prst="rect">
              <a:avLst/>
            </a:prstGeom>
            <a:solidFill>
              <a:srgbClr val="06B6D4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Text 12"/>
            <p:cNvSpPr/>
            <p:nvPr/>
          </p:nvSpPr>
          <p:spPr>
            <a:xfrm>
              <a:off x="2971800" y="1737360"/>
              <a:ext cx="16916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06B6D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Phase 2</a:t>
              </a:r>
              <a:endParaRPr lang="en-US" sz="14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2971800" y="2103120"/>
              <a:ext cx="16916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8FAFC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2026 Q4</a:t>
              </a:r>
              <a:endParaRPr lang="en-US" sz="16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2971800" y="2560320"/>
              <a:ext cx="169164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 err="1">
                  <a:solidFill>
                    <a:srgbClr val="F8FAF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单工位验证</a:t>
              </a:r>
              <a:endParaRPr lang="en-US" sz="13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2971800" y="3291840"/>
              <a:ext cx="1691640" cy="1463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spcAft>
                  <a:spcPts val="400"/>
                </a:spcAft>
                <a:buNone/>
              </a:pPr>
              <a:r>
                <a:rPr lang="en-US" altLang="zh-CN" sz="1100" dirty="0" err="1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VTLA</a:t>
              </a:r>
              <a:r>
                <a:rPr lang="en-US" sz="1100" dirty="0" err="1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部署</a:t>
              </a:r>
              <a:endParaRPr lang="en-US" sz="1100" dirty="0"/>
            </a:p>
            <a:p>
              <a:pPr marL="0" indent="0" algn="ctr">
                <a:spcAft>
                  <a:spcPts val="400"/>
                </a:spcAft>
                <a:buNone/>
              </a:pPr>
              <a:r>
                <a:rPr lang="en-US" sz="11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条件自主插拔</a:t>
              </a:r>
              <a:endParaRPr lang="en-US" sz="11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6949440" y="2286000"/>
              <a:ext cx="182880" cy="0"/>
            </a:xfrm>
            <a:prstGeom prst="line">
              <a:avLst/>
            </a:prstGeom>
            <a:noFill/>
            <a:ln w="25400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Shape 17"/>
            <p:cNvSpPr/>
            <p:nvPr/>
          </p:nvSpPr>
          <p:spPr>
            <a:xfrm>
              <a:off x="4937760" y="1554480"/>
              <a:ext cx="1920240" cy="3474720"/>
            </a:xfrm>
            <a:prstGeom prst="rect">
              <a:avLst/>
            </a:prstGeom>
            <a:solidFill>
              <a:srgbClr val="1E293B"/>
            </a:solidFill>
            <a:ln w="12700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Shape 18"/>
            <p:cNvSpPr/>
            <p:nvPr/>
          </p:nvSpPr>
          <p:spPr>
            <a:xfrm>
              <a:off x="4937760" y="1554480"/>
              <a:ext cx="1920240" cy="73152"/>
            </a:xfrm>
            <a:prstGeom prst="rect">
              <a:avLst/>
            </a:prstGeom>
            <a:solidFill>
              <a:srgbClr val="F59E0B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Text 19"/>
            <p:cNvSpPr/>
            <p:nvPr/>
          </p:nvSpPr>
          <p:spPr>
            <a:xfrm>
              <a:off x="5074920" y="1737360"/>
              <a:ext cx="16916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59E0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Phase 3</a:t>
              </a:r>
              <a:endParaRPr lang="en-US" sz="14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5074920" y="2103120"/>
              <a:ext cx="16916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8FAFC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2027 Q1-Q2</a:t>
              </a:r>
              <a:endParaRPr lang="en-US" sz="16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5074920" y="2560320"/>
              <a:ext cx="169164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 err="1">
                  <a:solidFill>
                    <a:srgbClr val="F8FAF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产线落地</a:t>
              </a:r>
              <a:endParaRPr lang="en-US" sz="13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5074920" y="3291840"/>
              <a:ext cx="1691640" cy="1463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spcAft>
                  <a:spcPts val="400"/>
                </a:spcAft>
                <a:buNone/>
              </a:pPr>
              <a:r>
                <a:rPr lang="en-US" sz="11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SYS-11+12融合</a:t>
              </a:r>
              <a:endParaRPr lang="en-US" sz="1100" dirty="0"/>
            </a:p>
            <a:p>
              <a:pPr marL="0" indent="0" algn="ctr">
                <a:spcAft>
                  <a:spcPts val="400"/>
                </a:spcAft>
                <a:buNone/>
              </a:pPr>
              <a:r>
                <a:rPr lang="en-US" sz="11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全域无人插拔</a:t>
              </a:r>
              <a:endParaRPr lang="en-US" sz="11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7040880" y="1554480"/>
              <a:ext cx="1920240" cy="3474720"/>
            </a:xfrm>
            <a:prstGeom prst="rect">
              <a:avLst/>
            </a:prstGeom>
            <a:solidFill>
              <a:srgbClr val="1E293B"/>
            </a:solidFill>
            <a:ln w="12700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Shape 24"/>
            <p:cNvSpPr/>
            <p:nvPr/>
          </p:nvSpPr>
          <p:spPr>
            <a:xfrm>
              <a:off x="7040880" y="1554480"/>
              <a:ext cx="1920240" cy="73152"/>
            </a:xfrm>
            <a:prstGeom prst="rect">
              <a:avLst/>
            </a:prstGeom>
            <a:solidFill>
              <a:srgbClr val="EC4899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Text 25"/>
            <p:cNvSpPr/>
            <p:nvPr/>
          </p:nvSpPr>
          <p:spPr>
            <a:xfrm>
              <a:off x="7178040" y="1737360"/>
              <a:ext cx="16916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EC489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Phase 4</a:t>
              </a:r>
              <a:endParaRPr lang="en-US" sz="14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7178040" y="2103120"/>
              <a:ext cx="16916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8FAFC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2027+</a:t>
              </a:r>
              <a:endParaRPr lang="en-US" sz="16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7178040" y="2560320"/>
              <a:ext cx="169164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8FAF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规模化复制</a:t>
              </a:r>
              <a:endParaRPr lang="en-US" sz="130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7178040" y="3291840"/>
              <a:ext cx="1691640" cy="1463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spcAft>
                  <a:spcPts val="400"/>
                </a:spcAft>
                <a:buNone/>
              </a:pPr>
              <a:r>
                <a:rPr lang="en-US" sz="11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多产线部署</a:t>
              </a:r>
              <a:endParaRPr lang="en-US" sz="1100" dirty="0"/>
            </a:p>
            <a:p>
              <a:pPr marL="0" indent="0" algn="ctr">
                <a:spcAft>
                  <a:spcPts val="400"/>
                </a:spcAft>
                <a:buNone/>
              </a:pPr>
              <a:r>
                <a:rPr lang="en-US" sz="11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持续优化</a:t>
              </a:r>
              <a:endParaRPr lang="en-US" sz="1100" dirty="0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31DC0E-893B-DCEA-D681-2A5BE715E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3AD94F7-C95D-2982-F982-6557270FCF0C}"/>
              </a:ext>
            </a:extLst>
          </p:cNvPr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3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模型架构对比</a:t>
            </a:r>
            <a:r>
              <a:rPr lang="en-US" altLang="zh-CN" sz="3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(</a:t>
            </a:r>
            <a:r>
              <a:rPr lang="zh-CN" altLang="en-US" sz="3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原型验证</a:t>
            </a:r>
            <a:r>
              <a:rPr lang="en-US" altLang="zh-CN" sz="3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)</a:t>
            </a:r>
            <a:endParaRPr lang="en-US" sz="36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E806419-4EF0-6C69-97DC-4BED93FAA050}"/>
              </a:ext>
            </a:extLst>
          </p:cNvPr>
          <p:cNvSpPr/>
          <p:nvPr/>
        </p:nvSpPr>
        <p:spPr>
          <a:xfrm>
            <a:off x="731520" y="1188720"/>
            <a:ext cx="18288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164E08A9-EB01-AB27-F57A-9E8BBC1C51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97280"/>
            <a:ext cx="7337287" cy="4007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2841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B9F9DC-E425-425F-611F-21309574C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571F937-6EF6-460D-0DF3-2D3DCA402E38}"/>
              </a:ext>
            </a:extLst>
          </p:cNvPr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3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分层反馈潜在空间模型</a:t>
            </a:r>
            <a:r>
              <a:rPr lang="en-US" altLang="zh-CN" sz="3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(</a:t>
            </a:r>
            <a:r>
              <a:rPr lang="zh-CN" altLang="en-US" sz="3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原型验证</a:t>
            </a:r>
            <a:r>
              <a:rPr lang="en-US" altLang="zh-CN" sz="3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)</a:t>
            </a:r>
            <a:endParaRPr lang="en-US" sz="36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E0826DA-D3AD-EEAA-B818-063AE9A7AFD6}"/>
              </a:ext>
            </a:extLst>
          </p:cNvPr>
          <p:cNvSpPr/>
          <p:nvPr/>
        </p:nvSpPr>
        <p:spPr>
          <a:xfrm>
            <a:off x="731520" y="1188720"/>
            <a:ext cx="18288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311AA83-A9E2-0F28-A910-69EF7ABFFB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3605" y="1705707"/>
            <a:ext cx="4010852" cy="323557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2F2607A-C773-31AE-BBF5-E2449B4D1C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191" y="1705707"/>
            <a:ext cx="4368019" cy="3235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6346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3444C4-BB7D-1C9A-E8C0-F808F7D17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88187B8-4134-F374-3DB2-C723D244E326}"/>
              </a:ext>
            </a:extLst>
          </p:cNvPr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3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两个点之间运动任务</a:t>
            </a:r>
            <a:r>
              <a:rPr lang="en-US" altLang="zh-CN" sz="3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(</a:t>
            </a:r>
            <a:r>
              <a:rPr lang="zh-CN" altLang="en-US" sz="3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原型验证</a:t>
            </a:r>
            <a:r>
              <a:rPr lang="en-US" altLang="zh-CN" sz="3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)</a:t>
            </a:r>
            <a:endParaRPr lang="en-US" sz="36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0B21872-3813-77A6-288D-CB6560C085FA}"/>
              </a:ext>
            </a:extLst>
          </p:cNvPr>
          <p:cNvSpPr/>
          <p:nvPr/>
        </p:nvSpPr>
        <p:spPr>
          <a:xfrm>
            <a:off x="731520" y="1188720"/>
            <a:ext cx="18288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4" name="两个点轨迹">
            <a:hlinkClick r:id="" action="ppaction://media"/>
            <a:extLst>
              <a:ext uri="{FF2B5EF4-FFF2-40B4-BE49-F238E27FC236}">
                <a16:creationId xmlns:a16="http://schemas.microsoft.com/office/drawing/2014/main" id="{1744E69E-0E20-211C-F271-0D7F08F4925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1675815"/>
            <a:ext cx="9144000" cy="3048000"/>
          </a:xfrm>
          <a:prstGeom prst="rect">
            <a:avLst/>
          </a:prstGeom>
        </p:spPr>
      </p:pic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ED5C967D-76F7-E104-D4DC-5A0B0BAF23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2529523"/>
              </p:ext>
            </p:extLst>
          </p:nvPr>
        </p:nvGraphicFramePr>
        <p:xfrm>
          <a:off x="96715" y="1188720"/>
          <a:ext cx="8849455" cy="457200"/>
        </p:xfrm>
        <a:graphic>
          <a:graphicData uri="http://schemas.openxmlformats.org/drawingml/2006/table">
            <a:tbl>
              <a:tblPr/>
              <a:tblGrid>
                <a:gridCol w="1769891">
                  <a:extLst>
                    <a:ext uri="{9D8B030D-6E8A-4147-A177-3AD203B41FA5}">
                      <a16:colId xmlns:a16="http://schemas.microsoft.com/office/drawing/2014/main" val="3733252742"/>
                    </a:ext>
                  </a:extLst>
                </a:gridCol>
                <a:gridCol w="1769891">
                  <a:extLst>
                    <a:ext uri="{9D8B030D-6E8A-4147-A177-3AD203B41FA5}">
                      <a16:colId xmlns:a16="http://schemas.microsoft.com/office/drawing/2014/main" val="433827806"/>
                    </a:ext>
                  </a:extLst>
                </a:gridCol>
                <a:gridCol w="1769891">
                  <a:extLst>
                    <a:ext uri="{9D8B030D-6E8A-4147-A177-3AD203B41FA5}">
                      <a16:colId xmlns:a16="http://schemas.microsoft.com/office/drawing/2014/main" val="3169112557"/>
                    </a:ext>
                  </a:extLst>
                </a:gridCol>
                <a:gridCol w="1769891">
                  <a:extLst>
                    <a:ext uri="{9D8B030D-6E8A-4147-A177-3AD203B41FA5}">
                      <a16:colId xmlns:a16="http://schemas.microsoft.com/office/drawing/2014/main" val="2331971988"/>
                    </a:ext>
                  </a:extLst>
                </a:gridCol>
                <a:gridCol w="1769891">
                  <a:extLst>
                    <a:ext uri="{9D8B030D-6E8A-4147-A177-3AD203B41FA5}">
                      <a16:colId xmlns:a16="http://schemas.microsoft.com/office/drawing/2014/main" val="130641525"/>
                    </a:ext>
                  </a:extLst>
                </a:gridCol>
              </a:tblGrid>
              <a:tr h="185738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000">
                          <a:effectLst/>
                        </a:rPr>
                        <a:t>任务</a:t>
                      </a:r>
                    </a:p>
                  </a:txBody>
                  <a:tcPr marL="38100" marR="38100" marT="38100" marB="38100">
                    <a:lnL w="4763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000">
                          <a:effectLst/>
                        </a:rPr>
                        <a:t>A 纯VLA</a:t>
                      </a:r>
                    </a:p>
                  </a:txBody>
                  <a:tcPr marL="38100" marR="38100" marT="38100" marB="38100">
                    <a:lnL w="4763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000">
                          <a:effectLst/>
                        </a:rPr>
                        <a:t>B +LeWM</a:t>
                      </a:r>
                    </a:p>
                  </a:txBody>
                  <a:tcPr marL="38100" marR="38100" marT="38100" marB="38100">
                    <a:lnL w="4763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000">
                          <a:effectLst/>
                        </a:rPr>
                        <a:t>C +ZFlow</a:t>
                      </a:r>
                    </a:p>
                  </a:txBody>
                  <a:tcPr marL="38100" marR="38100" marT="38100" marB="38100">
                    <a:lnL w="4763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000">
                          <a:effectLst/>
                        </a:rPr>
                        <a:t>最优</a:t>
                      </a:r>
                    </a:p>
                  </a:txBody>
                  <a:tcPr marL="38100" marR="38100" marT="38100" marB="38100">
                    <a:lnL w="4763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2553666"/>
                  </a:ext>
                </a:extLst>
              </a:tr>
              <a:tr h="185738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000">
                          <a:effectLst/>
                        </a:rPr>
                        <a:t>reach</a:t>
                      </a:r>
                    </a:p>
                  </a:txBody>
                  <a:tcPr marL="38100" marR="38100" marT="38100" marB="38100">
                    <a:lnL w="4763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000">
                          <a:effectLst/>
                        </a:rPr>
                        <a:t>0.0041 / 50ep</a:t>
                      </a:r>
                    </a:p>
                  </a:txBody>
                  <a:tcPr marL="38100" marR="38100" marT="38100" marB="38100">
                    <a:lnL w="4763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000">
                          <a:effectLst/>
                        </a:rPr>
                        <a:t>0.0043 / 50ep</a:t>
                      </a:r>
                    </a:p>
                  </a:txBody>
                  <a:tcPr marL="38100" marR="38100" marT="38100" marB="38100">
                    <a:lnL w="4763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000">
                          <a:effectLst/>
                        </a:rPr>
                        <a:t>0.0044 / 50ep</a:t>
                      </a:r>
                    </a:p>
                  </a:txBody>
                  <a:tcPr marL="38100" marR="38100" marT="38100" marB="38100">
                    <a:lnL w="4763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000" dirty="0">
                          <a:effectLst/>
                        </a:rPr>
                        <a:t>接近</a:t>
                      </a:r>
                    </a:p>
                  </a:txBody>
                  <a:tcPr marL="38100" marR="38100" marT="38100" marB="38100">
                    <a:lnL w="4763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3229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5196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91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3444C4-BB7D-1C9A-E8C0-F808F7D17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88187B8-4134-F374-3DB2-C723D244E326}"/>
              </a:ext>
            </a:extLst>
          </p:cNvPr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3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开门任务</a:t>
            </a:r>
            <a:r>
              <a:rPr lang="en-US" altLang="zh-CN" sz="3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(</a:t>
            </a:r>
            <a:r>
              <a:rPr lang="zh-CN" altLang="en-US" sz="3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原型验证</a:t>
            </a:r>
            <a:r>
              <a:rPr lang="en-US" altLang="zh-CN" sz="3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)</a:t>
            </a:r>
            <a:endParaRPr lang="en-US" sz="36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0B21872-3813-77A6-288D-CB6560C085FA}"/>
              </a:ext>
            </a:extLst>
          </p:cNvPr>
          <p:cNvSpPr/>
          <p:nvPr/>
        </p:nvSpPr>
        <p:spPr>
          <a:xfrm>
            <a:off x="731520" y="1188720"/>
            <a:ext cx="18288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5" name="开门1">
            <a:hlinkClick r:id="" action="ppaction://media"/>
            <a:extLst>
              <a:ext uri="{FF2B5EF4-FFF2-40B4-BE49-F238E27FC236}">
                <a16:creationId xmlns:a16="http://schemas.microsoft.com/office/drawing/2014/main" id="{AA2F1D28-084D-019F-602A-6BE67D4656C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56251" y="1843339"/>
            <a:ext cx="2951999" cy="2951999"/>
          </a:xfrm>
          <a:prstGeom prst="rect">
            <a:avLst/>
          </a:prstGeom>
        </p:spPr>
      </p:pic>
      <p:pic>
        <p:nvPicPr>
          <p:cNvPr id="6" name="开门2">
            <a:hlinkClick r:id="" action="ppaction://media"/>
            <a:extLst>
              <a:ext uri="{FF2B5EF4-FFF2-40B4-BE49-F238E27FC236}">
                <a16:creationId xmlns:a16="http://schemas.microsoft.com/office/drawing/2014/main" id="{199A2263-3839-26B1-1839-B443BC703BEF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3096675" y="1843339"/>
            <a:ext cx="2951999" cy="2951999"/>
          </a:xfrm>
          <a:prstGeom prst="rect">
            <a:avLst/>
          </a:prstGeom>
        </p:spPr>
      </p:pic>
      <p:pic>
        <p:nvPicPr>
          <p:cNvPr id="7" name="开门3">
            <a:hlinkClick r:id="" action="ppaction://media"/>
            <a:extLst>
              <a:ext uri="{FF2B5EF4-FFF2-40B4-BE49-F238E27FC236}">
                <a16:creationId xmlns:a16="http://schemas.microsoft.com/office/drawing/2014/main" id="{A15F2033-A196-FB55-D032-1C0C24FEDE4A}"/>
              </a:ext>
            </a:extLst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6135750" y="1843339"/>
            <a:ext cx="2951999" cy="2951999"/>
          </a:xfrm>
          <a:prstGeom prst="rect">
            <a:avLst/>
          </a:prstGeom>
        </p:spPr>
      </p:pic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5175FA2F-BE3F-BCAC-01E0-B6897F9570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5159527"/>
              </p:ext>
            </p:extLst>
          </p:nvPr>
        </p:nvGraphicFramePr>
        <p:xfrm>
          <a:off x="56251" y="1199506"/>
          <a:ext cx="8903115" cy="457200"/>
        </p:xfrm>
        <a:graphic>
          <a:graphicData uri="http://schemas.openxmlformats.org/drawingml/2006/table">
            <a:tbl>
              <a:tblPr/>
              <a:tblGrid>
                <a:gridCol w="1780623">
                  <a:extLst>
                    <a:ext uri="{9D8B030D-6E8A-4147-A177-3AD203B41FA5}">
                      <a16:colId xmlns:a16="http://schemas.microsoft.com/office/drawing/2014/main" val="1694016562"/>
                    </a:ext>
                  </a:extLst>
                </a:gridCol>
                <a:gridCol w="1780623">
                  <a:extLst>
                    <a:ext uri="{9D8B030D-6E8A-4147-A177-3AD203B41FA5}">
                      <a16:colId xmlns:a16="http://schemas.microsoft.com/office/drawing/2014/main" val="3798541644"/>
                    </a:ext>
                  </a:extLst>
                </a:gridCol>
                <a:gridCol w="1780623">
                  <a:extLst>
                    <a:ext uri="{9D8B030D-6E8A-4147-A177-3AD203B41FA5}">
                      <a16:colId xmlns:a16="http://schemas.microsoft.com/office/drawing/2014/main" val="1324916701"/>
                    </a:ext>
                  </a:extLst>
                </a:gridCol>
                <a:gridCol w="1780623">
                  <a:extLst>
                    <a:ext uri="{9D8B030D-6E8A-4147-A177-3AD203B41FA5}">
                      <a16:colId xmlns:a16="http://schemas.microsoft.com/office/drawing/2014/main" val="1436422081"/>
                    </a:ext>
                  </a:extLst>
                </a:gridCol>
                <a:gridCol w="1780623">
                  <a:extLst>
                    <a:ext uri="{9D8B030D-6E8A-4147-A177-3AD203B41FA5}">
                      <a16:colId xmlns:a16="http://schemas.microsoft.com/office/drawing/2014/main" val="576223536"/>
                    </a:ext>
                  </a:extLst>
                </a:gridCol>
              </a:tblGrid>
              <a:tr h="185738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000">
                          <a:effectLst/>
                        </a:rPr>
                        <a:t>任务</a:t>
                      </a:r>
                    </a:p>
                  </a:txBody>
                  <a:tcPr marL="38100" marR="38100" marT="38100" marB="38100">
                    <a:lnL w="4763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000" dirty="0">
                          <a:effectLst/>
                        </a:rPr>
                        <a:t>A 纯VLA</a:t>
                      </a:r>
                    </a:p>
                  </a:txBody>
                  <a:tcPr marL="38100" marR="38100" marT="38100" marB="38100">
                    <a:lnL w="4763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000">
                          <a:effectLst/>
                        </a:rPr>
                        <a:t>B +LeWM</a:t>
                      </a:r>
                    </a:p>
                  </a:txBody>
                  <a:tcPr marL="38100" marR="38100" marT="38100" marB="38100">
                    <a:lnL w="4763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000">
                          <a:effectLst/>
                        </a:rPr>
                        <a:t>C +ZFlow</a:t>
                      </a:r>
                    </a:p>
                  </a:txBody>
                  <a:tcPr marL="38100" marR="38100" marT="38100" marB="38100">
                    <a:lnL w="4763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000">
                          <a:effectLst/>
                        </a:rPr>
                        <a:t>最优</a:t>
                      </a:r>
                    </a:p>
                  </a:txBody>
                  <a:tcPr marL="38100" marR="38100" marT="38100" marB="38100">
                    <a:lnL w="4763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731380"/>
                  </a:ext>
                </a:extLst>
              </a:tr>
              <a:tr h="185738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000">
                          <a:effectLst/>
                        </a:rPr>
                        <a:t>door</a:t>
                      </a:r>
                    </a:p>
                  </a:txBody>
                  <a:tcPr marL="38100" marR="38100" marT="38100" marB="38100">
                    <a:lnL w="4763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000">
                          <a:effectLst/>
                        </a:rPr>
                        <a:t>0.0010 / 13ep</a:t>
                      </a:r>
                    </a:p>
                  </a:txBody>
                  <a:tcPr marL="38100" marR="38100" marT="38100" marB="38100">
                    <a:lnL w="4763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000" b="1">
                          <a:effectLst/>
                        </a:rPr>
                        <a:t>0.0007</a:t>
                      </a:r>
                      <a:r>
                        <a:rPr lang="zh-CN" sz="1000">
                          <a:effectLst/>
                        </a:rPr>
                        <a:t> / 11ep</a:t>
                      </a:r>
                    </a:p>
                  </a:txBody>
                  <a:tcPr marL="38100" marR="38100" marT="38100" marB="38100">
                    <a:lnL w="4763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000" dirty="0">
                          <a:effectLst/>
                        </a:rPr>
                        <a:t>0.0008 / </a:t>
                      </a:r>
                      <a:r>
                        <a:rPr lang="zh-CN" sz="1000" b="1" dirty="0">
                          <a:effectLst/>
                        </a:rPr>
                        <a:t>4ep</a:t>
                      </a:r>
                      <a:endParaRPr lang="zh-CN" sz="1000" dirty="0">
                        <a:effectLst/>
                      </a:endParaRPr>
                    </a:p>
                  </a:txBody>
                  <a:tcPr marL="38100" marR="38100" marT="38100" marB="38100">
                    <a:lnL w="4763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000" dirty="0">
                          <a:effectLst/>
                        </a:rPr>
                        <a:t>C 最快</a:t>
                      </a:r>
                    </a:p>
                  </a:txBody>
                  <a:tcPr marL="38100" marR="38100" marT="38100" marB="38100">
                    <a:lnL w="4763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381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0943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75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675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675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5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0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21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2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3444C4-BB7D-1C9A-E8C0-F808F7D17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88187B8-4134-F374-3DB2-C723D244E326}"/>
              </a:ext>
            </a:extLst>
          </p:cNvPr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3600" b="1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开发流程</a:t>
            </a:r>
            <a:endParaRPr lang="en-US" sz="36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33A17E6-EE98-3E8B-44D0-28E71BD350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837" y="1096962"/>
            <a:ext cx="6856325" cy="4046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9419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1767</TotalTime>
  <Words>600</Words>
  <Application>Microsoft Office PowerPoint</Application>
  <PresentationFormat>全屏显示(16:9)</PresentationFormat>
  <Paragraphs>167</Paragraphs>
  <Slides>14</Slides>
  <Notes>14</Notes>
  <HiddenSlides>0</HiddenSlides>
  <MMClips>4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8" baseType="lpstr">
      <vt:lpstr>quote-cjk-patch</vt:lpstr>
      <vt:lpstr>Arial</vt:lpstr>
      <vt:lpstr>Arial Black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Z-MAX 多模态动作专家 - 管理层汇报</dc:title>
  <dc:subject>PptxGenJS Presentation</dc:subject>
  <dc:creator>智蜂创元</dc:creator>
  <cp:lastModifiedBy>祥 倪</cp:lastModifiedBy>
  <cp:revision>54</cp:revision>
  <dcterms:created xsi:type="dcterms:W3CDTF">2026-07-01T08:07:32Z</dcterms:created>
  <dcterms:modified xsi:type="dcterms:W3CDTF">2026-07-20T00:57:16Z</dcterms:modified>
</cp:coreProperties>
</file>