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436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31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Z-MAX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多模态动作专家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光模块工厂智能插拔解决方案</a:t>
            </a:r>
            <a:endParaRPr lang="en-US" sz="24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±0.02mm 精度  |  99.2% 成功率  |  L4级全自主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46405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智蜂创元 | 具身机器人产品解决方案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核心产品形态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Z-MAX </a:t>
            </a: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 - 多模态动作专家</a:t>
            </a:r>
            <a:endParaRPr lang="en-US" sz="2800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539603A-992E-2AE6-525F-FC184460A6C9}"/>
              </a:ext>
            </a:extLst>
          </p:cNvPr>
          <p:cNvGrpSpPr/>
          <p:nvPr/>
        </p:nvGrpSpPr>
        <p:grpSpPr>
          <a:xfrm>
            <a:off x="731520" y="2011680"/>
            <a:ext cx="6621780" cy="2999232"/>
            <a:chOff x="731520" y="2011680"/>
            <a:chExt cx="7680960" cy="5029200"/>
          </a:xfrm>
        </p:grpSpPr>
        <p:sp>
          <p:nvSpPr>
            <p:cNvPr id="6" name="Text 4"/>
            <p:cNvSpPr/>
            <p:nvPr/>
          </p:nvSpPr>
          <p:spPr>
            <a:xfrm>
              <a:off x="731520" y="2011680"/>
              <a:ext cx="7680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命名逻辑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31520" y="2468880"/>
              <a:ext cx="7680960" cy="91440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731520" y="2468880"/>
              <a:ext cx="73152" cy="91440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1005840" y="2651760"/>
              <a:ext cx="7223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智蜂 Z-Bee</a:t>
              </a:r>
              <a:r>
                <a:rPr lang="en-US" sz="1600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精密、高效、协同的工业级品牌IP</a:t>
              </a:r>
              <a:endParaRPr lang="en-US" sz="1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31520" y="3566160"/>
              <a:ext cx="7680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Z-MAX 四维含义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731520" y="4023360"/>
              <a:ext cx="594360" cy="502920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731520" y="409651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Z</a:t>
              </a:r>
              <a:endParaRPr lang="en-US" sz="2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463040" y="409651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潜在特征空间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L4级全域感知与认知底座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31520" y="4617720"/>
              <a:ext cx="594360" cy="502920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731520" y="469087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</a:t>
              </a:r>
              <a:endParaRPr lang="en-US" sz="2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463040" y="469087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模态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L4级感官融合与自适应泛化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31520" y="5212080"/>
              <a:ext cx="594360" cy="502920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731520" y="528523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</a:t>
              </a:r>
              <a:endParaRPr lang="en-US" sz="2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463040" y="528523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Action / 动作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L4级精细力控与动态执行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31520" y="5806440"/>
              <a:ext cx="594360" cy="50292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731520" y="587959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X</a:t>
              </a:r>
              <a:endParaRPr lang="en-US" sz="2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63040" y="587959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eXpert / 专家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L4级自主决策与全自主闭环</a:t>
              </a:r>
              <a:endParaRPr lang="en-US" sz="14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31520" y="6400800"/>
              <a:ext cx="7680960" cy="64008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914400" y="65379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品牌注册备选  |  </a:t>
              </a:r>
              <a:r>
                <a:rPr lang="en-US" sz="13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R-MAX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</a:t>
              </a:r>
              <a:r>
                <a:rPr lang="en-US" sz="13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RB-MAX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智能化分级体系 (L1-L5)</a:t>
            </a:r>
            <a:endParaRPr lang="en-US" sz="360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ABD0B7D-F43B-2A94-3DF0-0844A3EAB89C}"/>
              </a:ext>
            </a:extLst>
          </p:cNvPr>
          <p:cNvGrpSpPr/>
          <p:nvPr/>
        </p:nvGrpSpPr>
        <p:grpSpPr>
          <a:xfrm>
            <a:off x="731520" y="1188720"/>
            <a:ext cx="7680960" cy="3827780"/>
            <a:chOff x="731520" y="1188720"/>
            <a:chExt cx="7955280" cy="4754880"/>
          </a:xfrm>
        </p:grpSpPr>
        <p:sp>
          <p:nvSpPr>
            <p:cNvPr id="3" name="Shape 1"/>
            <p:cNvSpPr/>
            <p:nvPr/>
          </p:nvSpPr>
          <p:spPr>
            <a:xfrm>
              <a:off x="731520" y="1188720"/>
              <a:ext cx="1828800" cy="0"/>
            </a:xfrm>
            <a:prstGeom prst="line">
              <a:avLst/>
            </a:prstGeom>
            <a:noFill/>
            <a:ln w="254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7315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31520" y="1554480"/>
              <a:ext cx="73152" cy="1645920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1005840" y="1737360"/>
              <a:ext cx="731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L2</a:t>
              </a:r>
              <a:endParaRPr lang="en-US" sz="2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828800" y="173736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基础驱动平台</a:t>
              </a:r>
              <a:endParaRPr lang="en-US" sz="18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05840" y="2286000"/>
              <a:ext cx="3383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 0 + 2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05840" y="2651760"/>
              <a:ext cx="3383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硬件底座与安全层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8463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4846320" y="1554480"/>
              <a:ext cx="73152" cy="1645920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5120640" y="1737360"/>
              <a:ext cx="731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06B6D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L3</a:t>
              </a:r>
              <a:endParaRPr lang="en-US" sz="2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943600" y="173736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条件自主插拔</a:t>
              </a:r>
              <a:endParaRPr lang="en-US" sz="18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120640" y="2286000"/>
              <a:ext cx="3383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 0 + </a:t>
              </a:r>
              <a:r>
                <a:rPr lang="en-US" altLang="zh-CN" sz="1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 +  2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120640" y="2651760"/>
              <a:ext cx="3383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单工位自动插拔</a:t>
              </a:r>
              <a:endParaRPr lang="en-US" sz="13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7315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731520" y="3474720"/>
              <a:ext cx="73152" cy="164592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1005840" y="3657600"/>
              <a:ext cx="731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L4</a:t>
              </a:r>
              <a:endParaRPr lang="en-US" sz="2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828800" y="365760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全域无人插拔</a:t>
              </a:r>
              <a:endParaRPr lang="en-US" sz="18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005840" y="4206240"/>
              <a:ext cx="3383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 0+11+12+2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005840" y="4572000"/>
              <a:ext cx="3383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产线级全自主</a:t>
              </a:r>
              <a:endParaRPr lang="en-US" sz="13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8463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4846320" y="3474720"/>
              <a:ext cx="73152" cy="1645920"/>
            </a:xfrm>
            <a:prstGeom prst="rect">
              <a:avLst/>
            </a:prstGeom>
            <a:solidFill>
              <a:srgbClr val="EC4899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5120640" y="3657600"/>
              <a:ext cx="731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EC4899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L5</a:t>
              </a:r>
              <a:endParaRPr lang="en-US" sz="28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943600" y="365760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全域通用</a:t>
              </a:r>
              <a:endParaRPr lang="en-US" sz="18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120640" y="4206240"/>
              <a:ext cx="3383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全栈系统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120640" y="4572000"/>
              <a:ext cx="3383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跨场景泛化</a:t>
              </a:r>
              <a:endParaRPr lang="en-US" sz="13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31520" y="5669280"/>
              <a:ext cx="7680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* 基于《智算中枢·智能化技术标准》Q/ZFCY001.1-2026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L2 - 基础驱动平台</a:t>
            </a:r>
            <a:endParaRPr lang="en-US" sz="3200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82F82A5-34E3-CB05-F950-6D2AA0380751}"/>
              </a:ext>
            </a:extLst>
          </p:cNvPr>
          <p:cNvGrpSpPr/>
          <p:nvPr/>
        </p:nvGrpSpPr>
        <p:grpSpPr>
          <a:xfrm>
            <a:off x="731520" y="1371600"/>
            <a:ext cx="7498080" cy="3670300"/>
            <a:chOff x="731520" y="1371600"/>
            <a:chExt cx="7680960" cy="4572000"/>
          </a:xfrm>
        </p:grpSpPr>
        <p:sp>
          <p:nvSpPr>
            <p:cNvPr id="4" name="Shape 2"/>
            <p:cNvSpPr/>
            <p:nvPr/>
          </p:nvSpPr>
          <p:spPr>
            <a:xfrm>
              <a:off x="731520" y="1371600"/>
              <a:ext cx="3657600" cy="228600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31520" y="1371600"/>
              <a:ext cx="54864" cy="2286000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1005840" y="146304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 0</a:t>
              </a:r>
              <a:endParaRPr lang="en-US" sz="1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005840" y="1920240"/>
              <a:ext cx="320040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200" b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L2基石层</a:t>
              </a:r>
              <a:endParaRPr lang="en-US" sz="12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硬件驱动 (EtherCAT/Modbus)</a:t>
              </a:r>
              <a:endParaRPr lang="en-US" sz="12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力控安全系统（≤50N全域停机）</a:t>
              </a:r>
              <a:endParaRPr lang="en-US" sz="12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急停与保护机制（双冗余）</a:t>
              </a:r>
              <a:endParaRPr lang="en-US" sz="12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运动控制基础（运动学正逆解）</a:t>
              </a:r>
              <a:endParaRPr lang="en-US" sz="1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754880" y="1371600"/>
              <a:ext cx="3657600" cy="228600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754880" y="1371600"/>
              <a:ext cx="54864" cy="2286000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5029200" y="146304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 2</a:t>
              </a:r>
              <a:endParaRPr lang="en-US" sz="1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029200" y="1920240"/>
              <a:ext cx="320040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200" b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L4大脑层</a:t>
              </a:r>
              <a:endParaRPr lang="en-US" sz="12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云端智能体（任务规划与拆解）</a:t>
              </a:r>
              <a:endParaRPr lang="en-US" sz="12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任务调度与状态监控</a:t>
              </a:r>
              <a:endParaRPr lang="en-US" sz="12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异常处理策略</a:t>
              </a:r>
              <a:endParaRPr lang="en-US" sz="12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数据收集与反馈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31520" y="3931920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功能特点</a:t>
              </a:r>
              <a:endParaRPr lang="en-US" sz="2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31520" y="4389120"/>
              <a:ext cx="768096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 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硬件底座搭建完成，系统稳定运行</a:t>
              </a:r>
              <a:endParaRPr lang="en-US" sz="1400" dirty="0"/>
            </a:p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 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安全保护层激活，具备基础运动能力</a:t>
              </a:r>
              <a:endParaRPr lang="en-US" sz="1400" dirty="0"/>
            </a:p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 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可接收云端任务指令，执行人工示教轨迹</a:t>
              </a:r>
              <a:endParaRPr lang="en-US" sz="1400" dirty="0"/>
            </a:p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✗ 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不具备自主插拔能力，依赖人工干预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L3 - 条件自主插拔</a:t>
            </a:r>
            <a:endParaRPr lang="en-US" sz="320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DB06E9C-4290-6060-A0C7-72FE637A7AAE}"/>
              </a:ext>
            </a:extLst>
          </p:cNvPr>
          <p:cNvGrpSpPr/>
          <p:nvPr/>
        </p:nvGrpSpPr>
        <p:grpSpPr>
          <a:xfrm>
            <a:off x="731520" y="1371600"/>
            <a:ext cx="7815580" cy="3644900"/>
            <a:chOff x="731520" y="1371600"/>
            <a:chExt cx="8321040" cy="4846320"/>
          </a:xfrm>
        </p:grpSpPr>
        <p:sp>
          <p:nvSpPr>
            <p:cNvPr id="4" name="Shape 2"/>
            <p:cNvSpPr/>
            <p:nvPr/>
          </p:nvSpPr>
          <p:spPr>
            <a:xfrm>
              <a:off x="731520" y="1371600"/>
              <a:ext cx="2651760" cy="25603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31520" y="1371600"/>
              <a:ext cx="54864" cy="2560320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14630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 0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914400" y="1828800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L2基石层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2194560"/>
              <a:ext cx="228600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硬件驱动层</a:t>
              </a:r>
              <a:endParaRPr lang="en-US" sz="1200" dirty="0"/>
            </a:p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力控安全</a:t>
              </a:r>
              <a:endParaRPr lang="en-US" sz="1200" dirty="0"/>
            </a:p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急停保护</a:t>
              </a:r>
              <a:endParaRPr lang="en-US" sz="1200" dirty="0"/>
            </a:p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运动控制基础</a:t>
              </a:r>
              <a:endParaRPr lang="en-US" sz="1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566160" y="1371600"/>
              <a:ext cx="2651760" cy="25603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3566160" y="1371600"/>
              <a:ext cx="54864" cy="256032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749040" y="14630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</a:t>
              </a:r>
              <a:r>
                <a:rPr lang="en-US" altLang="zh-CN" sz="16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ystem 1 (</a:t>
              </a:r>
              <a:r>
                <a:rPr lang="zh-CN" altLang="en-US" sz="16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基础</a:t>
              </a:r>
              <a:r>
                <a:rPr lang="en-US" altLang="zh-CN" sz="16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749040" y="1828800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L3动作系统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749040" y="2194560"/>
              <a:ext cx="228600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VTLA</a:t>
              </a:r>
              <a:r>
                <a:rPr lang="zh-CN" alt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视触觉</a:t>
              </a:r>
              <a:r>
                <a:rPr lang="en-US" sz="12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动作模型</a:t>
              </a:r>
              <a:endParaRPr lang="en-US" sz="1200" dirty="0"/>
            </a:p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DiT-B动作头</a:t>
              </a:r>
              <a:endParaRPr lang="en-US" sz="1200" dirty="0"/>
            </a:p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端侧推理 &lt;10ms</a:t>
              </a:r>
              <a:endParaRPr lang="en-US" sz="1200" dirty="0"/>
            </a:p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精细力控执行</a:t>
              </a:r>
              <a:endParaRPr lang="en-US" sz="1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400800" y="1371600"/>
              <a:ext cx="2651760" cy="25603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6400800" y="1371600"/>
              <a:ext cx="54864" cy="2560320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6583680" y="14630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 2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583680" y="1828800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L4大脑层</a:t>
              </a:r>
              <a:endParaRPr lang="en-US" sz="11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583680" y="2194560"/>
              <a:ext cx="228600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云端智能体</a:t>
              </a:r>
              <a:endParaRPr lang="en-US" sz="1200" dirty="0"/>
            </a:p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任务调度</a:t>
              </a:r>
              <a:endParaRPr lang="en-US" sz="1200" dirty="0"/>
            </a:p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状态监控</a:t>
              </a:r>
              <a:endParaRPr lang="en-US" sz="1200" dirty="0"/>
            </a:p>
            <a:p>
              <a:pPr marL="0" indent="0" algn="l">
                <a:spcAft>
                  <a:spcPts val="5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异常处理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31520" y="4206240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核心能力</a:t>
              </a:r>
              <a:endParaRPr lang="en-US" sz="2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31520" y="4663440"/>
              <a:ext cx="768096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 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单工位自动插拔能力，精度 ±0.02mm</a:t>
              </a:r>
              <a:endParaRPr lang="en-US" sz="1400" dirty="0"/>
            </a:p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 </a:t>
              </a:r>
              <a:r>
                <a:rPr lang="en-US" altLang="zh-CN" sz="1400" b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VTLA</a:t>
              </a:r>
              <a:r>
                <a:rPr lang="zh-CN" alt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多模端到端</a:t>
              </a:r>
              <a:r>
                <a:rPr lang="en-US" sz="14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模型</a:t>
              </a:r>
              <a:endParaRPr lang="en-US" sz="1400" dirty="0"/>
            </a:p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 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支持结构化环境下的自动操作</a:t>
              </a:r>
              <a:endParaRPr lang="en-US" sz="1400" dirty="0"/>
            </a:p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△ 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需要人工处理异常情况和复杂故障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L4 - 全域无人插拔</a:t>
            </a:r>
            <a:endParaRPr lang="en-US" sz="3200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20DD92B-7655-D9A0-2467-44B693F079DF}"/>
              </a:ext>
            </a:extLst>
          </p:cNvPr>
          <p:cNvGrpSpPr/>
          <p:nvPr/>
        </p:nvGrpSpPr>
        <p:grpSpPr>
          <a:xfrm>
            <a:off x="731520" y="1371600"/>
            <a:ext cx="7680960" cy="3632200"/>
            <a:chOff x="731520" y="1371600"/>
            <a:chExt cx="8229600" cy="4846320"/>
          </a:xfrm>
        </p:grpSpPr>
        <p:sp>
          <p:nvSpPr>
            <p:cNvPr id="4" name="Shape 2"/>
            <p:cNvSpPr/>
            <p:nvPr/>
          </p:nvSpPr>
          <p:spPr>
            <a:xfrm>
              <a:off x="731520" y="1371600"/>
              <a:ext cx="1920240" cy="25603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31520" y="1371600"/>
              <a:ext cx="54864" cy="2560320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868680" y="146304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 0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68680" y="1828800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L2基石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68680" y="2194560"/>
              <a:ext cx="169164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硬件驱动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力控安全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急停保护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运动控制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834640" y="1371600"/>
              <a:ext cx="1920240" cy="25603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2834640" y="1371600"/>
              <a:ext cx="54864" cy="256032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146304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SYS-11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971800" y="1828800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L3动作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971800" y="2194560"/>
              <a:ext cx="169164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</a:t>
              </a:r>
              <a:r>
                <a:rPr lang="zh-CN" alt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多模端到端参数优化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</a:t>
              </a:r>
              <a:r>
                <a:rPr lang="en-US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DiT</a:t>
              </a: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-B / </a:t>
              </a:r>
              <a:r>
                <a:rPr lang="en-US" altLang="zh-CN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FlowM</a:t>
              </a:r>
              <a:r>
                <a:rPr lang="en-US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动作头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端侧推理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精细力控</a:t>
              </a:r>
              <a:endParaRPr lang="en-US" sz="11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937760" y="1371600"/>
              <a:ext cx="1920240" cy="25603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4937760" y="1371600"/>
              <a:ext cx="54864" cy="2560320"/>
            </a:xfrm>
            <a:prstGeom prst="rect">
              <a:avLst/>
            </a:prstGeom>
            <a:solidFill>
              <a:srgbClr val="8B5CF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5074920" y="146304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8B5C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SYS-12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074920" y="1828800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L3引导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074920" y="2194560"/>
              <a:ext cx="169164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LeWorldModel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世界预测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轨迹规划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状态估计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040880" y="1371600"/>
              <a:ext cx="1920240" cy="25603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7040880" y="1371600"/>
              <a:ext cx="54864" cy="2560320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7178040" y="146304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 2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178040" y="1828800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L4大脑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178040" y="2194560"/>
              <a:ext cx="169164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云端智能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全局规划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异常诊断</a:t>
              </a:r>
              <a:endParaRPr lang="en-US" sz="11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自学习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31520" y="4206240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核心能力</a:t>
              </a:r>
              <a:endParaRPr lang="en-US" sz="2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31520" y="4663440"/>
              <a:ext cx="768096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★ 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产线级全自主无人插拔，7×24小时连续运行</a:t>
              </a:r>
              <a:endParaRPr lang="en-US" sz="1400" dirty="0"/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★ 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SYS-11 + SYS-12 </a:t>
              </a:r>
              <a:r>
                <a:rPr lang="en-US" sz="14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协同：动作系统与世界模型融合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r>
                <a:rPr lang="en-US" altLang="zh-CN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</a:t>
              </a:r>
              <a:r>
                <a:rPr lang="zh-CN" alt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动作</a:t>
              </a:r>
              <a:r>
                <a:rPr lang="en-US" altLang="zh-CN" sz="14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响应</a:t>
              </a:r>
              <a:r>
                <a:rPr lang="en-US" altLang="zh-CN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&lt;10ms</a:t>
              </a:r>
              <a:endParaRPr lang="en-US" sz="1400" dirty="0"/>
            </a:p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★ 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具备异常自主诊断和恢复能力</a:t>
              </a:r>
              <a:endParaRPr lang="en-US" sz="1400" dirty="0"/>
            </a:p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★ 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成功率达 99.2%，达到工业级量产标准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系统架构总览</a:t>
            </a:r>
            <a:endParaRPr lang="en-US" sz="360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8DD323E-58E2-CAB1-8139-B4F846F7CDA2}"/>
              </a:ext>
            </a:extLst>
          </p:cNvPr>
          <p:cNvGrpSpPr/>
          <p:nvPr/>
        </p:nvGrpSpPr>
        <p:grpSpPr>
          <a:xfrm>
            <a:off x="731520" y="1188720"/>
            <a:ext cx="7680960" cy="3796589"/>
            <a:chOff x="731520" y="1188720"/>
            <a:chExt cx="7863840" cy="4572000"/>
          </a:xfrm>
        </p:grpSpPr>
        <p:sp>
          <p:nvSpPr>
            <p:cNvPr id="3" name="Shape 1"/>
            <p:cNvSpPr/>
            <p:nvPr/>
          </p:nvSpPr>
          <p:spPr>
            <a:xfrm>
              <a:off x="731520" y="1188720"/>
              <a:ext cx="1828800" cy="0"/>
            </a:xfrm>
            <a:prstGeom prst="line">
              <a:avLst/>
            </a:prstGeom>
            <a:noFill/>
            <a:ln w="254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731520" y="1554480"/>
              <a:ext cx="2560320" cy="320040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31520" y="1554480"/>
              <a:ext cx="2560320" cy="73152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1737360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L2基石层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914400" y="219456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 0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2651760"/>
              <a:ext cx="2194560" cy="1828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EtherCAT</a:t>
              </a:r>
              <a:endParaRPr lang="en-US" sz="1200" dirty="0"/>
            </a:p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力控安全</a:t>
              </a:r>
              <a:endParaRPr lang="en-US" sz="1200" dirty="0"/>
            </a:p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急停保护</a:t>
              </a:r>
              <a:endParaRPr lang="en-US" sz="1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4720" y="1554480"/>
              <a:ext cx="3291840" cy="320040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3474720" y="1554480"/>
              <a:ext cx="3291840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657600" y="1737360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L3/L4核心层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657600" y="2194560"/>
              <a:ext cx="2926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SYS-11 / SYS-12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657600" y="2651760"/>
              <a:ext cx="2926080" cy="1828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VTLA 3B</a:t>
              </a:r>
            </a:p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2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SmolVLA</a:t>
              </a: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500M</a:t>
              </a:r>
              <a:endParaRPr lang="en-US" sz="1200" dirty="0"/>
            </a:p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DiT-B Action Head</a:t>
              </a:r>
              <a:endParaRPr lang="en-US" sz="1200" dirty="0"/>
            </a:p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LeWorldModel 15M</a:t>
              </a:r>
              <a:endParaRPr lang="en-US" sz="1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400800" y="1554480"/>
              <a:ext cx="2194560" cy="320040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6400800" y="1554480"/>
              <a:ext cx="2194560" cy="73152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6583680" y="173736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L4大脑层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583680" y="219456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 2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583680" y="2651760"/>
              <a:ext cx="1828800" cy="1828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云端智能体</a:t>
              </a:r>
              <a:endParaRPr lang="en-US" sz="1200" dirty="0"/>
            </a:p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任务规划</a:t>
              </a:r>
              <a:endParaRPr lang="en-US" sz="1200" dirty="0"/>
            </a:p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全局调度</a:t>
              </a:r>
              <a:endParaRPr lang="en-US" sz="12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31520" y="4937760"/>
              <a:ext cx="7680960" cy="82296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914400" y="512064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技术路线：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LeRobot (机器人框架) + </a:t>
              </a:r>
              <a:r>
                <a:rPr lang="en-US" altLang="zh-CN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VTLA(</a:t>
              </a:r>
              <a:r>
                <a:rPr lang="zh-CN" alt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基础</a:t>
              </a:r>
              <a:r>
                <a:rPr lang="en-US" altLang="zh-CN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)-</a:t>
              </a:r>
              <a:r>
                <a:rPr lang="zh-CN" alt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优化</a:t>
              </a:r>
              <a:r>
                <a:rPr lang="en-US" altLang="zh-CN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-&gt;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SmolVLA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(视觉-语言-动作) + LeWorldModel (世界模型) + DiT-B Flow-Matching (动作生成)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核心优势与商业价值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62700F9-7C4F-49B4-A6E4-5E97BF93B530}"/>
              </a:ext>
            </a:extLst>
          </p:cNvPr>
          <p:cNvGrpSpPr/>
          <p:nvPr/>
        </p:nvGrpSpPr>
        <p:grpSpPr>
          <a:xfrm>
            <a:off x="731520" y="1554480"/>
            <a:ext cx="7680960" cy="3271518"/>
            <a:chOff x="731520" y="1554480"/>
            <a:chExt cx="7955280" cy="4480560"/>
          </a:xfrm>
        </p:grpSpPr>
        <p:sp>
          <p:nvSpPr>
            <p:cNvPr id="4" name="Shape 2"/>
            <p:cNvSpPr/>
            <p:nvPr/>
          </p:nvSpPr>
          <p:spPr>
            <a:xfrm>
              <a:off x="7315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005840" y="182880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3B82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±0.02</a:t>
              </a:r>
              <a:r>
                <a:rPr lang="en-US" sz="2400" dirty="0">
                  <a:solidFill>
                    <a:srgbClr val="3B82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mm</a:t>
              </a:r>
              <a:endParaRPr lang="en-US" sz="4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05840" y="265176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插拔精度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8463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5120640" y="182880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99.2</a:t>
              </a:r>
              <a:r>
                <a:rPr lang="en-US" sz="2400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%</a:t>
              </a:r>
              <a:endParaRPr lang="en-US" sz="4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120640" y="265176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成功率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315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005840" y="374904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6B6D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&lt;10</a:t>
              </a:r>
              <a:r>
                <a:rPr lang="en-US" sz="2400" dirty="0">
                  <a:solidFill>
                    <a:srgbClr val="06B6D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ms</a:t>
              </a:r>
              <a:endParaRPr lang="en-US" sz="4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05840" y="457200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端侧推理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8463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5120640" y="374904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7×24</a:t>
              </a:r>
              <a:r>
                <a:rPr lang="en-US" sz="24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h</a:t>
              </a:r>
              <a:endParaRPr lang="en-US" sz="4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120640" y="457200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连续运行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1520" y="5394960"/>
              <a:ext cx="7680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商业价值：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人工成本降低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单机替代2-3名熟练操作工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良率提升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减少人工损伤，良率从95%提升至99%+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换型时间缩短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从小时级降至分钟级，柔性生产成为可能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实施路线图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8FDFA6C-0C86-CCE7-BFB6-21194C27BC57}"/>
              </a:ext>
            </a:extLst>
          </p:cNvPr>
          <p:cNvGrpSpPr/>
          <p:nvPr/>
        </p:nvGrpSpPr>
        <p:grpSpPr>
          <a:xfrm>
            <a:off x="731520" y="1554480"/>
            <a:ext cx="7929880" cy="3347709"/>
            <a:chOff x="731520" y="1554480"/>
            <a:chExt cx="8229600" cy="3474720"/>
          </a:xfrm>
        </p:grpSpPr>
        <p:sp>
          <p:nvSpPr>
            <p:cNvPr id="4" name="Shape 2"/>
            <p:cNvSpPr/>
            <p:nvPr/>
          </p:nvSpPr>
          <p:spPr>
            <a:xfrm>
              <a:off x="274320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3152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731520" y="1554480"/>
              <a:ext cx="1920240" cy="73152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86868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1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6868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2026 Q3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6868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L2基础搭建</a:t>
              </a:r>
              <a:endParaRPr lang="en-US" sz="13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6868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硬件底座完成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安全层激活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84632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283464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2834640" y="1554480"/>
              <a:ext cx="1920240" cy="73152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297180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2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97180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2026 Q4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97180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L3单工位验证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7180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altLang="zh-CN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VTLA</a:t>
              </a:r>
              <a:r>
                <a:rPr lang="en-US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部署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条件自主插拔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94944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493776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4937760" y="1554480"/>
              <a:ext cx="1920240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507492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3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07492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2027 Q1-Q2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07492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L4产线落地</a:t>
              </a:r>
              <a:endParaRPr lang="en-US" sz="13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07492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SYS-11+12融合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全域无人插拔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04088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7040880" y="1554480"/>
              <a:ext cx="1920240" cy="73152"/>
            </a:xfrm>
            <a:prstGeom prst="rect">
              <a:avLst/>
            </a:prstGeom>
            <a:solidFill>
              <a:srgbClr val="EC4899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717804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C48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4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17804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2027+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17804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规模化复制</a:t>
              </a:r>
              <a:endParaRPr lang="en-US" sz="13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17804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多产线部署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持续优化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462</Words>
  <Application>Microsoft Office PowerPoint</Application>
  <PresentationFormat>全屏显示(16:9)</PresentationFormat>
  <Paragraphs>171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Z-MAX 多模态动作专家 - 管理层汇报</dc:title>
  <dc:subject>PptxGenJS Presentation</dc:subject>
  <dc:creator>智蜂创元</dc:creator>
  <cp:lastModifiedBy>祥 倪</cp:lastModifiedBy>
  <cp:revision>13</cp:revision>
  <dcterms:created xsi:type="dcterms:W3CDTF">2026-07-01T08:07:32Z</dcterms:created>
  <dcterms:modified xsi:type="dcterms:W3CDTF">2026-07-01T08:24:48Z</dcterms:modified>
</cp:coreProperties>
</file>