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9" r:id="rId4"/>
    <p:sldId id="266" r:id="rId5"/>
    <p:sldId id="268" r:id="rId6"/>
    <p:sldId id="267" r:id="rId7"/>
    <p:sldId id="270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82F6"/>
    <a:srgbClr val="06B6D4"/>
    <a:srgbClr val="F59E0B"/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20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31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7EDCD-57DE-9B16-6A4E-DF057E8CE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E13085-23C7-0DB9-F480-0CECF51B0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8043C-996F-40C3-5E91-6D9921E8FC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11EA4-78BC-459F-9250-C6DB3CFA90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8401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D8314-0877-A37F-ECC0-42D1B24C1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A0742-9F85-244F-8B84-B6AA22DB1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C71B0-32BD-B271-E3A8-BDB5EF8AC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BC82F-750C-22F5-7AA4-FA37E44F49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971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7397C-D556-68D3-C137-3EC6429C9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8642D-2E7F-2F11-F80B-6433199132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B5C57-7FD2-56EE-592B-F33948D90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A94FA-C1C3-2AED-7435-13348FDB06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863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F84CE-D53B-4982-E924-0436EF4B3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13DEE-D776-0BE0-ADCC-5CF606FD6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B0595-6B5F-360C-D07A-E9C4A3F55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4D059-3DA0-3FAF-416A-76B86AE82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341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FC793-9D06-4069-9197-61F815320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016F71-65FF-2155-713A-D759D47585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046E89-E93B-4138-91EB-73FE3ABF9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53770-58BF-EB7E-81F9-F0023A9392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8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Z-MAX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多模态动作专家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7432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光模块工厂智能插拔解决方案</a:t>
            </a:r>
            <a:endParaRPr lang="en-US" sz="24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4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±0.02mm 精度  |  &gt;99% 成功率  |  </a:t>
            </a:r>
            <a:r>
              <a:rPr lang="en-US" sz="1800" b="1" dirty="0" err="1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全自主</a:t>
            </a:r>
            <a:r>
              <a:rPr lang="zh-CN" altLang="en-US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具身智能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731520" y="46405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智蜂创元 | 具身机器人产品解决方案</a:t>
            </a:r>
            <a:endParaRPr lang="en-US" sz="1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DA30F82-E04E-BB36-B9A5-3D5AF3DC1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725" y="937260"/>
            <a:ext cx="81941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核心产品形态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Z-MAX </a:t>
            </a: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智蜂 - 多模态动作专家</a:t>
            </a:r>
            <a:endParaRPr lang="en-US" sz="2800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539603A-992E-2AE6-525F-FC184460A6C9}"/>
              </a:ext>
            </a:extLst>
          </p:cNvPr>
          <p:cNvGrpSpPr/>
          <p:nvPr/>
        </p:nvGrpSpPr>
        <p:grpSpPr>
          <a:xfrm>
            <a:off x="731520" y="2011680"/>
            <a:ext cx="6621780" cy="2999232"/>
            <a:chOff x="731520" y="2011680"/>
            <a:chExt cx="7680960" cy="5029200"/>
          </a:xfrm>
        </p:grpSpPr>
        <p:sp>
          <p:nvSpPr>
            <p:cNvPr id="6" name="Text 4"/>
            <p:cNvSpPr/>
            <p:nvPr/>
          </p:nvSpPr>
          <p:spPr>
            <a:xfrm>
              <a:off x="731520" y="2011680"/>
              <a:ext cx="7680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命名逻辑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31520" y="2468880"/>
              <a:ext cx="7680960" cy="91440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731520" y="2468880"/>
              <a:ext cx="73152" cy="914400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 7"/>
            <p:cNvSpPr/>
            <p:nvPr/>
          </p:nvSpPr>
          <p:spPr>
            <a:xfrm>
              <a:off x="1005840" y="2651760"/>
              <a:ext cx="72237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8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智蜂 Z-Bee</a:t>
              </a:r>
              <a:r>
                <a:rPr lang="en-US" sz="1600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·  精密、高效、协同的工业级品牌IP</a:t>
              </a:r>
              <a:endParaRPr lang="en-US" sz="18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731520" y="3566160"/>
              <a:ext cx="76809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i="1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Z-MAX 四维含义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731520" y="4023360"/>
              <a:ext cx="594360" cy="502920"/>
            </a:xfrm>
            <a:prstGeom prst="rect">
              <a:avLst/>
            </a:prstGeom>
            <a:solidFill>
              <a:srgbClr val="3B82F6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10"/>
            <p:cNvSpPr/>
            <p:nvPr/>
          </p:nvSpPr>
          <p:spPr>
            <a:xfrm>
              <a:off x="731520" y="409651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Z</a:t>
              </a:r>
              <a:endParaRPr lang="en-US" sz="22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1463040" y="409651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潜在特征空间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全域感知与认知底座</a:t>
              </a:r>
              <a:endParaRPr lang="en-US" sz="14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731520" y="4617720"/>
              <a:ext cx="594360" cy="502920"/>
            </a:xfrm>
            <a:prstGeom prst="rect">
              <a:avLst/>
            </a:prstGeom>
            <a:solidFill>
              <a:srgbClr val="06B6D4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731520" y="469087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M</a:t>
              </a:r>
              <a:endParaRPr lang="en-US" sz="2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463040" y="469087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模态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感官融合与自适应泛化</a:t>
              </a:r>
              <a:endParaRPr lang="en-US" sz="14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731520" y="5212080"/>
              <a:ext cx="594360" cy="502920"/>
            </a:xfrm>
            <a:prstGeom prst="rect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731520" y="528523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A</a:t>
              </a:r>
              <a:endParaRPr lang="en-US" sz="2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1463040" y="528523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Action / 动作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精细力控与动态执行</a:t>
              </a:r>
              <a:endParaRPr lang="en-US" sz="14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731520" y="5806440"/>
              <a:ext cx="594360" cy="502920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731520" y="5879592"/>
              <a:ext cx="59436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X</a:t>
              </a:r>
              <a:endParaRPr lang="en-US" sz="2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1463040" y="5879592"/>
              <a:ext cx="69494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eXpert / 专家</a:t>
              </a:r>
              <a:r>
                <a:rPr lang="en-US" sz="14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→  </a:t>
              </a:r>
              <a:r>
                <a:rPr lang="en-US" sz="13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自主决策与全自主闭环</a:t>
              </a:r>
              <a:endParaRPr lang="en-US" sz="14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731520" y="6400800"/>
              <a:ext cx="7680960" cy="64008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914400" y="653796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品牌注册备选  |  </a:t>
              </a:r>
              <a:r>
                <a:rPr lang="en-US" sz="1300" b="1" dirty="0">
                  <a:solidFill>
                    <a:srgbClr val="3B82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R-MAX</a:t>
              </a: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·  </a:t>
              </a:r>
              <a:r>
                <a:rPr lang="en-US" sz="13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RB-MAX</a:t>
              </a: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·  </a:t>
              </a:r>
              <a:endParaRPr lang="en-US" sz="1200" dirty="0"/>
            </a:p>
          </p:txBody>
        </p:sp>
      </p:grpSp>
      <p:pic>
        <p:nvPicPr>
          <p:cNvPr id="27" name="图片 26">
            <a:extLst>
              <a:ext uri="{FF2B5EF4-FFF2-40B4-BE49-F238E27FC236}">
                <a16:creationId xmlns:a16="http://schemas.microsoft.com/office/drawing/2014/main" id="{9B75B488-D905-6ED3-466B-EE7272F1B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803" y="164459"/>
            <a:ext cx="81941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85C778-8F23-09D4-B8F1-00305BA5F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1">
            <a:extLst>
              <a:ext uri="{FF2B5EF4-FFF2-40B4-BE49-F238E27FC236}">
                <a16:creationId xmlns:a16="http://schemas.microsoft.com/office/drawing/2014/main" id="{AF97CC7A-FAEF-3426-CC43-BF29D4D5A00F}"/>
              </a:ext>
            </a:extLst>
          </p:cNvPr>
          <p:cNvSpPr/>
          <p:nvPr/>
        </p:nvSpPr>
        <p:spPr>
          <a:xfrm>
            <a:off x="731520" y="4146300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201F0E3-E5C6-7328-BA93-529BF36E8E18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产品迭代策略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人工编制流程，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实现精细插拔操作</a:t>
            </a:r>
            <a:endParaRPr lang="en-US" sz="3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F61986-0FCA-33AE-C8C3-3D338204A381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DD43B92-EECC-3AC3-3494-247186304AC9}"/>
              </a:ext>
            </a:extLst>
          </p:cNvPr>
          <p:cNvSpPr/>
          <p:nvPr/>
        </p:nvSpPr>
        <p:spPr>
          <a:xfrm>
            <a:off x="727109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438490D-6DFB-80DA-CBD6-69E699B9F43E}"/>
              </a:ext>
            </a:extLst>
          </p:cNvPr>
          <p:cNvSpPr/>
          <p:nvPr/>
        </p:nvSpPr>
        <p:spPr>
          <a:xfrm>
            <a:off x="3880716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8158D83A-C471-8C88-1DE5-82A470909FA2}"/>
              </a:ext>
            </a:extLst>
          </p:cNvPr>
          <p:cNvSpPr/>
          <p:nvPr/>
        </p:nvSpPr>
        <p:spPr>
          <a:xfrm>
            <a:off x="3247109" y="3200798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87E52896-5C56-6437-A192-E063C7C205C1}"/>
              </a:ext>
            </a:extLst>
          </p:cNvPr>
          <p:cNvSpPr/>
          <p:nvPr/>
        </p:nvSpPr>
        <p:spPr>
          <a:xfrm rot="5400000">
            <a:off x="4872021" y="384617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F93513A8-ED35-B1CF-264B-23B5C9B366FC}"/>
              </a:ext>
            </a:extLst>
          </p:cNvPr>
          <p:cNvSpPr/>
          <p:nvPr/>
        </p:nvSpPr>
        <p:spPr>
          <a:xfrm rot="16200000">
            <a:off x="1781225" y="3846177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624278CF-58C6-2064-C527-DE6E994950D8}"/>
              </a:ext>
            </a:extLst>
          </p:cNvPr>
          <p:cNvSpPr/>
          <p:nvPr/>
        </p:nvSpPr>
        <p:spPr>
          <a:xfrm>
            <a:off x="4798479" y="2868689"/>
            <a:ext cx="638776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4800" b="1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F2DEA3C6-135B-72B6-2BA9-22B766D216E1}"/>
              </a:ext>
            </a:extLst>
          </p:cNvPr>
          <p:cNvSpPr/>
          <p:nvPr/>
        </p:nvSpPr>
        <p:spPr>
          <a:xfrm>
            <a:off x="4852246" y="3439390"/>
            <a:ext cx="1742919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动作（标准接口）</a:t>
            </a:r>
            <a:endParaRPr lang="en-US" sz="1600" dirty="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9DB5B02E-9DCF-3FE1-235F-620677983FA9}"/>
              </a:ext>
            </a:extLst>
          </p:cNvPr>
          <p:cNvSpPr/>
          <p:nvPr/>
        </p:nvSpPr>
        <p:spPr>
          <a:xfrm>
            <a:off x="3772826" y="4228695"/>
            <a:ext cx="1724473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真实环境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F50B525A-727D-D3B4-33D0-7ED71B915138}"/>
              </a:ext>
            </a:extLst>
          </p:cNvPr>
          <p:cNvSpPr/>
          <p:nvPr/>
        </p:nvSpPr>
        <p:spPr>
          <a:xfrm>
            <a:off x="1016000" y="2928568"/>
            <a:ext cx="1992991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Arial Black" pitchFamily="34" charset="0"/>
              </a:rPr>
              <a:t>人工流程编排</a:t>
            </a:r>
            <a:endParaRPr lang="en-US" altLang="zh-CN" sz="2000" b="1" dirty="0">
              <a:solidFill>
                <a:schemeClr val="bg1"/>
              </a:solidFill>
              <a:latin typeface="Arial Black" pitchFamily="34" charset="0"/>
            </a:endParaRPr>
          </a:p>
          <a:p>
            <a:pPr marL="0" indent="0" algn="l"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Arial Black" pitchFamily="34" charset="0"/>
              </a:rPr>
              <a:t>标准原子功能库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C61896FA-EEB2-9AE7-1917-6D29576E400D}"/>
              </a:ext>
            </a:extLst>
          </p:cNvPr>
          <p:cNvSpPr/>
          <p:nvPr/>
        </p:nvSpPr>
        <p:spPr>
          <a:xfrm>
            <a:off x="73152" y="2571750"/>
            <a:ext cx="6559466" cy="1383030"/>
          </a:xfrm>
          <a:prstGeom prst="round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5B3263EC-D446-DC98-77D3-6C0AD39C730C}"/>
              </a:ext>
            </a:extLst>
          </p:cNvPr>
          <p:cNvSpPr/>
          <p:nvPr/>
        </p:nvSpPr>
        <p:spPr>
          <a:xfrm>
            <a:off x="146871" y="3103866"/>
            <a:ext cx="563907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0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分段式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功能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61073B9-D39E-6D92-2353-54F0146161F5}"/>
              </a:ext>
            </a:extLst>
          </p:cNvPr>
          <p:cNvSpPr txBox="1"/>
          <p:nvPr/>
        </p:nvSpPr>
        <p:spPr>
          <a:xfrm>
            <a:off x="545910" y="1224912"/>
            <a:ext cx="7866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     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固定式精密操作具身机器人，精密制造智能技工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3EE8DE-1CB5-2800-335E-16B4F7DEF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64" y="1629396"/>
            <a:ext cx="5541244" cy="83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409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D32FD-987D-A73D-8C4B-D1E7E805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1">
            <a:extLst>
              <a:ext uri="{FF2B5EF4-FFF2-40B4-BE49-F238E27FC236}">
                <a16:creationId xmlns:a16="http://schemas.microsoft.com/office/drawing/2014/main" id="{420CFC5F-D29D-1E40-88F6-E967B496B256}"/>
              </a:ext>
            </a:extLst>
          </p:cNvPr>
          <p:cNvSpPr/>
          <p:nvPr/>
        </p:nvSpPr>
        <p:spPr>
          <a:xfrm>
            <a:off x="731520" y="4146300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60A9D2C-FBA8-4F3B-DE12-348080C0BDF0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产品迭代策略</a:t>
            </a:r>
            <a:r>
              <a:rPr lang="en-US" altLang="zh-CN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基于VTLA模型，实现精细插拔操作</a:t>
            </a:r>
            <a:endParaRPr lang="en-US" sz="3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C2AD307-5917-ACE3-41A5-79817687FDAA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040D59B-30F4-FF41-40CD-175A45BC66B4}"/>
              </a:ext>
            </a:extLst>
          </p:cNvPr>
          <p:cNvSpPr/>
          <p:nvPr/>
        </p:nvSpPr>
        <p:spPr>
          <a:xfrm>
            <a:off x="727109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7E8927F-A6CD-B2CA-68BC-F0C6E3A63288}"/>
              </a:ext>
            </a:extLst>
          </p:cNvPr>
          <p:cNvSpPr/>
          <p:nvPr/>
        </p:nvSpPr>
        <p:spPr>
          <a:xfrm>
            <a:off x="3880716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0C6D746F-101D-C7F4-BE97-0360E625374A}"/>
              </a:ext>
            </a:extLst>
          </p:cNvPr>
          <p:cNvSpPr/>
          <p:nvPr/>
        </p:nvSpPr>
        <p:spPr>
          <a:xfrm>
            <a:off x="3247109" y="3200798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AA8260A5-9AD5-C5D7-9143-E876C27F1CA4}"/>
              </a:ext>
            </a:extLst>
          </p:cNvPr>
          <p:cNvSpPr/>
          <p:nvPr/>
        </p:nvSpPr>
        <p:spPr>
          <a:xfrm rot="5400000">
            <a:off x="4872021" y="384617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187BAFD1-2C52-15DA-2C8D-806EBE3146D1}"/>
              </a:ext>
            </a:extLst>
          </p:cNvPr>
          <p:cNvSpPr/>
          <p:nvPr/>
        </p:nvSpPr>
        <p:spPr>
          <a:xfrm rot="16200000">
            <a:off x="1781225" y="3846177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0EBAB4A0-F07D-FB65-743C-65381C23EA63}"/>
              </a:ext>
            </a:extLst>
          </p:cNvPr>
          <p:cNvSpPr/>
          <p:nvPr/>
        </p:nvSpPr>
        <p:spPr>
          <a:xfrm>
            <a:off x="1635707" y="3441679"/>
            <a:ext cx="658328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</a:t>
            </a:r>
            <a:endParaRPr lang="en-US" sz="16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42B3A500-9359-4978-49F0-4F0183E7C070}"/>
              </a:ext>
            </a:extLst>
          </p:cNvPr>
          <p:cNvSpPr/>
          <p:nvPr/>
        </p:nvSpPr>
        <p:spPr>
          <a:xfrm>
            <a:off x="4798479" y="2868689"/>
            <a:ext cx="638776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4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>
              <a:solidFill>
                <a:srgbClr val="10B981"/>
              </a:solidFill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F50BA106-9249-77C2-CA47-F149C46E1E5C}"/>
              </a:ext>
            </a:extLst>
          </p:cNvPr>
          <p:cNvSpPr/>
          <p:nvPr/>
        </p:nvSpPr>
        <p:spPr>
          <a:xfrm>
            <a:off x="4852246" y="3439390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</a:t>
            </a:r>
            <a:endParaRPr lang="en-US" sz="1600" dirty="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9B730CEB-0857-2327-CDDE-47416293B74D}"/>
              </a:ext>
            </a:extLst>
          </p:cNvPr>
          <p:cNvSpPr/>
          <p:nvPr/>
        </p:nvSpPr>
        <p:spPr>
          <a:xfrm>
            <a:off x="3772826" y="4228695"/>
            <a:ext cx="1724473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真实环境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6F9F86E9-5E5E-F888-E95A-D6C5AA27411B}"/>
              </a:ext>
            </a:extLst>
          </p:cNvPr>
          <p:cNvSpPr/>
          <p:nvPr/>
        </p:nvSpPr>
        <p:spPr>
          <a:xfrm>
            <a:off x="1633224" y="2928568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" dirty="0">
              <a:solidFill>
                <a:srgbClr val="06B6D4"/>
              </a:solidFill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079A4D36-93DF-9E2B-DC22-61FBB27D0BEC}"/>
              </a:ext>
            </a:extLst>
          </p:cNvPr>
          <p:cNvSpPr/>
          <p:nvPr/>
        </p:nvSpPr>
        <p:spPr>
          <a:xfrm>
            <a:off x="73152" y="2571750"/>
            <a:ext cx="6559466" cy="1383030"/>
          </a:xfrm>
          <a:prstGeom prst="round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Text 13">
            <a:extLst>
              <a:ext uri="{FF2B5EF4-FFF2-40B4-BE49-F238E27FC236}">
                <a16:creationId xmlns:a16="http://schemas.microsoft.com/office/drawing/2014/main" id="{86FB4BA6-E8BE-378C-7543-978F87BD277E}"/>
              </a:ext>
            </a:extLst>
          </p:cNvPr>
          <p:cNvSpPr/>
          <p:nvPr/>
        </p:nvSpPr>
        <p:spPr>
          <a:xfrm>
            <a:off x="146871" y="3103866"/>
            <a:ext cx="563907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端到端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功能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9316F0E-FFFA-1F43-6329-66E08C6E05EB}"/>
              </a:ext>
            </a:extLst>
          </p:cNvPr>
          <p:cNvSpPr txBox="1"/>
          <p:nvPr/>
        </p:nvSpPr>
        <p:spPr>
          <a:xfrm>
            <a:off x="545910" y="1224912"/>
            <a:ext cx="78665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      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聚焦光模块插拔场景，依托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自研</a:t>
            </a:r>
            <a:r>
              <a:rPr lang="zh-CN" altLang="zh-C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VTLA（视触觉语言动作）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 多模态模型，建立从“感知”到“动作”的端到端执行能力。</a:t>
            </a:r>
            <a:r>
              <a:rPr lang="zh-CN" altLang="zh-C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M/A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 融合视觉与力觉反馈，完成高精度、高可靠的插拔基础动作，在真实产线环境中落地验证。</a:t>
            </a:r>
            <a:endParaRPr lang="zh-CN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257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605A15-D5AE-C92B-1BAA-E8D46A0DC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1">
            <a:extLst>
              <a:ext uri="{FF2B5EF4-FFF2-40B4-BE49-F238E27FC236}">
                <a16:creationId xmlns:a16="http://schemas.microsoft.com/office/drawing/2014/main" id="{21085D6F-FCA5-F9C6-C51E-D9BAABF10099}"/>
              </a:ext>
            </a:extLst>
          </p:cNvPr>
          <p:cNvSpPr/>
          <p:nvPr/>
        </p:nvSpPr>
        <p:spPr>
          <a:xfrm>
            <a:off x="731520" y="4146300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F9CCADC-A246-2A09-979A-45661A685AF3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产品迭代策略  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泛化调优与端侧部署</a:t>
            </a:r>
            <a:endParaRPr lang="en-US" altLang="zh-CN" sz="3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3512E1D-1C1F-5C71-21DF-1F28E7B1CD58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FF1255F-1CE0-3E88-3B8A-67A3154C482E}"/>
              </a:ext>
            </a:extLst>
          </p:cNvPr>
          <p:cNvSpPr/>
          <p:nvPr/>
        </p:nvSpPr>
        <p:spPr>
          <a:xfrm>
            <a:off x="731520" y="1670242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6777E13-D7D7-F875-C07D-894ABF18A063}"/>
              </a:ext>
            </a:extLst>
          </p:cNvPr>
          <p:cNvSpPr/>
          <p:nvPr/>
        </p:nvSpPr>
        <p:spPr>
          <a:xfrm>
            <a:off x="727109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E85D365-91C6-757B-8A60-A6ACC9803A40}"/>
              </a:ext>
            </a:extLst>
          </p:cNvPr>
          <p:cNvSpPr/>
          <p:nvPr/>
        </p:nvSpPr>
        <p:spPr>
          <a:xfrm>
            <a:off x="3880716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071B1FB8-6C08-9F9E-2E53-81218269242F}"/>
              </a:ext>
            </a:extLst>
          </p:cNvPr>
          <p:cNvSpPr/>
          <p:nvPr/>
        </p:nvSpPr>
        <p:spPr>
          <a:xfrm>
            <a:off x="3247109" y="3200798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258E8389-2DB4-9D90-7FC8-E3F78DE877AC}"/>
              </a:ext>
            </a:extLst>
          </p:cNvPr>
          <p:cNvSpPr/>
          <p:nvPr/>
        </p:nvSpPr>
        <p:spPr>
          <a:xfrm rot="5400000">
            <a:off x="4872021" y="384617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0A2E60B0-3C5B-5448-BC59-AF1BC6D06CA7}"/>
              </a:ext>
            </a:extLst>
          </p:cNvPr>
          <p:cNvSpPr/>
          <p:nvPr/>
        </p:nvSpPr>
        <p:spPr>
          <a:xfrm rot="16200000">
            <a:off x="1781225" y="3846177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7752B6E-544E-8239-F0F4-97124639431E}"/>
              </a:ext>
            </a:extLst>
          </p:cNvPr>
          <p:cNvSpPr/>
          <p:nvPr/>
        </p:nvSpPr>
        <p:spPr>
          <a:xfrm rot="5400000">
            <a:off x="4850810" y="2442140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13BDF5DD-E945-B8CC-59D4-E7AE6094A624}"/>
              </a:ext>
            </a:extLst>
          </p:cNvPr>
          <p:cNvSpPr/>
          <p:nvPr/>
        </p:nvSpPr>
        <p:spPr>
          <a:xfrm rot="16200000">
            <a:off x="1760014" y="2442139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2AD7D803-DA00-A673-4E34-90C3274F6D3F}"/>
              </a:ext>
            </a:extLst>
          </p:cNvPr>
          <p:cNvSpPr/>
          <p:nvPr/>
        </p:nvSpPr>
        <p:spPr>
          <a:xfrm>
            <a:off x="1633224" y="2928568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" dirty="0">
              <a:solidFill>
                <a:srgbClr val="06B6D4"/>
              </a:solidFill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61F0B180-5874-BA55-C31B-860C736F6F41}"/>
              </a:ext>
            </a:extLst>
          </p:cNvPr>
          <p:cNvSpPr/>
          <p:nvPr/>
        </p:nvSpPr>
        <p:spPr>
          <a:xfrm>
            <a:off x="1635707" y="3441679"/>
            <a:ext cx="658328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</a:t>
            </a:r>
            <a:endParaRPr lang="en-US" sz="16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A5E96534-5BF3-DD03-AEAC-E89C3C70ED6E}"/>
              </a:ext>
            </a:extLst>
          </p:cNvPr>
          <p:cNvSpPr/>
          <p:nvPr/>
        </p:nvSpPr>
        <p:spPr>
          <a:xfrm>
            <a:off x="4798479" y="2868689"/>
            <a:ext cx="638776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4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>
              <a:solidFill>
                <a:srgbClr val="10B981"/>
              </a:solidFill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AE16EDDE-AA05-7824-4935-143DFADBE2C3}"/>
              </a:ext>
            </a:extLst>
          </p:cNvPr>
          <p:cNvSpPr/>
          <p:nvPr/>
        </p:nvSpPr>
        <p:spPr>
          <a:xfrm>
            <a:off x="4852246" y="3439390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</a:t>
            </a:r>
            <a:endParaRPr lang="en-US" sz="16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D9C8ACFF-DF1A-B0BD-356A-6171FF65FD15}"/>
              </a:ext>
            </a:extLst>
          </p:cNvPr>
          <p:cNvSpPr/>
          <p:nvPr/>
        </p:nvSpPr>
        <p:spPr>
          <a:xfrm>
            <a:off x="3772826" y="4228695"/>
            <a:ext cx="1724473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真实环境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B27F2BB1-61FA-C4E7-3E02-AFFC15547A3F}"/>
              </a:ext>
            </a:extLst>
          </p:cNvPr>
          <p:cNvSpPr/>
          <p:nvPr/>
        </p:nvSpPr>
        <p:spPr>
          <a:xfrm>
            <a:off x="4706763" y="1729795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</a:t>
            </a:r>
            <a:endParaRPr lang="en-US" sz="4800" dirty="0">
              <a:solidFill>
                <a:srgbClr val="3B82F6"/>
              </a:solidFill>
            </a:endParaRPr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F5F46D3F-9C9C-8520-175D-E992BE1491DC}"/>
              </a:ext>
            </a:extLst>
          </p:cNvPr>
          <p:cNvSpPr/>
          <p:nvPr/>
        </p:nvSpPr>
        <p:spPr>
          <a:xfrm>
            <a:off x="5874103" y="1944287"/>
            <a:ext cx="1015085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潜空间  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A3BC7D69-032C-DDB3-8EDF-0673596C24CD}"/>
              </a:ext>
            </a:extLst>
          </p:cNvPr>
          <p:cNvSpPr/>
          <p:nvPr/>
        </p:nvSpPr>
        <p:spPr>
          <a:xfrm>
            <a:off x="1962389" y="1912190"/>
            <a:ext cx="1376442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  决策</a:t>
            </a:r>
            <a:endParaRPr lang="en-US" sz="1600" dirty="0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14AF3DC-D09F-79FC-EE81-9641881E0870}"/>
              </a:ext>
            </a:extLst>
          </p:cNvPr>
          <p:cNvSpPr/>
          <p:nvPr/>
        </p:nvSpPr>
        <p:spPr>
          <a:xfrm>
            <a:off x="73152" y="2571750"/>
            <a:ext cx="6559466" cy="1383030"/>
          </a:xfrm>
          <a:prstGeom prst="round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94570E1-F8AE-D1BD-A430-AF3C00CF0DDC}"/>
              </a:ext>
            </a:extLst>
          </p:cNvPr>
          <p:cNvSpPr/>
          <p:nvPr/>
        </p:nvSpPr>
        <p:spPr>
          <a:xfrm>
            <a:off x="73152" y="1521562"/>
            <a:ext cx="6559466" cy="2429308"/>
          </a:xfrm>
          <a:prstGeom prst="roundRect">
            <a:avLst/>
          </a:prstGeom>
          <a:noFill/>
          <a:ln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77FD02A2-D92E-758D-0970-187181DC6599}"/>
              </a:ext>
            </a:extLst>
          </p:cNvPr>
          <p:cNvSpPr/>
          <p:nvPr/>
        </p:nvSpPr>
        <p:spPr>
          <a:xfrm>
            <a:off x="146870" y="1781754"/>
            <a:ext cx="658328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泛化调优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AD4ABBA-ACB5-050F-5B74-D85BFE619CA5}"/>
              </a:ext>
            </a:extLst>
          </p:cNvPr>
          <p:cNvSpPr txBox="1"/>
          <p:nvPr/>
        </p:nvSpPr>
        <p:spPr>
          <a:xfrm>
            <a:off x="6753492" y="1365547"/>
            <a:ext cx="23905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构建</a:t>
            </a:r>
            <a:r>
              <a:rPr lang="zh-CN" altLang="en-US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自研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 </a:t>
            </a:r>
            <a:r>
              <a:rPr lang="zh-CN" altLang="zh-C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Z潜空间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，对基础模型动作特征进行压缩和泛化。实现“一脑多能”，将泛化能力迁移至多型号模块。通过端侧优化与量化压缩，让精细操作在低延迟、低功耗的边缘设备上高效运行。</a:t>
            </a:r>
            <a:endParaRPr lang="zh-CN" altLang="en-US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C93C6E73-0485-159A-46AA-A988250E2B92}"/>
              </a:ext>
            </a:extLst>
          </p:cNvPr>
          <p:cNvSpPr/>
          <p:nvPr/>
        </p:nvSpPr>
        <p:spPr>
          <a:xfrm>
            <a:off x="146871" y="3103866"/>
            <a:ext cx="563907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端到端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功能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4243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4F7D39-A3B6-51A0-0A41-27F2E682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1">
            <a:extLst>
              <a:ext uri="{FF2B5EF4-FFF2-40B4-BE49-F238E27FC236}">
                <a16:creationId xmlns:a16="http://schemas.microsoft.com/office/drawing/2014/main" id="{91EF3A00-3347-D346-9E46-26E29294D354}"/>
              </a:ext>
            </a:extLst>
          </p:cNvPr>
          <p:cNvSpPr/>
          <p:nvPr/>
        </p:nvSpPr>
        <p:spPr>
          <a:xfrm>
            <a:off x="731519" y="4146300"/>
            <a:ext cx="7742803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4FE42B1-E5FB-BA94-1D2E-21ACE7711A57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产品迭代策略  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空间感知与全域认知闭环</a:t>
            </a:r>
            <a:endParaRPr lang="en-US" altLang="zh-CN" sz="3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5342D4-3C8C-CDA5-26BB-D2686E010F21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0CEDFD1-5FB3-62F4-AA8E-97B94531E927}"/>
              </a:ext>
            </a:extLst>
          </p:cNvPr>
          <p:cNvSpPr/>
          <p:nvPr/>
        </p:nvSpPr>
        <p:spPr>
          <a:xfrm>
            <a:off x="731520" y="1670242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BB14BD5-278F-2132-A64A-B9E3F8B208D9}"/>
              </a:ext>
            </a:extLst>
          </p:cNvPr>
          <p:cNvSpPr/>
          <p:nvPr/>
        </p:nvSpPr>
        <p:spPr>
          <a:xfrm>
            <a:off x="727109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B548B5E-65C4-98FD-0076-A37B6E977F38}"/>
              </a:ext>
            </a:extLst>
          </p:cNvPr>
          <p:cNvSpPr/>
          <p:nvPr/>
        </p:nvSpPr>
        <p:spPr>
          <a:xfrm>
            <a:off x="1633224" y="2928568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" dirty="0">
              <a:solidFill>
                <a:srgbClr val="06B6D4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F503B3B-78A0-5C2C-4720-3C6328774D17}"/>
              </a:ext>
            </a:extLst>
          </p:cNvPr>
          <p:cNvSpPr/>
          <p:nvPr/>
        </p:nvSpPr>
        <p:spPr>
          <a:xfrm>
            <a:off x="1635707" y="3441679"/>
            <a:ext cx="658328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E46DB40-CFB8-F219-A1C3-9C8E8651364C}"/>
              </a:ext>
            </a:extLst>
          </p:cNvPr>
          <p:cNvSpPr/>
          <p:nvPr/>
        </p:nvSpPr>
        <p:spPr>
          <a:xfrm>
            <a:off x="3880716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ABFC698-BE9B-EBE9-68CC-847A0F878BAF}"/>
              </a:ext>
            </a:extLst>
          </p:cNvPr>
          <p:cNvSpPr/>
          <p:nvPr/>
        </p:nvSpPr>
        <p:spPr>
          <a:xfrm>
            <a:off x="4798479" y="2868689"/>
            <a:ext cx="638776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4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>
              <a:solidFill>
                <a:srgbClr val="10B981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A84D6AB-EA7F-B978-03D2-7996596B2061}"/>
              </a:ext>
            </a:extLst>
          </p:cNvPr>
          <p:cNvSpPr/>
          <p:nvPr/>
        </p:nvSpPr>
        <p:spPr>
          <a:xfrm>
            <a:off x="4852246" y="3439390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</a:t>
            </a:r>
            <a:endParaRPr lang="en-US" sz="16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CED74ED6-8454-8833-FDE1-1641103F3221}"/>
              </a:ext>
            </a:extLst>
          </p:cNvPr>
          <p:cNvSpPr/>
          <p:nvPr/>
        </p:nvSpPr>
        <p:spPr>
          <a:xfrm>
            <a:off x="3772826" y="4228695"/>
            <a:ext cx="1724473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真实环境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DF6F51E9-D507-CBC6-414C-D34B5044FDA8}"/>
              </a:ext>
            </a:extLst>
          </p:cNvPr>
          <p:cNvSpPr/>
          <p:nvPr/>
        </p:nvSpPr>
        <p:spPr>
          <a:xfrm>
            <a:off x="7034323" y="2728271"/>
            <a:ext cx="144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FA8E5FDA-F06C-AC3C-34F7-4DB217FCC598}"/>
              </a:ext>
            </a:extLst>
          </p:cNvPr>
          <p:cNvSpPr/>
          <p:nvPr/>
        </p:nvSpPr>
        <p:spPr>
          <a:xfrm>
            <a:off x="6400715" y="1670242"/>
            <a:ext cx="2073607" cy="71999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04F8020E-608D-470C-D641-8BD726E7CC6A}"/>
              </a:ext>
            </a:extLst>
          </p:cNvPr>
          <p:cNvSpPr/>
          <p:nvPr/>
        </p:nvSpPr>
        <p:spPr>
          <a:xfrm rot="16200000">
            <a:off x="7561555" y="3854151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3100F8E7-1A49-95EC-1285-E956D8B6D80E}"/>
              </a:ext>
            </a:extLst>
          </p:cNvPr>
          <p:cNvSpPr/>
          <p:nvPr/>
        </p:nvSpPr>
        <p:spPr>
          <a:xfrm>
            <a:off x="3247109" y="3200798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B24844C-EAF1-4402-136B-A59F2D8FDA35}"/>
              </a:ext>
            </a:extLst>
          </p:cNvPr>
          <p:cNvSpPr/>
          <p:nvPr/>
        </p:nvSpPr>
        <p:spPr>
          <a:xfrm rot="5400000">
            <a:off x="4872021" y="384617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7A5A7AC5-EAC1-DD50-2DF0-9ADAB932ADF1}"/>
              </a:ext>
            </a:extLst>
          </p:cNvPr>
          <p:cNvSpPr/>
          <p:nvPr/>
        </p:nvSpPr>
        <p:spPr>
          <a:xfrm rot="16200000">
            <a:off x="1781225" y="3846177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84A9B59D-8503-A0D9-0D11-4FD06B353E6F}"/>
              </a:ext>
            </a:extLst>
          </p:cNvPr>
          <p:cNvSpPr/>
          <p:nvPr/>
        </p:nvSpPr>
        <p:spPr>
          <a:xfrm rot="5400000">
            <a:off x="4850810" y="2442140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44C231F5-06D2-B46C-798F-E2B63C1290E4}"/>
              </a:ext>
            </a:extLst>
          </p:cNvPr>
          <p:cNvSpPr/>
          <p:nvPr/>
        </p:nvSpPr>
        <p:spPr>
          <a:xfrm rot="16200000">
            <a:off x="1760014" y="2442139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CFB964F4-F09C-D807-D7BA-E8ED30091EEC}"/>
              </a:ext>
            </a:extLst>
          </p:cNvPr>
          <p:cNvSpPr/>
          <p:nvPr/>
        </p:nvSpPr>
        <p:spPr>
          <a:xfrm rot="10800000">
            <a:off x="6395547" y="3159882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6143D695-7AD8-2D1B-EF81-115F0383D0B3}"/>
              </a:ext>
            </a:extLst>
          </p:cNvPr>
          <p:cNvSpPr/>
          <p:nvPr/>
        </p:nvSpPr>
        <p:spPr>
          <a:xfrm>
            <a:off x="7425159" y="2900352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4800" dirty="0">
              <a:solidFill>
                <a:srgbClr val="F59E0B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F086DA6F-722E-6E81-B54E-6C407454FFC4}"/>
              </a:ext>
            </a:extLst>
          </p:cNvPr>
          <p:cNvSpPr/>
          <p:nvPr/>
        </p:nvSpPr>
        <p:spPr>
          <a:xfrm>
            <a:off x="4706763" y="1729795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</a:t>
            </a:r>
            <a:endParaRPr lang="en-US" sz="4800" dirty="0">
              <a:solidFill>
                <a:srgbClr val="3B82F6"/>
              </a:solidFill>
            </a:endParaRP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8C84105B-7367-5637-7259-1201C7A6F938}"/>
              </a:ext>
            </a:extLst>
          </p:cNvPr>
          <p:cNvSpPr/>
          <p:nvPr/>
        </p:nvSpPr>
        <p:spPr>
          <a:xfrm>
            <a:off x="7305091" y="1896708"/>
            <a:ext cx="873303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精细感知</a:t>
            </a:r>
            <a:endParaRPr lang="en-US" sz="16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5FA90304-96E2-00CC-9342-C739A130FBB0}"/>
              </a:ext>
            </a:extLst>
          </p:cNvPr>
          <p:cNvSpPr/>
          <p:nvPr/>
        </p:nvSpPr>
        <p:spPr>
          <a:xfrm>
            <a:off x="5874103" y="1944287"/>
            <a:ext cx="1015085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潜空间  联合  扩展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E05FD076-0A2E-4FE9-8EB7-823125A18013}"/>
              </a:ext>
            </a:extLst>
          </p:cNvPr>
          <p:cNvSpPr/>
          <p:nvPr/>
        </p:nvSpPr>
        <p:spPr>
          <a:xfrm>
            <a:off x="7276691" y="3439389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精细引导</a:t>
            </a:r>
            <a:endParaRPr lang="en-US" sz="16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B1CB56BE-D51D-D48C-7DDC-644B9528AC0B}"/>
              </a:ext>
            </a:extLst>
          </p:cNvPr>
          <p:cNvSpPr/>
          <p:nvPr/>
        </p:nvSpPr>
        <p:spPr>
          <a:xfrm>
            <a:off x="1962389" y="1912190"/>
            <a:ext cx="1376442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  决策</a:t>
            </a:r>
            <a:endParaRPr lang="en-US" sz="1600" dirty="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CA575DE3-D94B-909E-42BD-12CCEAA64634}"/>
              </a:ext>
            </a:extLst>
          </p:cNvPr>
          <p:cNvSpPr/>
          <p:nvPr/>
        </p:nvSpPr>
        <p:spPr>
          <a:xfrm>
            <a:off x="73152" y="2571750"/>
            <a:ext cx="8602274" cy="1383030"/>
          </a:xfrm>
          <a:prstGeom prst="round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5CEF54CF-A1F4-54A5-B2C7-AAD350323C40}"/>
              </a:ext>
            </a:extLst>
          </p:cNvPr>
          <p:cNvSpPr/>
          <p:nvPr/>
        </p:nvSpPr>
        <p:spPr>
          <a:xfrm>
            <a:off x="146871" y="3103866"/>
            <a:ext cx="563907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端到端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功能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BD68DFD9-913D-0E73-B7DB-9E85699EE67D}"/>
              </a:ext>
            </a:extLst>
          </p:cNvPr>
          <p:cNvSpPr/>
          <p:nvPr/>
        </p:nvSpPr>
        <p:spPr>
          <a:xfrm>
            <a:off x="73151" y="1521562"/>
            <a:ext cx="8602275" cy="2429308"/>
          </a:xfrm>
          <a:prstGeom prst="roundRect">
            <a:avLst/>
          </a:prstGeom>
          <a:noFill/>
          <a:ln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62140ECF-CEF8-D571-A73C-A8D26ECC58AD}"/>
              </a:ext>
            </a:extLst>
          </p:cNvPr>
          <p:cNvSpPr/>
          <p:nvPr/>
        </p:nvSpPr>
        <p:spPr>
          <a:xfrm>
            <a:off x="146870" y="1781754"/>
            <a:ext cx="658328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压缩优化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F2D1DEBC-4688-3F63-BDB2-870CFA32A308}"/>
              </a:ext>
            </a:extLst>
          </p:cNvPr>
          <p:cNvSpPr/>
          <p:nvPr/>
        </p:nvSpPr>
        <p:spPr>
          <a:xfrm rot="16200000">
            <a:off x="7561555" y="243545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A7105D7-7D0F-8058-7DA6-E6C5015C1BC7}"/>
              </a:ext>
            </a:extLst>
          </p:cNvPr>
          <p:cNvSpPr txBox="1"/>
          <p:nvPr/>
        </p:nvSpPr>
        <p:spPr>
          <a:xfrm>
            <a:off x="146871" y="1180040"/>
            <a:ext cx="89561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引入</a:t>
            </a:r>
            <a:r>
              <a:rPr lang="zh-CN" altLang="en-US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自研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 </a:t>
            </a:r>
            <a:r>
              <a:rPr lang="zh-CN" altLang="en-US" sz="1500" b="1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精细感知</a:t>
            </a:r>
            <a:r>
              <a:rPr lang="zh-CN" altLang="zh-CN" sz="1500" b="1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模型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，联合扩展 </a:t>
            </a:r>
            <a:r>
              <a:rPr lang="zh-CN" altLang="zh-CN" sz="1500" b="1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Z潜空间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 的</a:t>
            </a:r>
            <a:r>
              <a:rPr lang="zh-CN" altLang="en-US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精密</a:t>
            </a:r>
            <a:r>
              <a:rPr lang="zh-CN" altLang="en-US" sz="1500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操作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能力。系统升级</a:t>
            </a:r>
            <a:r>
              <a:rPr lang="zh-CN" altLang="en-US" sz="1500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以</a:t>
            </a:r>
            <a:r>
              <a:rPr lang="en-US" altLang="zh-CN" sz="1500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Z-MAX</a:t>
            </a:r>
            <a:r>
              <a:rPr lang="zh-CN" altLang="en-US" sz="1500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主导的具身智能系统</a:t>
            </a:r>
            <a:endParaRPr lang="zh-CN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8473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0B4A0-5E0D-9625-48DD-225FFF66E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11">
            <a:extLst>
              <a:ext uri="{FF2B5EF4-FFF2-40B4-BE49-F238E27FC236}">
                <a16:creationId xmlns:a16="http://schemas.microsoft.com/office/drawing/2014/main" id="{FB69DB26-D368-EE86-3B7F-5425082DFA39}"/>
              </a:ext>
            </a:extLst>
          </p:cNvPr>
          <p:cNvSpPr/>
          <p:nvPr/>
        </p:nvSpPr>
        <p:spPr>
          <a:xfrm>
            <a:off x="731519" y="4146300"/>
            <a:ext cx="7742803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AF2AE5C-BDC6-A149-06E0-6FDA8938B1E4}"/>
              </a:ext>
            </a:extLst>
          </p:cNvPr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CN" alt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产品迭代策略  </a:t>
            </a:r>
            <a:r>
              <a:rPr lang="zh-CN" altLang="zh-CN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空间感知与全域认知闭环</a:t>
            </a:r>
            <a:endParaRPr lang="en-US" altLang="zh-CN" sz="36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61778BF-35D6-8267-03CC-DEEC197E92AF}"/>
              </a:ext>
            </a:extLst>
          </p:cNvPr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F22B668-9EE9-ADE9-A063-29D7E5ED93D3}"/>
              </a:ext>
            </a:extLst>
          </p:cNvPr>
          <p:cNvSpPr/>
          <p:nvPr/>
        </p:nvSpPr>
        <p:spPr>
          <a:xfrm>
            <a:off x="731520" y="1670242"/>
            <a:ext cx="5669196" cy="72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96719CD-4383-266A-7AC9-CAE04CCB28F4}"/>
              </a:ext>
            </a:extLst>
          </p:cNvPr>
          <p:cNvSpPr/>
          <p:nvPr/>
        </p:nvSpPr>
        <p:spPr>
          <a:xfrm>
            <a:off x="727109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D5FD66F-D55C-D8F7-1DA8-A5B50F13CE27}"/>
              </a:ext>
            </a:extLst>
          </p:cNvPr>
          <p:cNvSpPr/>
          <p:nvPr/>
        </p:nvSpPr>
        <p:spPr>
          <a:xfrm>
            <a:off x="1633224" y="2928568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</a:t>
            </a:r>
            <a:endParaRPr lang="en-US" sz="4800" dirty="0">
              <a:solidFill>
                <a:srgbClr val="06B6D4"/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A0AA15D-5F3E-9089-D5CC-73D018ADD054}"/>
              </a:ext>
            </a:extLst>
          </p:cNvPr>
          <p:cNvSpPr/>
          <p:nvPr/>
        </p:nvSpPr>
        <p:spPr>
          <a:xfrm>
            <a:off x="1635707" y="3441679"/>
            <a:ext cx="658328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多模态</a:t>
            </a:r>
            <a:endParaRPr lang="en-US"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917E98A-5188-604A-E81F-487565303407}"/>
              </a:ext>
            </a:extLst>
          </p:cNvPr>
          <p:cNvSpPr/>
          <p:nvPr/>
        </p:nvSpPr>
        <p:spPr>
          <a:xfrm>
            <a:off x="3880716" y="2728271"/>
            <a:ext cx="252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6AB3538-824F-C81B-6619-CF480B8699B2}"/>
              </a:ext>
            </a:extLst>
          </p:cNvPr>
          <p:cNvSpPr/>
          <p:nvPr/>
        </p:nvSpPr>
        <p:spPr>
          <a:xfrm>
            <a:off x="4798479" y="2868689"/>
            <a:ext cx="638776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4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4800" dirty="0">
              <a:solidFill>
                <a:srgbClr val="10B981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8439FB7-EA4F-7B16-3FF7-261FBCA81B39}"/>
              </a:ext>
            </a:extLst>
          </p:cNvPr>
          <p:cNvSpPr/>
          <p:nvPr/>
        </p:nvSpPr>
        <p:spPr>
          <a:xfrm>
            <a:off x="4852246" y="3439390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</a:t>
            </a:r>
            <a:endParaRPr lang="en-US" sz="16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AC3B1873-F787-FE1D-0D7B-7AB90DA0D7F0}"/>
              </a:ext>
            </a:extLst>
          </p:cNvPr>
          <p:cNvSpPr/>
          <p:nvPr/>
        </p:nvSpPr>
        <p:spPr>
          <a:xfrm>
            <a:off x="3772826" y="4228695"/>
            <a:ext cx="1724473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2800" b="1" dirty="0">
                <a:solidFill>
                  <a:schemeClr val="accent4">
                    <a:lumMod val="50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真实环境</a:t>
            </a:r>
            <a:endParaRPr lang="en-US" sz="2800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9609803A-D679-3733-EB79-9A69847E7802}"/>
              </a:ext>
            </a:extLst>
          </p:cNvPr>
          <p:cNvSpPr/>
          <p:nvPr/>
        </p:nvSpPr>
        <p:spPr>
          <a:xfrm>
            <a:off x="7034323" y="2728271"/>
            <a:ext cx="1440000" cy="1080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CDF7EEF6-40BC-8202-8E4F-8C59D36F7DDE}"/>
              </a:ext>
            </a:extLst>
          </p:cNvPr>
          <p:cNvSpPr/>
          <p:nvPr/>
        </p:nvSpPr>
        <p:spPr>
          <a:xfrm>
            <a:off x="6400715" y="1670242"/>
            <a:ext cx="2073607" cy="71999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46FCB74E-53B0-0E54-F6BB-0D0ED6FFFE99}"/>
              </a:ext>
            </a:extLst>
          </p:cNvPr>
          <p:cNvSpPr/>
          <p:nvPr/>
        </p:nvSpPr>
        <p:spPr>
          <a:xfrm rot="16200000">
            <a:off x="7561555" y="3854151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EC02A56F-A493-1D81-B43A-E8419980E592}"/>
              </a:ext>
            </a:extLst>
          </p:cNvPr>
          <p:cNvSpPr/>
          <p:nvPr/>
        </p:nvSpPr>
        <p:spPr>
          <a:xfrm>
            <a:off x="3247109" y="3200798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03F62967-0BD3-EC63-F5BC-91FD9EB17A3E}"/>
              </a:ext>
            </a:extLst>
          </p:cNvPr>
          <p:cNvSpPr/>
          <p:nvPr/>
        </p:nvSpPr>
        <p:spPr>
          <a:xfrm rot="5400000">
            <a:off x="4872021" y="384617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A9425235-E80C-5FBC-D09A-9D3DE363B216}"/>
              </a:ext>
            </a:extLst>
          </p:cNvPr>
          <p:cNvSpPr/>
          <p:nvPr/>
        </p:nvSpPr>
        <p:spPr>
          <a:xfrm rot="16200000">
            <a:off x="1781225" y="3846177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E5B2D419-CDB1-7B96-90A4-A700C0E7478C}"/>
              </a:ext>
            </a:extLst>
          </p:cNvPr>
          <p:cNvSpPr/>
          <p:nvPr/>
        </p:nvSpPr>
        <p:spPr>
          <a:xfrm rot="5400000">
            <a:off x="4850810" y="2442140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5C2455E2-6E67-84E3-C170-43721AF72EDE}"/>
              </a:ext>
            </a:extLst>
          </p:cNvPr>
          <p:cNvSpPr/>
          <p:nvPr/>
        </p:nvSpPr>
        <p:spPr>
          <a:xfrm rot="16200000">
            <a:off x="1760014" y="2442139"/>
            <a:ext cx="327813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293FFA57-DE7C-60CA-094A-A29A95B12DC1}"/>
              </a:ext>
            </a:extLst>
          </p:cNvPr>
          <p:cNvSpPr/>
          <p:nvPr/>
        </p:nvSpPr>
        <p:spPr>
          <a:xfrm rot="10800000">
            <a:off x="6395547" y="3159882"/>
            <a:ext cx="638776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986ADEA5-A141-1689-E2A0-BCC2E6407089}"/>
              </a:ext>
            </a:extLst>
          </p:cNvPr>
          <p:cNvSpPr/>
          <p:nvPr/>
        </p:nvSpPr>
        <p:spPr>
          <a:xfrm>
            <a:off x="7425159" y="2900352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4800" dirty="0">
              <a:solidFill>
                <a:srgbClr val="F59E0B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46BD9C9C-6212-A2F5-E011-BA0E059D5A93}"/>
              </a:ext>
            </a:extLst>
          </p:cNvPr>
          <p:cNvSpPr/>
          <p:nvPr/>
        </p:nvSpPr>
        <p:spPr>
          <a:xfrm>
            <a:off x="4706763" y="1729795"/>
            <a:ext cx="658328" cy="600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</a:t>
            </a:r>
            <a:endParaRPr lang="en-US" sz="4800" dirty="0">
              <a:solidFill>
                <a:srgbClr val="3B82F6"/>
              </a:solidFill>
            </a:endParaRPr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B526AA56-AEFB-6891-2E06-1C7B0A6C114D}"/>
              </a:ext>
            </a:extLst>
          </p:cNvPr>
          <p:cNvSpPr/>
          <p:nvPr/>
        </p:nvSpPr>
        <p:spPr>
          <a:xfrm>
            <a:off x="7305091" y="1896708"/>
            <a:ext cx="873303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空间感知</a:t>
            </a:r>
            <a:endParaRPr lang="en-US" sz="16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B527D7D2-1843-F3C3-B89C-6B5AA24E9DD8}"/>
              </a:ext>
            </a:extLst>
          </p:cNvPr>
          <p:cNvSpPr/>
          <p:nvPr/>
        </p:nvSpPr>
        <p:spPr>
          <a:xfrm>
            <a:off x="5874103" y="1944287"/>
            <a:ext cx="1015085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9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潜空间  联合  扩展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E2418F21-C924-D83E-2987-8525BB4855C4}"/>
              </a:ext>
            </a:extLst>
          </p:cNvPr>
          <p:cNvSpPr/>
          <p:nvPr/>
        </p:nvSpPr>
        <p:spPr>
          <a:xfrm>
            <a:off x="7276691" y="3439389"/>
            <a:ext cx="823127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场景引导</a:t>
            </a:r>
            <a:endParaRPr lang="en-US" sz="16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20F473FD-E594-4A5E-6009-84D2D13F967E}"/>
              </a:ext>
            </a:extLst>
          </p:cNvPr>
          <p:cNvSpPr/>
          <p:nvPr/>
        </p:nvSpPr>
        <p:spPr>
          <a:xfrm>
            <a:off x="1962389" y="1912190"/>
            <a:ext cx="1376442" cy="26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  决策</a:t>
            </a:r>
            <a:endParaRPr lang="en-US" sz="1600" dirty="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E517240-A72F-FA6E-DD43-D4A2777B3B88}"/>
              </a:ext>
            </a:extLst>
          </p:cNvPr>
          <p:cNvSpPr/>
          <p:nvPr/>
        </p:nvSpPr>
        <p:spPr>
          <a:xfrm>
            <a:off x="73152" y="2571750"/>
            <a:ext cx="6559466" cy="1383030"/>
          </a:xfrm>
          <a:prstGeom prst="round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84BC1060-5F86-B2E0-7EA2-2707FDD5AD13}"/>
              </a:ext>
            </a:extLst>
          </p:cNvPr>
          <p:cNvSpPr/>
          <p:nvPr/>
        </p:nvSpPr>
        <p:spPr>
          <a:xfrm>
            <a:off x="146871" y="3103866"/>
            <a:ext cx="563907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端到端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功能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9642A883-F4AA-887E-AA4D-5594EF57A5EB}"/>
              </a:ext>
            </a:extLst>
          </p:cNvPr>
          <p:cNvSpPr/>
          <p:nvPr/>
        </p:nvSpPr>
        <p:spPr>
          <a:xfrm>
            <a:off x="6632618" y="1521562"/>
            <a:ext cx="2438230" cy="2429308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D0C13312-ADA9-3875-1EB3-45984009696D}"/>
              </a:ext>
            </a:extLst>
          </p:cNvPr>
          <p:cNvSpPr/>
          <p:nvPr/>
        </p:nvSpPr>
        <p:spPr>
          <a:xfrm>
            <a:off x="8611180" y="2413231"/>
            <a:ext cx="415776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      </a:t>
            </a:r>
            <a:endParaRPr lang="en-US" altLang="zh-CN" sz="1500" dirty="0">
              <a:solidFill>
                <a:schemeClr val="bg1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l">
              <a:buNone/>
            </a:pPr>
            <a:r>
              <a:rPr lang="en-US" altLang="zh-CN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  12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（可选）</a:t>
            </a:r>
            <a:endParaRPr lang="en-US" altLang="zh-CN" sz="1000" dirty="0">
              <a:solidFill>
                <a:schemeClr val="bg1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CC89815C-2002-B789-CA53-4552AECAB48B}"/>
              </a:ext>
            </a:extLst>
          </p:cNvPr>
          <p:cNvSpPr/>
          <p:nvPr/>
        </p:nvSpPr>
        <p:spPr>
          <a:xfrm>
            <a:off x="73152" y="1521562"/>
            <a:ext cx="6559466" cy="2429308"/>
          </a:xfrm>
          <a:prstGeom prst="roundRect">
            <a:avLst/>
          </a:prstGeom>
          <a:noFill/>
          <a:ln>
            <a:solidFill>
              <a:srgbClr val="FFFF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3E0A677F-3CA5-A064-AC80-70C92171DA84}"/>
              </a:ext>
            </a:extLst>
          </p:cNvPr>
          <p:cNvSpPr/>
          <p:nvPr/>
        </p:nvSpPr>
        <p:spPr>
          <a:xfrm>
            <a:off x="146870" y="1781754"/>
            <a:ext cx="658328" cy="365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5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系统 </a:t>
            </a:r>
            <a:r>
              <a:rPr lang="en-US" altLang="zh-CN" sz="10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11</a:t>
            </a:r>
          </a:p>
          <a:p>
            <a:pPr marL="0" indent="0" algn="l">
              <a:buNone/>
            </a:pPr>
            <a:r>
              <a:rPr lang="zh-CN" altLang="en-US" sz="1000" dirty="0">
                <a:solidFill>
                  <a:schemeClr val="accent4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-120"/>
              </a:rPr>
              <a:t>压缩优化</a:t>
            </a:r>
            <a:endParaRPr lang="en-US" altLang="zh-CN" sz="1000" dirty="0">
              <a:solidFill>
                <a:schemeClr val="accent4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F9FE903B-F578-3CE1-1C21-7A9961790103}"/>
              </a:ext>
            </a:extLst>
          </p:cNvPr>
          <p:cNvSpPr/>
          <p:nvPr/>
        </p:nvSpPr>
        <p:spPr>
          <a:xfrm rot="16200000">
            <a:off x="7561555" y="2435458"/>
            <a:ext cx="327812" cy="252000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D4CFB8A-BC0A-C671-3815-C7278A7907CC}"/>
              </a:ext>
            </a:extLst>
          </p:cNvPr>
          <p:cNvSpPr txBox="1"/>
          <p:nvPr/>
        </p:nvSpPr>
        <p:spPr>
          <a:xfrm>
            <a:off x="146871" y="1180040"/>
            <a:ext cx="89561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500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可选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 </a:t>
            </a:r>
            <a:r>
              <a:rPr lang="zh-CN" altLang="zh-CN" sz="1500" b="1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场景引导模型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，联合扩展 </a:t>
            </a:r>
            <a:r>
              <a:rPr lang="zh-CN" altLang="zh-CN" sz="1500" b="1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Z潜空间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 的空间理解能力。系统</a:t>
            </a:r>
            <a:r>
              <a:rPr lang="zh-CN" altLang="en-US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配置</a:t>
            </a:r>
            <a:r>
              <a:rPr lang="zh-CN" altLang="zh-CN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为</a:t>
            </a:r>
            <a:r>
              <a:rPr lang="zh-CN" altLang="en-US" sz="1500" b="0" i="0" dirty="0">
                <a:solidFill>
                  <a:schemeClr val="accent4">
                    <a:lumMod val="20000"/>
                    <a:lumOff val="80000"/>
                  </a:schemeClr>
                </a:solidFill>
                <a:effectLst/>
                <a:latin typeface="quote-cjk-patch"/>
              </a:rPr>
              <a:t>因果</a:t>
            </a:r>
            <a:r>
              <a:rPr lang="zh-CN" altLang="en-US" sz="1500" dirty="0">
                <a:solidFill>
                  <a:schemeClr val="accent4">
                    <a:lumMod val="20000"/>
                    <a:lumOff val="80000"/>
                  </a:schemeClr>
                </a:solidFill>
                <a:latin typeface="quote-cjk-patch"/>
              </a:rPr>
              <a:t>具身智能。</a:t>
            </a:r>
            <a:endParaRPr lang="zh-CN" altLang="en-US" sz="1500" dirty="0"/>
          </a:p>
        </p:txBody>
      </p:sp>
    </p:spTree>
    <p:extLst>
      <p:ext uri="{BB962C8B-B14F-4D97-AF65-F5344CB8AC3E}">
        <p14:creationId xmlns:p14="http://schemas.microsoft.com/office/powerpoint/2010/main" val="722190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核心优势与商业价值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62700F9-7C4F-49B4-A6E4-5E97BF93B530}"/>
              </a:ext>
            </a:extLst>
          </p:cNvPr>
          <p:cNvGrpSpPr/>
          <p:nvPr/>
        </p:nvGrpSpPr>
        <p:grpSpPr>
          <a:xfrm>
            <a:off x="731520" y="1554480"/>
            <a:ext cx="7680960" cy="3271518"/>
            <a:chOff x="731520" y="1554480"/>
            <a:chExt cx="7955280" cy="4480560"/>
          </a:xfrm>
        </p:grpSpPr>
        <p:sp>
          <p:nvSpPr>
            <p:cNvPr id="4" name="Shape 2"/>
            <p:cNvSpPr/>
            <p:nvPr/>
          </p:nvSpPr>
          <p:spPr>
            <a:xfrm>
              <a:off x="731520" y="155448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1005840" y="182880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3B82F6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±0.02</a:t>
              </a:r>
              <a:r>
                <a:rPr lang="en-US" sz="2400" dirty="0">
                  <a:solidFill>
                    <a:srgbClr val="3B82F6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mm</a:t>
              </a:r>
              <a:endParaRPr lang="en-US" sz="48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005840" y="265176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插拔精度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4846320" y="155448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5120640" y="182880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10B98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&gt;99</a:t>
              </a:r>
              <a:r>
                <a:rPr lang="en-US" sz="2400" dirty="0">
                  <a:solidFill>
                    <a:srgbClr val="10B981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%</a:t>
              </a:r>
              <a:endParaRPr lang="en-US" sz="48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120640" y="265176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成功率</a:t>
              </a:r>
              <a:endParaRPr lang="en-US" sz="16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731520" y="347472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1005840" y="374904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06B6D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&lt;10</a:t>
              </a:r>
              <a:r>
                <a:rPr lang="en-US" sz="2400" dirty="0">
                  <a:solidFill>
                    <a:srgbClr val="06B6D4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ms</a:t>
              </a:r>
              <a:endParaRPr lang="en-US" sz="48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05840" y="457200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端侧推理</a:t>
              </a:r>
              <a:endParaRPr lang="en-US" sz="16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846320" y="3474720"/>
              <a:ext cx="3840480" cy="16459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5120640" y="3749040"/>
              <a:ext cx="329184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b="1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7×24</a:t>
              </a:r>
              <a:r>
                <a:rPr lang="en-US" sz="2400" dirty="0">
                  <a:solidFill>
                    <a:srgbClr val="F59E0B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 h</a:t>
              </a:r>
              <a:endParaRPr lang="en-US" sz="48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120640" y="4572000"/>
              <a:ext cx="32918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连续运行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731520" y="5394960"/>
              <a:ext cx="768096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商业价值：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人工成本降低 → </a:t>
              </a:r>
              <a:r>
                <a:rPr lang="en-US" sz="13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单机替代2-3名熟练操作工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良率提升 → </a:t>
              </a:r>
              <a:r>
                <a:rPr lang="en-US" sz="13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减少人工损伤，良率从95%提升至99%+</a:t>
              </a:r>
              <a:endParaRPr lang="en-US" sz="1300" dirty="0"/>
            </a:p>
            <a:p>
              <a:pPr marL="0" indent="0" algn="l">
                <a:buNone/>
              </a:pPr>
              <a:r>
                <a:rPr lang="en-US" sz="13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• 换型时间缩短 → </a:t>
              </a:r>
              <a:r>
                <a:rPr lang="en-US" sz="13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从小时级降至分钟级，柔性生产成为可能</a:t>
              </a:r>
              <a:endParaRPr lang="en-US" sz="13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实施路线图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8FDFA6C-0C86-CCE7-BFB6-21194C27BC57}"/>
              </a:ext>
            </a:extLst>
          </p:cNvPr>
          <p:cNvGrpSpPr/>
          <p:nvPr/>
        </p:nvGrpSpPr>
        <p:grpSpPr>
          <a:xfrm>
            <a:off x="731520" y="1554480"/>
            <a:ext cx="7929880" cy="3347709"/>
            <a:chOff x="731520" y="1554480"/>
            <a:chExt cx="8229600" cy="3474720"/>
          </a:xfrm>
        </p:grpSpPr>
        <p:sp>
          <p:nvSpPr>
            <p:cNvPr id="4" name="Shape 2"/>
            <p:cNvSpPr/>
            <p:nvPr/>
          </p:nvSpPr>
          <p:spPr>
            <a:xfrm>
              <a:off x="2743200" y="2286000"/>
              <a:ext cx="182880" cy="0"/>
            </a:xfrm>
            <a:prstGeom prst="line">
              <a:avLst/>
            </a:prstGeom>
            <a:noFill/>
            <a:ln w="254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73152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Shape 4"/>
            <p:cNvSpPr/>
            <p:nvPr/>
          </p:nvSpPr>
          <p:spPr>
            <a:xfrm>
              <a:off x="731520" y="1554480"/>
              <a:ext cx="1920240" cy="73152"/>
            </a:xfrm>
            <a:prstGeom prst="rect">
              <a:avLst/>
            </a:prstGeom>
            <a:solidFill>
              <a:srgbClr val="10B981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 5"/>
            <p:cNvSpPr/>
            <p:nvPr/>
          </p:nvSpPr>
          <p:spPr>
            <a:xfrm>
              <a:off x="86868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10B98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1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86868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2026 Q3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86868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基础搭建</a:t>
              </a:r>
              <a:endParaRPr lang="en-US" sz="13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86868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硬件底座完成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安全层激活</a:t>
              </a:r>
              <a:endParaRPr lang="en-US" sz="11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4846320" y="2286000"/>
              <a:ext cx="182880" cy="0"/>
            </a:xfrm>
            <a:prstGeom prst="line">
              <a:avLst/>
            </a:prstGeom>
            <a:noFill/>
            <a:ln w="254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Shape 10"/>
            <p:cNvSpPr/>
            <p:nvPr/>
          </p:nvSpPr>
          <p:spPr>
            <a:xfrm>
              <a:off x="283464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Shape 11"/>
            <p:cNvSpPr/>
            <p:nvPr/>
          </p:nvSpPr>
          <p:spPr>
            <a:xfrm>
              <a:off x="2834640" y="1554480"/>
              <a:ext cx="1920240" cy="73152"/>
            </a:xfrm>
            <a:prstGeom prst="rect">
              <a:avLst/>
            </a:prstGeom>
            <a:solidFill>
              <a:srgbClr val="06B6D4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297180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6B6D4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2</a:t>
              </a:r>
              <a:endParaRPr lang="en-US" sz="1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97180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2026 Q4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297180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单工位验证</a:t>
              </a:r>
              <a:endParaRPr lang="en-US" sz="13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297180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altLang="zh-CN" sz="11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VTLA</a:t>
              </a:r>
              <a:r>
                <a:rPr lang="en-US" sz="1100" dirty="0" err="1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部署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条件自主插拔</a:t>
              </a:r>
              <a:endParaRPr lang="en-US" sz="11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6949440" y="2286000"/>
              <a:ext cx="182880" cy="0"/>
            </a:xfrm>
            <a:prstGeom prst="line">
              <a:avLst/>
            </a:prstGeom>
            <a:noFill/>
            <a:ln w="254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493776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Shape 18"/>
            <p:cNvSpPr/>
            <p:nvPr/>
          </p:nvSpPr>
          <p:spPr>
            <a:xfrm>
              <a:off x="4937760" y="1554480"/>
              <a:ext cx="1920240" cy="73152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507492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59E0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3</a:t>
              </a:r>
              <a:endParaRPr lang="en-US" sz="14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507492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2027 Q1-Q2</a:t>
              </a:r>
              <a:endParaRPr lang="en-US" sz="16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07492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 err="1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产线落地</a:t>
              </a:r>
              <a:endParaRPr lang="en-US" sz="13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07492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SYS-11+12融合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全域无人插拔</a:t>
              </a:r>
              <a:endParaRPr lang="en-US" sz="11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7040880" y="1554480"/>
              <a:ext cx="1920240" cy="3474720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Shape 24"/>
            <p:cNvSpPr/>
            <p:nvPr/>
          </p:nvSpPr>
          <p:spPr>
            <a:xfrm>
              <a:off x="7040880" y="1554480"/>
              <a:ext cx="1920240" cy="73152"/>
            </a:xfrm>
            <a:prstGeom prst="rect">
              <a:avLst/>
            </a:prstGeom>
            <a:solidFill>
              <a:srgbClr val="EC4899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25"/>
            <p:cNvSpPr/>
            <p:nvPr/>
          </p:nvSpPr>
          <p:spPr>
            <a:xfrm>
              <a:off x="7178040" y="173736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EC489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Phase 4</a:t>
              </a:r>
              <a:endParaRPr lang="en-US" sz="14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7178040" y="2103120"/>
              <a:ext cx="16916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8FAFC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2027+</a:t>
              </a:r>
              <a:endParaRPr lang="en-US" sz="16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7178040" y="2560320"/>
              <a:ext cx="169164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8FAF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规模化复制</a:t>
              </a:r>
              <a:endParaRPr lang="en-US" sz="13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7178040" y="3291840"/>
              <a:ext cx="169164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多产线部署</a:t>
              </a:r>
              <a:endParaRPr lang="en-US" sz="1100" dirty="0"/>
            </a:p>
            <a:p>
              <a:pPr marL="0" indent="0" algn="ctr">
                <a:spcAft>
                  <a:spcPts val="400"/>
                </a:spcAft>
                <a:buNone/>
              </a:pPr>
              <a:r>
                <a:rPr lang="en-US" sz="1100" dirty="0">
                  <a:solidFill>
                    <a:srgbClr val="CBD5E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持续优化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1714</TotalTime>
  <Words>490</Words>
  <Application>Microsoft Office PowerPoint</Application>
  <PresentationFormat>全屏显示(16:9)</PresentationFormat>
  <Paragraphs>137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quote-cjk-patch</vt:lpstr>
      <vt:lpstr>Arial</vt:lpstr>
      <vt:lpstr>Arial Black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Z-MAX 多模态动作专家 - 管理层汇报</dc:title>
  <dc:subject>PptxGenJS Presentation</dc:subject>
  <dc:creator>智蜂创元</dc:creator>
  <cp:lastModifiedBy>祥 倪</cp:lastModifiedBy>
  <cp:revision>41</cp:revision>
  <dcterms:created xsi:type="dcterms:W3CDTF">2026-07-01T08:07:32Z</dcterms:created>
  <dcterms:modified xsi:type="dcterms:W3CDTF">2026-07-03T06:05:20Z</dcterms:modified>
</cp:coreProperties>
</file>