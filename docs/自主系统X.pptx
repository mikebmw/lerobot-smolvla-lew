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59" r:id="rId1"/>
    <p:sldMasterId id="2147483660" r:id="rId2"/>
  </p:sldMasterIdLst>
  <p:notesMasterIdLst>
    <p:notesMasterId r:id="rId27"/>
  </p:notesMasterIdLst>
  <p:sldIdLst>
    <p:sldId id="16602661" r:id="rId3"/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16602662" r:id="rId32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L="0"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L="457200"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L="914400"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L="1371600"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L="1828800"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L="2286000"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L="2743200"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L="3200400"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L="3657600"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1" d="100"/>
          <a:sy n="101" d="100"/>
        </p:scale>
        <p:origin x="114" y="180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Master" Target="slideMasters/slideMaster2.xml"/><Relationship Id="rId3" Type="http://schemas.openxmlformats.org/officeDocument/2006/relationships/slide" Target="slides/slide1.xml"/><Relationship Id="rId4" Type="http://schemas.openxmlformats.org/officeDocument/2006/relationships/slide" Target="slides/slide2.xml"/><Relationship Id="rId5" Type="http://schemas.openxmlformats.org/officeDocument/2006/relationships/slide" Target="slides/slide3.xml"/><Relationship Id="rId6" Type="http://schemas.openxmlformats.org/officeDocument/2006/relationships/slide" Target="slides/slide4.xml"/><Relationship Id="rId7" Type="http://schemas.openxmlformats.org/officeDocument/2006/relationships/slide" Target="slides/slide5.xml"/><Relationship Id="rId8" Type="http://schemas.openxmlformats.org/officeDocument/2006/relationships/slide" Target="slides/slide6.xml"/><Relationship Id="rId9" Type="http://schemas.openxmlformats.org/officeDocument/2006/relationships/slide" Target="slides/slide7.xml"/><Relationship Id="rId10" Type="http://schemas.openxmlformats.org/officeDocument/2006/relationships/slide" Target="slides/slide8.xml"/><Relationship Id="rId11" Type="http://schemas.openxmlformats.org/officeDocument/2006/relationships/slide" Target="slides/slide9.xml"/><Relationship Id="rId12" Type="http://schemas.openxmlformats.org/officeDocument/2006/relationships/slide" Target="slides/slide10.xml"/><Relationship Id="rId13" Type="http://schemas.openxmlformats.org/officeDocument/2006/relationships/slide" Target="slides/slide11.xml"/><Relationship Id="rId14" Type="http://schemas.openxmlformats.org/officeDocument/2006/relationships/slide" Target="slides/slide12.xml"/><Relationship Id="rId15" Type="http://schemas.openxmlformats.org/officeDocument/2006/relationships/slide" Target="slides/slide13.xml"/><Relationship Id="rId16" Type="http://schemas.openxmlformats.org/officeDocument/2006/relationships/slide" Target="slides/slide14.xml"/><Relationship Id="rId17" Type="http://schemas.openxmlformats.org/officeDocument/2006/relationships/slide" Target="slides/slide15.xml"/><Relationship Id="rId18" Type="http://schemas.openxmlformats.org/officeDocument/2006/relationships/slide" Target="slides/slide16.xml"/><Relationship Id="rId19" Type="http://schemas.openxmlformats.org/officeDocument/2006/relationships/slide" Target="slides/slide17.xml"/><Relationship Id="rId20" Type="http://schemas.openxmlformats.org/officeDocument/2006/relationships/slide" Target="slides/slide18.xml"/><Relationship Id="rId21" Type="http://schemas.openxmlformats.org/officeDocument/2006/relationships/slide" Target="slides/slide19.xml"/><Relationship Id="rId22" Type="http://schemas.openxmlformats.org/officeDocument/2006/relationships/slide" Target="slides/slide20.xml"/><Relationship Id="rId23" Type="http://schemas.openxmlformats.org/officeDocument/2006/relationships/slide" Target="slides/slide21.xml"/><Relationship Id="rId24" Type="http://schemas.openxmlformats.org/officeDocument/2006/relationships/slide" Target="slides/slide22.xml"/><Relationship Id="rId25" Type="http://schemas.openxmlformats.org/officeDocument/2006/relationships/slide" Target="slides/slide23.xml"/><Relationship Id="rId26" Type="http://schemas.openxmlformats.org/officeDocument/2006/relationships/slide" Target="slides/slide24.xml"/><Relationship Id="rId27" Type="http://schemas.openxmlformats.org/officeDocument/2006/relationships/notesMaster" Target="notesMasters/notesMaster1.xml"/><Relationship Id="rId28" Type="http://schemas.openxmlformats.org/officeDocument/2006/relationships/presProps" Target="presProps.xml"/><Relationship Id="rId29" Type="http://schemas.openxmlformats.org/officeDocument/2006/relationships/viewProps" Target="viewProps.xml"/><Relationship Id="rId30" Type="http://schemas.openxmlformats.org/officeDocument/2006/relationships/theme" Target="theme/theme1.xml"/><Relationship Id="rId31" Type="http://schemas.openxmlformats.org/officeDocument/2006/relationships/tableStyles" Target="tableStyles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30.07.2026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>
          <a:xfrm>
            <a:off x="2290763" y="512763"/>
            <a:ext cx="4562475" cy="2566987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329A40-2E64-4AD7-B150-0D3F8C5A1445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62635814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>
              <a:lnSpc>
                <a:spcPct val="100000"/>
              </a:lnSpc>
              <a:defRPr sz="1364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364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>
              <a:lnSpc>
                <a:spcPct val="100000"/>
              </a:lnSpc>
              <a:defRPr sz="1364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364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wrap="square" lIns="91440" tIns="45720" rIns="91440" bIns="45720" rtlCol="0" anchor="t">
            <a:noAutofit/>
          </a:bodyPr>
          <a:lstStyle>
            <a:lvl1pPr algn="l">
              <a:lnSpc>
                <a:spcPct val="100000"/>
              </a:lnSpc>
              <a:defRPr sz="1364" b="0" i="0" u="none" strike="noStrike"/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364" b="0" i="0" u="none" strike="noStrike">
                <a:solidFill>
                  <a:srgbClr val="000000"/>
                </a:solidFill>
                <a:latin typeface="等线"/>
                <a:ea typeface="等线"/>
                <a:cs typeface="等线"/>
                <a:sym typeface="等线"/>
              </a:rPr>
              <a:t>Click to add text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>
              <a:rPr lang="cs-CZ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90763" y="512763"/>
            <a:ext cx="4562475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400" b="0" i="0" u="none" strike="noStrike"/>
            </a:lvl1pPr>
          </a:lstStyle>
          <a:p>
            <a:pPr algn="l"/>
            <a:endParaRPr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>
              <a:rPr lang="cs-CZ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幻灯片" type="title">
  <p:cSld name="TITLE">
    <p:spTree>
      <p:nvGrpSpPr>
        <p:cNvPr id="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Shape 30"/>
          <p:cNvSpPr txBox="1">
            <a:spLocks noGrp="1"/>
          </p:cNvSpPr>
          <p:nvPr>
            <p:ph type="ctrTitle"/>
          </p:nvPr>
        </p:nvSpPr>
        <p:spPr>
          <a:xfrm>
            <a:off x="1143000" y="841772"/>
            <a:ext cx="6858000" cy="179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3" name="Shape 31"/>
          <p:cNvSpPr txBox="1">
            <a:spLocks noGrp="1"/>
          </p:cNvSpPr>
          <p:nvPr>
            <p:ph type="subTitle" idx="1"/>
          </p:nvPr>
        </p:nvSpPr>
        <p:spPr>
          <a:xfrm>
            <a:off x="1143000" y="2701528"/>
            <a:ext cx="6858000" cy="12418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lvl="0" algn="ctr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/>
            </a:lvl1pPr>
            <a:lvl2pPr lvl="1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9pPr>
          </a:lstStyle>
          <a:p>
            <a:endParaRPr/>
          </a:p>
        </p:txBody>
      </p:sp>
      <p:sp>
        <p:nvSpPr>
          <p:cNvPr id="14" name="Shape 3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5" name="Shape 3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6" name="Shape 3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内容" type="obj">
  <p:cSld name="OBJECT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5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19" name="Shape 55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20" name="Shape 5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1" name="Shape 5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2" name="Shape 5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节标题" type="secHead">
  <p:cSld name="SECTION_HEADER"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Shape 59"/>
          <p:cNvSpPr txBox="1">
            <a:spLocks noGrp="1"/>
          </p:cNvSpPr>
          <p:nvPr>
            <p:ph type="title"/>
          </p:nvPr>
        </p:nvSpPr>
        <p:spPr>
          <a:xfrm>
            <a:off x="623888" y="1282304"/>
            <a:ext cx="7886700" cy="21395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500"/>
              <a:buFont typeface="Arial"/>
              <a:buNone/>
              <a:defRPr sz="45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5" name="Shape 60"/>
          <p:cNvSpPr txBox="1">
            <a:spLocks noGrp="1"/>
          </p:cNvSpPr>
          <p:nvPr>
            <p:ph type="body" idx="1"/>
          </p:nvPr>
        </p:nvSpPr>
        <p:spPr>
          <a:xfrm>
            <a:off x="623888" y="3442097"/>
            <a:ext cx="7886700" cy="11251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500"/>
              <a:buNone/>
              <a:defRPr sz="15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1200"/>
              <a:buNone/>
              <a:defRPr sz="12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6" name="Shape 6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7" name="Shape 6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28" name="Shape 6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两栏内容" type="twoObj">
  <p:cSld name="TWO_OBJECTS">
    <p:spTree>
      <p:nvGrpSpPr>
        <p:cNvPr id="1" name="Shape 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Shape 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1" name="Shape 10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2" name="Shape 11"/>
          <p:cNvSpPr txBox="1">
            <a:spLocks noGrp="1"/>
          </p:cNvSpPr>
          <p:nvPr>
            <p:ph type="body" idx="2"/>
          </p:nvPr>
        </p:nvSpPr>
        <p:spPr>
          <a:xfrm>
            <a:off x="4629150" y="1369219"/>
            <a:ext cx="38862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33" name="Shape 12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4" name="Shape 13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5" name="Shape 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比较" type="twoTxTwoObj">
  <p:cSld name="TWO_OBJECTS_WITH_TEXT">
    <p:spTree>
      <p:nvGrpSpPr>
        <p:cNvPr id="1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Shape 35"/>
          <p:cNvSpPr txBox="1">
            <a:spLocks noGrp="1"/>
          </p:cNvSpPr>
          <p:nvPr>
            <p:ph type="title"/>
          </p:nvPr>
        </p:nvSpPr>
        <p:spPr>
          <a:xfrm>
            <a:off x="629841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38" name="Shape 36"/>
          <p:cNvSpPr txBox="1">
            <a:spLocks noGrp="1"/>
          </p:cNvSpPr>
          <p:nvPr>
            <p:ph type="body" idx="1"/>
          </p:nvPr>
        </p:nvSpPr>
        <p:spPr>
          <a:xfrm>
            <a:off x="629841" y="1260872"/>
            <a:ext cx="3868340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39" name="Shape 37"/>
          <p:cNvSpPr txBox="1">
            <a:spLocks noGrp="1"/>
          </p:cNvSpPr>
          <p:nvPr>
            <p:ph type="body" idx="2"/>
          </p:nvPr>
        </p:nvSpPr>
        <p:spPr>
          <a:xfrm>
            <a:off x="629841" y="1878806"/>
            <a:ext cx="3868340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0" name="Shape 38"/>
          <p:cNvSpPr txBox="1">
            <a:spLocks noGrp="1"/>
          </p:cNvSpPr>
          <p:nvPr>
            <p:ph type="body" idx="3"/>
          </p:nvPr>
        </p:nvSpPr>
        <p:spPr>
          <a:xfrm>
            <a:off x="4629150" y="1260872"/>
            <a:ext cx="3887391" cy="61793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None/>
              <a:defRPr sz="1500" b="1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 b="1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 b="1"/>
            </a:lvl9pPr>
          </a:lstStyle>
          <a:p>
            <a:endParaRPr/>
          </a:p>
        </p:txBody>
      </p:sp>
      <p:sp>
        <p:nvSpPr>
          <p:cNvPr id="41" name="Shape 39"/>
          <p:cNvSpPr txBox="1">
            <a:spLocks noGrp="1"/>
          </p:cNvSpPr>
          <p:nvPr>
            <p:ph type="body" idx="4"/>
          </p:nvPr>
        </p:nvSpPr>
        <p:spPr>
          <a:xfrm>
            <a:off x="4629150" y="1878806"/>
            <a:ext cx="3887391" cy="276344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2" name="Shape 40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3" name="Shape 41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4" name="Shape 42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仅标题" type="titleOnly">
  <p:cSld name="TITLE_ONLY">
    <p:spTree>
      <p:nvGrpSpPr>
        <p:cNvPr id="1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Shape 20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7" name="Shape 2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8" name="Shape 2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49" name="Shape 2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空白" type="blank">
  <p:cSld name="BLANK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Shape 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2" name="Shape 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3" name="Shape 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内容与标题" type="objTx">
  <p:cSld name="OBJECT_WITH_CAPTION_TEXT">
    <p:spTree>
      <p:nvGrpSpPr>
        <p:cNvPr id="1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43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6" name="Shape 44"/>
          <p:cNvSpPr txBox="1">
            <a:spLocks noGrp="1"/>
          </p:cNvSpPr>
          <p:nvPr>
            <p:ph type="body" idx="1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810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marL="914400" lvl="1" indent="-3619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100"/>
              <a:buChar char="•"/>
              <a:defRPr sz="2100"/>
            </a:lvl2pPr>
            <a:lvl3pPr marL="1371600" lvl="2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marL="1828800" lvl="3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4pPr>
            <a:lvl5pPr marL="2286000" lvl="4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5pPr>
            <a:lvl6pPr marL="2743200" lvl="5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6pPr>
            <a:lvl7pPr marL="3200400" lvl="6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7pPr>
            <a:lvl8pPr marL="3657600" lvl="7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8pPr>
            <a:lvl9pPr marL="4114800" lvl="8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Char char="•"/>
              <a:defRPr sz="1500"/>
            </a:lvl9pPr>
          </a:lstStyle>
          <a:p>
            <a:endParaRPr/>
          </a:p>
        </p:txBody>
      </p:sp>
      <p:sp>
        <p:nvSpPr>
          <p:cNvPr id="57" name="Shape 45"/>
          <p:cNvSpPr txBox="1">
            <a:spLocks noGrp="1"/>
          </p:cNvSpPr>
          <p:nvPr>
            <p:ph type="body" idx="2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58" name="Shape 46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59" name="Shape 47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0" name="Shape 48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图片与标题" type="picTx">
  <p:cSld name="PICTURE_WITH_CAPTION_TEX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Shape 24"/>
          <p:cNvSpPr txBox="1">
            <a:spLocks noGrp="1"/>
          </p:cNvSpPr>
          <p:nvPr>
            <p:ph type="title"/>
          </p:nvPr>
        </p:nvSpPr>
        <p:spPr>
          <a:xfrm>
            <a:off x="629841" y="342900"/>
            <a:ext cx="2949178" cy="12001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Shape 25"/>
          <p:cNvSpPr>
            <a:spLocks noGrp="1"/>
          </p:cNvSpPr>
          <p:nvPr>
            <p:ph type="pic" idx="2"/>
          </p:nvPr>
        </p:nvSpPr>
        <p:spPr>
          <a:xfrm>
            <a:off x="3887391" y="740569"/>
            <a:ext cx="4629150" cy="3655219"/>
          </a:xfrm>
          <a:prstGeom prst="rect">
            <a:avLst/>
          </a:prstGeom>
          <a:noFill/>
          <a:ln>
            <a:noFill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26"/>
          <p:cNvSpPr txBox="1">
            <a:spLocks noGrp="1"/>
          </p:cNvSpPr>
          <p:nvPr>
            <p:ph type="body" idx="1"/>
          </p:nvPr>
        </p:nvSpPr>
        <p:spPr>
          <a:xfrm>
            <a:off x="629841" y="1543050"/>
            <a:ext cx="2949178" cy="28586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1pPr>
            <a:lvl2pPr marL="914400" lvl="1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100"/>
              <a:buNone/>
              <a:defRPr sz="1100"/>
            </a:lvl2pPr>
            <a:lvl3pPr marL="1371600" lvl="2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3pPr>
            <a:lvl4pPr marL="1828800" lvl="3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4pPr>
            <a:lvl5pPr marL="2286000" lvl="4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5pPr>
            <a:lvl6pPr marL="2743200" lvl="5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6pPr>
            <a:lvl7pPr marL="3200400" lvl="6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7pPr>
            <a:lvl8pPr marL="3657600" lvl="7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8pPr>
            <a:lvl9pPr marL="4114800" lvl="8" indent="-228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800"/>
              <a:buNone/>
              <a:defRPr sz="800"/>
            </a:lvl9pPr>
          </a:lstStyle>
          <a:p>
            <a:endParaRPr/>
          </a:p>
        </p:txBody>
      </p:sp>
      <p:sp>
        <p:nvSpPr>
          <p:cNvPr id="65" name="Shape 2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6" name="Shape 2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7" name="Shape 2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标题和竖排文字" type="vertTx">
  <p:cSld name="VERTICAL_TEXT">
    <p:spTree>
      <p:nvGrpSpPr>
        <p:cNvPr id="1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Shape 49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0" name="Shape 50"/>
          <p:cNvSpPr txBox="1">
            <a:spLocks noGrp="1"/>
          </p:cNvSpPr>
          <p:nvPr>
            <p:ph type="body" idx="1"/>
          </p:nvPr>
        </p:nvSpPr>
        <p:spPr>
          <a:xfrm rot="5400000">
            <a:off x="2940248" y="-942379"/>
            <a:ext cx="3263504" cy="7886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1" name="Shape 51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2" name="Shape 52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3" name="Shape 53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竖排标题与文本" type="vertTitleAndTx">
  <p:cSld name="VERTICAL_TITLE_AND_VERTICAL_TEXT">
    <p:spTree>
      <p:nvGrpSpPr>
        <p:cNvPr id="1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Shape 15"/>
          <p:cNvSpPr txBox="1">
            <a:spLocks noGrp="1"/>
          </p:cNvSpPr>
          <p:nvPr>
            <p:ph type="title"/>
          </p:nvPr>
        </p:nvSpPr>
        <p:spPr>
          <a:xfrm rot="5400000">
            <a:off x="5350073" y="1467445"/>
            <a:ext cx="4358879" cy="197167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6" name="Shape 16"/>
          <p:cNvSpPr txBox="1">
            <a:spLocks noGrp="1"/>
          </p:cNvSpPr>
          <p:nvPr>
            <p:ph type="body" idx="1"/>
          </p:nvPr>
        </p:nvSpPr>
        <p:spPr>
          <a:xfrm rot="5400000">
            <a:off x="1349573" y="-447080"/>
            <a:ext cx="4358879" cy="58007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77" name="Shape 17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8" name="Shape 18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79" name="Shape 19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lvl="0" indent="0" algn="r">
              <a:spcBef>
                <a:spcPts val="0"/>
              </a:spcBef>
              <a:buNone/>
              <a:defRPr/>
            </a:lvl1pPr>
            <a:lvl2pPr marL="0" lvl="1" indent="0" algn="r">
              <a:spcBef>
                <a:spcPts val="0"/>
              </a:spcBef>
              <a:buNone/>
              <a:defRPr/>
            </a:lvl2pPr>
            <a:lvl3pPr marL="0" lvl="2" indent="0" algn="r">
              <a:spcBef>
                <a:spcPts val="0"/>
              </a:spcBef>
              <a:buNone/>
              <a:defRPr/>
            </a:lvl3pPr>
            <a:lvl4pPr marL="0" lvl="3" indent="0" algn="r">
              <a:spcBef>
                <a:spcPts val="0"/>
              </a:spcBef>
              <a:buNone/>
              <a:defRPr/>
            </a:lvl4pPr>
            <a:lvl5pPr marL="0" lvl="4" indent="0" algn="r">
              <a:spcBef>
                <a:spcPts val="0"/>
              </a:spcBef>
              <a:buNone/>
              <a:defRPr/>
            </a:lvl5pPr>
            <a:lvl6pPr marL="0" lvl="5" indent="0" algn="r">
              <a:spcBef>
                <a:spcPts val="0"/>
              </a:spcBef>
              <a:buNone/>
              <a:defRPr/>
            </a:lvl6pPr>
            <a:lvl7pPr marL="0" lvl="6" indent="0" algn="r">
              <a:spcBef>
                <a:spcPts val="0"/>
              </a:spcBef>
              <a:buNone/>
              <a:defRPr/>
            </a:lvl7pPr>
            <a:lvl8pPr marL="0" lvl="7" indent="0" algn="r">
              <a:spcBef>
                <a:spcPts val="0"/>
              </a:spcBef>
              <a:buNone/>
              <a:defRPr/>
            </a:lvl8pPr>
            <a:lvl9pPr marL="0" lvl="8" indent="0" algn="r">
              <a:spcBef>
                <a:spcPts val="0"/>
              </a:spcBef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6" hasCustomPrompt="1"/>
          </p:nvPr>
        </p:nvSpPr>
        <p:spPr>
          <a:xfrm>
            <a:off x="1524000" y="1122363"/>
            <a:ext cx="9144000" cy="238760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b">
            <a:noAutofit/>
          </a:bodyPr>
          <a:lstStyle>
            <a:lvl1pPr algn="ctr">
              <a:lnSpc>
                <a:spcPct val="91666"/>
              </a:lnSpc>
              <a:defRPr sz="60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</a:pPr>
            <a:r>
              <a:rPr lang="en-US" sz="60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7" hasCustomPrompt="1"/>
          </p:nvPr>
        </p:nvSpPr>
        <p:spPr>
          <a:xfrm>
            <a:off x="1524000" y="3602038"/>
            <a:ext cx="9144000" cy="165576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algn="ctr">
              <a:lnSpc>
                <a:spcPct val="91666"/>
              </a:lnSpc>
              <a:defRPr sz="24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91666"/>
              </a:lnSpc>
              <a:spcBef>
                <a:spcPts val="1000"/>
              </a:spcBef>
            </a:pPr>
            <a:r>
              <a:rPr lang="en-US" sz="24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单击此处编辑母版副标题样式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8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2026/2/10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9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0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B5F14990-D34B-49C0-987A-9A21CF18B7AD}" type="slidenum">
              <a:rPr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l">
              <a:lnSpc>
                <a:spcPct val="91666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 hasCustomPrompt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584200" indent="-355600" algn="l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  <a:lvl2pPr marL="99060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228600" indent="-228600" algn="l">
              <a:lnSpc>
                <a:spcPct val="91666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编辑母版文本样式</a:t>
            </a:r>
          </a:p>
          <a:p>
            <a:pPr marL="685800" lvl="1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第二级</a:t>
            </a:r>
          </a:p>
          <a:p>
            <a:pPr marL="1143000" lvl="2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第三级</a:t>
            </a:r>
          </a:p>
          <a:p>
            <a:pPr marL="1600200" lvl="3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第四级</a:t>
            </a:r>
          </a:p>
          <a:p>
            <a:pPr marL="2057400" lvl="4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第五级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3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2026/2/10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4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15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545E3B5C-13A6-4F23-B5BE-E8CB9A85ED95}" type="slidenum">
              <a:rPr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6" hasCustomPrompt="1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rmAutofit/>
          </a:bodyPr>
          <a:lstStyle>
            <a:lvl1pPr algn="l">
              <a:lnSpc>
                <a:spcPct val="91666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44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7" hasCustomPrompt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rmAutofit/>
          </a:bodyPr>
          <a:lstStyle>
            <a:lvl1pPr marL="584200" indent="-355600" algn="l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  <a:lvl2pPr marL="99060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228600" indent="-228600" algn="l">
              <a:lnSpc>
                <a:spcPct val="91666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编辑母版文本样式</a:t>
            </a:r>
          </a:p>
          <a:p>
            <a:pPr marL="685800" lvl="1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第二级</a:t>
            </a:r>
          </a:p>
          <a:p>
            <a:pPr marL="1143000" lvl="2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第三级</a:t>
            </a:r>
          </a:p>
          <a:p>
            <a:pPr marL="1600200" lvl="3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第四级</a:t>
            </a:r>
          </a:p>
          <a:p>
            <a:pPr marL="2057400" lvl="4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第五级</a:t>
            </a:r>
          </a:p>
        </p:txBody>
      </p:sp>
      <p:sp>
        <p:nvSpPr>
          <p:cNvPr id="4" name="AutoShape 4"/>
          <p:cNvSpPr>
            <a:spLocks noGrp="1"/>
          </p:cNvSpPr>
          <p:nvPr>
            <p:ph type="body" sz="quarter" idx="18" hasCustomPrompt="1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t">
            <a:noAutofit/>
          </a:bodyPr>
          <a:lstStyle>
            <a:lvl1pPr marL="584200" indent="-355600" algn="l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  <a:lvl2pPr marL="990600" indent="-304800"/>
            <a:lvl3pPr marL="1397000" indent="-254000"/>
            <a:lvl4pPr marL="1828800" indent="-228600"/>
            <a:lvl5pPr marL="2286000" indent="-228600"/>
            <a:lvl6pPr marL="2743200" indent="-228600"/>
            <a:lvl7pPr marL="3200400" indent="-228600"/>
            <a:lvl8pPr marL="3657600" indent="-228600"/>
            <a:lvl9pPr marL="4114800" indent="-228600"/>
          </a:lstStyle>
          <a:p>
            <a:pPr marL="228600" indent="-228600" algn="l">
              <a:lnSpc>
                <a:spcPct val="91666"/>
              </a:lnSpc>
              <a:spcBef>
                <a:spcPts val="10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编辑母版文本样式</a:t>
            </a:r>
          </a:p>
          <a:p>
            <a:pPr marL="685800" lvl="1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4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第二级</a:t>
            </a:r>
          </a:p>
          <a:p>
            <a:pPr marL="1143000" lvl="2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20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第三级</a:t>
            </a:r>
          </a:p>
          <a:p>
            <a:pPr marL="1600200" lvl="3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第四级</a:t>
            </a:r>
          </a:p>
          <a:p>
            <a:pPr marL="2057400" lvl="4" indent="-228600" algn="l">
              <a:lnSpc>
                <a:spcPct val="91666"/>
              </a:lnSpc>
              <a:spcBef>
                <a:spcPts val="500"/>
              </a:spcBef>
              <a:buClr>
                <a:srgbClr val="000000"/>
              </a:buClr>
              <a:buFont typeface="Arial"/>
              <a:buChar char="•"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第五级</a:t>
            </a:r>
          </a:p>
        </p:txBody>
      </p:sp>
      <p:sp>
        <p:nvSpPr>
          <p:cNvPr id="5" name="AutoShape 5"/>
          <p:cNvSpPr>
            <a:spLocks noGrp="1"/>
          </p:cNvSpPr>
          <p:nvPr>
            <p:ph type="body" sz="quarter" idx="19" hasCustomPrompt="1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l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2026/2/10</a:t>
            </a:r>
          </a:p>
        </p:txBody>
      </p:sp>
      <p:sp>
        <p:nvSpPr>
          <p:cNvPr id="6" name="AutoShape 6"/>
          <p:cNvSpPr>
            <a:spLocks noGrp="1"/>
          </p:cNvSpPr>
          <p:nvPr>
            <p:ph type="body" sz="quarter" idx="20" hasCustomPrompt="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anchor="ctr">
            <a:noAutofit/>
          </a:bodyPr>
          <a:lstStyle>
            <a:lvl1pPr algn="ctr">
              <a:lnSpc>
                <a:spcPct val="100000"/>
              </a:lnSpc>
              <a:defRPr sz="1200" b="0" i="0" u="none" strike="noStrike" spc="0">
                <a:solidFill>
                  <a:srgbClr val="1F2329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ctr">
              <a:lnSpc>
                <a:spcPct val="100000"/>
              </a:lnSpc>
            </a:pPr>
            <a:r>
              <a:rPr lang="en-US"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Footer</a:t>
            </a:r>
          </a:p>
        </p:txBody>
      </p:sp>
      <p:sp>
        <p:nvSpPr>
          <p:cNvPr id="7" name="AutoShape 7"/>
          <p:cNvSpPr>
            <a:spLocks noGrp="1"/>
          </p:cNvSpPr>
          <p:nvPr>
            <p:ph type="body" sz="quarter" idx="21" hasCustomPrompt="1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r">
              <a:lnSpc>
                <a:spcPct val="100000"/>
              </a:lnSpc>
              <a:defRPr sz="1200" b="0" i="0" u="none" strike="noStrike" spc="0">
                <a:solidFill>
                  <a:srgbClr val="898989">
                    <a:alpha val="100000"/>
                  </a:srgbClr>
                </a:solidFill>
                <a:latin typeface="Arial"/>
              </a:defRPr>
            </a:lvl1pPr>
          </a:lstStyle>
          <a:p>
            <a:pPr marL="0" indent="0" algn="r">
              <a:lnSpc>
                <a:spcPct val="100000"/>
              </a:lnSpc>
            </a:pPr>
            <a:fld id="{C9981455-4A26-4BC1-8895-B4F7A75796CC}" type="slidenum">
              <a:rPr sz="1200" b="0" i="0" u="none" strike="noStrike">
                <a:solidFill>
                  <a:srgbClr val="898989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sz="1200" b="0" i="0" u="none" strike="noStrike">
              <a:solidFill>
                <a:srgbClr val="898989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空白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横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00000" y="108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" name="AutoShape 4"/>
          <p:cNvSpPr>
            <a:spLocks noGrp="1"/>
          </p:cNvSpPr>
          <p:nvPr>
            <p:ph type="body" sz="quarter" idx="22" hasCustomPrompt="1"/>
          </p:nvPr>
        </p:nvSpPr>
        <p:spPr>
          <a:xfrm>
            <a:off x="336000" y="113125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单击此处编辑母版标题样式</a:t>
            </a:r>
          </a:p>
        </p:txBody>
      </p:sp>
      <p:pic>
        <p:nvPicPr>
          <p:cNvPr id="6" name="picture 50">
            <a:extLst>
              <a:ext uri="{FF2B5EF4-FFF2-40B4-BE49-F238E27FC236}">
                <a16:creationId xmlns:a16="http://schemas.microsoft.com/office/drawing/2014/main" id="{2C41FCEE-58D1-CDAA-DAEF-D3C9607BAFA0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共形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5" name="AutoShape 5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6" name="AutoShape 26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pic>
        <p:nvPicPr>
          <p:cNvPr id="47" name="picture 50">
            <a:extLst>
              <a:ext uri="{FF2B5EF4-FFF2-40B4-BE49-F238E27FC236}">
                <a16:creationId xmlns:a16="http://schemas.microsoft.com/office/drawing/2014/main" id="{B2AA05A3-09B9-5026-0F05-0CEA66D5D41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共形_旋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5" name="AutoShape 5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6" name="AutoShape 26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6" name="Connector 46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pic>
        <p:nvPicPr>
          <p:cNvPr id="55" name="picture 50">
            <a:extLst>
              <a:ext uri="{FF2B5EF4-FFF2-40B4-BE49-F238E27FC236}">
                <a16:creationId xmlns:a16="http://schemas.microsoft.com/office/drawing/2014/main" id="{665B377A-8283-7C4B-2A20-77AB08930F3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2_共形_旋转_扩展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5" name="AutoShape 5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6" name="AutoShape 26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6" name="Connector 46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4" name="Connector 54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5" name="Connector 55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6" name="Connector 56"/>
          <p:cNvCxnSpPr/>
          <p:nvPr/>
        </p:nvCxnSpPr>
        <p:spPr>
          <a:xfrm>
            <a:off x="8254800" y="1628999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7" name="Connector 57"/>
          <p:cNvCxnSpPr/>
          <p:nvPr/>
        </p:nvCxnSpPr>
        <p:spPr>
          <a:xfrm rot="-5400000">
            <a:off x="9334200" y="1628399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8" name="Connector 58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9" name="Connector 59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0" name="Connector 60"/>
          <p:cNvCxnSpPr/>
          <p:nvPr/>
        </p:nvCxnSpPr>
        <p:spPr>
          <a:xfrm flipV="1">
            <a:off x="7174800" y="1988999"/>
            <a:ext cx="1200" cy="720001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1" name="Connector 61"/>
          <p:cNvCxnSpPr/>
          <p:nvPr/>
        </p:nvCxnSpPr>
        <p:spPr>
          <a:xfrm>
            <a:off x="10776000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2" name="Connector 62"/>
          <p:cNvCxnSpPr/>
          <p:nvPr/>
        </p:nvCxnSpPr>
        <p:spPr>
          <a:xfrm rot="10800000" flipV="1">
            <a:off x="10776000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3" name="Connector 63"/>
          <p:cNvCxnSpPr/>
          <p:nvPr/>
        </p:nvCxnSpPr>
        <p:spPr>
          <a:xfrm rot="10800000">
            <a:off x="7168338" y="4149000"/>
            <a:ext cx="7662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4" name="Connector 64"/>
          <p:cNvCxnSpPr/>
          <p:nvPr/>
        </p:nvCxnSpPr>
        <p:spPr>
          <a:xfrm rot="5400000">
            <a:off x="8254799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5" name="Connector 65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6" name="Connector 66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7" name="Connector 67"/>
          <p:cNvCxnSpPr/>
          <p:nvPr/>
        </p:nvCxnSpPr>
        <p:spPr>
          <a:xfrm rot="10800000">
            <a:off x="9341146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8" name="Connector 68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9" name="Connector 69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pic>
        <p:nvPicPr>
          <p:cNvPr id="71" name="picture 50">
            <a:extLst>
              <a:ext uri="{FF2B5EF4-FFF2-40B4-BE49-F238E27FC236}">
                <a16:creationId xmlns:a16="http://schemas.microsoft.com/office/drawing/2014/main" id="{FE1265EA-E247-7B05-571F-E7EDBF3AB34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3_共形_旋转_扩展_I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5" name="AutoShape 5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5" name="Group 25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6" name="AutoShape 26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4" name="AutoShape 44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45" name="AutoShape 45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6" name="Connector 46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4" name="Connector 54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5" name="Connector 55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6" name="Connector 56"/>
          <p:cNvCxnSpPr/>
          <p:nvPr/>
        </p:nvCxnSpPr>
        <p:spPr>
          <a:xfrm>
            <a:off x="8254800" y="1628999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7" name="Connector 57"/>
          <p:cNvCxnSpPr/>
          <p:nvPr/>
        </p:nvCxnSpPr>
        <p:spPr>
          <a:xfrm rot="-5400000">
            <a:off x="9334200" y="1628399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8" name="Connector 58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9" name="Connector 59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0" name="Connector 60"/>
          <p:cNvCxnSpPr/>
          <p:nvPr/>
        </p:nvCxnSpPr>
        <p:spPr>
          <a:xfrm flipV="1">
            <a:off x="7174800" y="1988999"/>
            <a:ext cx="1200" cy="720001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1" name="Connector 61"/>
          <p:cNvCxnSpPr/>
          <p:nvPr/>
        </p:nvCxnSpPr>
        <p:spPr>
          <a:xfrm>
            <a:off x="10776000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2" name="Connector 62"/>
          <p:cNvCxnSpPr/>
          <p:nvPr/>
        </p:nvCxnSpPr>
        <p:spPr>
          <a:xfrm rot="10800000" flipV="1">
            <a:off x="10776000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3" name="Connector 63"/>
          <p:cNvCxnSpPr/>
          <p:nvPr/>
        </p:nvCxnSpPr>
        <p:spPr>
          <a:xfrm rot="10800000">
            <a:off x="7168338" y="4149000"/>
            <a:ext cx="7662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4" name="Connector 64"/>
          <p:cNvCxnSpPr/>
          <p:nvPr/>
        </p:nvCxnSpPr>
        <p:spPr>
          <a:xfrm rot="5400000">
            <a:off x="8254799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5" name="Connector 65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6" name="Connector 66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7" name="Connector 67"/>
          <p:cNvCxnSpPr/>
          <p:nvPr/>
        </p:nvCxnSpPr>
        <p:spPr>
          <a:xfrm rot="10800000">
            <a:off x="9341146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8" name="Connector 68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9" name="Connector 69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70" name="AutoShape 70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测量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散射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更新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对称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环境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约束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法规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6.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检测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输出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真值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接口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  <p:pic>
        <p:nvPicPr>
          <p:cNvPr id="72" name="picture 50">
            <a:extLst>
              <a:ext uri="{FF2B5EF4-FFF2-40B4-BE49-F238E27FC236}">
                <a16:creationId xmlns:a16="http://schemas.microsoft.com/office/drawing/2014/main" id="{0860069D-ED86-F8F4-107E-87CFD48229C4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4_共形_旋转_最小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grpSp>
        <p:nvGrpSpPr>
          <p:cNvPr id="4" name="Group 4"/>
          <p:cNvGrpSpPr/>
          <p:nvPr/>
        </p:nvGrpSpPr>
        <p:grpSpPr>
          <a:xfrm>
            <a:off x="1054572" y="1989000"/>
            <a:ext cx="4321428" cy="2880000"/>
            <a:chOff x="1054572" y="1989000"/>
            <a:chExt cx="4321428" cy="2880000"/>
          </a:xfrm>
        </p:grpSpPr>
        <p:sp>
          <p:nvSpPr>
            <p:cNvPr id="5" name="AutoShape 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17" name="Connector 17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8" name="Connector 18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" name="Connector 19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20" name="Connector 20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1" name="AutoShape 21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测量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散射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更新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对称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环境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约束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法规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6.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检测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输出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真值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接口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  <p:pic>
        <p:nvPicPr>
          <p:cNvPr id="23" name="picture 50">
            <a:extLst>
              <a:ext uri="{FF2B5EF4-FFF2-40B4-BE49-F238E27FC236}">
                <a16:creationId xmlns:a16="http://schemas.microsoft.com/office/drawing/2014/main" id="{5CA68CB9-AD4D-95A2-5F60-EA114AD5E369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格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 flipV="1">
            <a:off x="0" y="503499"/>
            <a:ext cx="12204000" cy="65111"/>
          </a:xfrm>
          <a:prstGeom prst="rect">
            <a:avLst/>
          </a:prstGeom>
          <a:solidFill>
            <a:srgbClr val="22518A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2887" b="0" i="0" u="none" strike="noStrike">
                <a:solidFill>
                  <a:srgbClr val="262626"/>
                </a:solidFill>
                <a:latin typeface="Calibri"/>
                <a:ea typeface="Calibri"/>
                <a:cs typeface="Calibri"/>
                <a:sym typeface="Calibri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11748000" y="117000"/>
            <a:ext cx="360000" cy="324000"/>
          </a:xfrm>
          <a:prstGeom prst="triangle">
            <a:avLst>
              <a:gd name="adj" fmla="val 50000"/>
            </a:avLst>
          </a:prstGeom>
          <a:solidFill>
            <a:srgbClr val="4472C4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5577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33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105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35361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1775498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215498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249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321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93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2495087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3935224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37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465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5375726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4655863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09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53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681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7535726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6815863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25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897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897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1041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969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1041517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113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9695315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1113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05563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33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105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177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335224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1775361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3215361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249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321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393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2494950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3935087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537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465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5375589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609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4655726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3" name="AutoShape 53"/>
          <p:cNvSpPr/>
          <p:nvPr/>
        </p:nvSpPr>
        <p:spPr>
          <a:xfrm>
            <a:off x="609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753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681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6" name="AutoShape 56"/>
          <p:cNvSpPr/>
          <p:nvPr/>
        </p:nvSpPr>
        <p:spPr>
          <a:xfrm>
            <a:off x="7535589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7" name="AutoShape 57"/>
          <p:cNvSpPr/>
          <p:nvPr/>
        </p:nvSpPr>
        <p:spPr>
          <a:xfrm>
            <a:off x="825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6815726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825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0" name="AutoShape 60"/>
          <p:cNvSpPr/>
          <p:nvPr/>
        </p:nvSpPr>
        <p:spPr>
          <a:xfrm>
            <a:off x="897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1" name="AutoShape 61"/>
          <p:cNvSpPr/>
          <p:nvPr/>
        </p:nvSpPr>
        <p:spPr>
          <a:xfrm>
            <a:off x="897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1041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969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4" name="AutoShape 64"/>
          <p:cNvSpPr/>
          <p:nvPr/>
        </p:nvSpPr>
        <p:spPr>
          <a:xfrm>
            <a:off x="1041504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5" name="AutoShape 65"/>
          <p:cNvSpPr/>
          <p:nvPr/>
        </p:nvSpPr>
        <p:spPr>
          <a:xfrm>
            <a:off x="1113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9695178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1113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8" name="AutoShape 68"/>
          <p:cNvSpPr/>
          <p:nvPr/>
        </p:nvSpPr>
        <p:spPr>
          <a:xfrm>
            <a:off x="105549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9" name="AutoShape 69"/>
          <p:cNvSpPr/>
          <p:nvPr/>
        </p:nvSpPr>
        <p:spPr>
          <a:xfrm>
            <a:off x="33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105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1" name="AutoShape 71"/>
          <p:cNvSpPr/>
          <p:nvPr/>
        </p:nvSpPr>
        <p:spPr>
          <a:xfrm>
            <a:off x="177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2" name="AutoShape 72"/>
          <p:cNvSpPr/>
          <p:nvPr/>
        </p:nvSpPr>
        <p:spPr>
          <a:xfrm>
            <a:off x="335087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3" name="AutoShape 73"/>
          <p:cNvSpPr/>
          <p:nvPr/>
        </p:nvSpPr>
        <p:spPr>
          <a:xfrm>
            <a:off x="1775224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4" name="AutoShape 74"/>
          <p:cNvSpPr/>
          <p:nvPr/>
        </p:nvSpPr>
        <p:spPr>
          <a:xfrm>
            <a:off x="3215224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5" name="AutoShape 75"/>
          <p:cNvSpPr/>
          <p:nvPr/>
        </p:nvSpPr>
        <p:spPr>
          <a:xfrm>
            <a:off x="249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6" name="AutoShape 76"/>
          <p:cNvSpPr/>
          <p:nvPr/>
        </p:nvSpPr>
        <p:spPr>
          <a:xfrm>
            <a:off x="321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7" name="AutoShape 77"/>
          <p:cNvSpPr/>
          <p:nvPr/>
        </p:nvSpPr>
        <p:spPr>
          <a:xfrm>
            <a:off x="393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8" name="AutoShape 78"/>
          <p:cNvSpPr/>
          <p:nvPr/>
        </p:nvSpPr>
        <p:spPr>
          <a:xfrm>
            <a:off x="2494813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9" name="AutoShape 79"/>
          <p:cNvSpPr/>
          <p:nvPr/>
        </p:nvSpPr>
        <p:spPr>
          <a:xfrm>
            <a:off x="3934950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0" name="AutoShape 80"/>
          <p:cNvSpPr/>
          <p:nvPr/>
        </p:nvSpPr>
        <p:spPr>
          <a:xfrm>
            <a:off x="537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1" name="AutoShape 81"/>
          <p:cNvSpPr/>
          <p:nvPr/>
        </p:nvSpPr>
        <p:spPr>
          <a:xfrm>
            <a:off x="465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2" name="AutoShape 82"/>
          <p:cNvSpPr/>
          <p:nvPr/>
        </p:nvSpPr>
        <p:spPr>
          <a:xfrm>
            <a:off x="5375452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3" name="AutoShape 83"/>
          <p:cNvSpPr/>
          <p:nvPr/>
        </p:nvSpPr>
        <p:spPr>
          <a:xfrm>
            <a:off x="609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4" name="AutoShape 84"/>
          <p:cNvSpPr/>
          <p:nvPr/>
        </p:nvSpPr>
        <p:spPr>
          <a:xfrm>
            <a:off x="4655589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5" name="AutoShape 85"/>
          <p:cNvSpPr/>
          <p:nvPr/>
        </p:nvSpPr>
        <p:spPr>
          <a:xfrm>
            <a:off x="609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6" name="AutoShape 86"/>
          <p:cNvSpPr/>
          <p:nvPr/>
        </p:nvSpPr>
        <p:spPr>
          <a:xfrm>
            <a:off x="753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7" name="AutoShape 87"/>
          <p:cNvSpPr/>
          <p:nvPr/>
        </p:nvSpPr>
        <p:spPr>
          <a:xfrm>
            <a:off x="681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8" name="AutoShape 88"/>
          <p:cNvSpPr/>
          <p:nvPr/>
        </p:nvSpPr>
        <p:spPr>
          <a:xfrm>
            <a:off x="7535452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9" name="AutoShape 89"/>
          <p:cNvSpPr/>
          <p:nvPr/>
        </p:nvSpPr>
        <p:spPr>
          <a:xfrm>
            <a:off x="825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0" name="AutoShape 90"/>
          <p:cNvSpPr/>
          <p:nvPr/>
        </p:nvSpPr>
        <p:spPr>
          <a:xfrm>
            <a:off x="6815589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1" name="AutoShape 91"/>
          <p:cNvSpPr/>
          <p:nvPr/>
        </p:nvSpPr>
        <p:spPr>
          <a:xfrm>
            <a:off x="825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2" name="AutoShape 92"/>
          <p:cNvSpPr/>
          <p:nvPr/>
        </p:nvSpPr>
        <p:spPr>
          <a:xfrm>
            <a:off x="897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3" name="AutoShape 93"/>
          <p:cNvSpPr/>
          <p:nvPr/>
        </p:nvSpPr>
        <p:spPr>
          <a:xfrm>
            <a:off x="897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4" name="AutoShape 94"/>
          <p:cNvSpPr/>
          <p:nvPr/>
        </p:nvSpPr>
        <p:spPr>
          <a:xfrm>
            <a:off x="1041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5" name="AutoShape 95"/>
          <p:cNvSpPr/>
          <p:nvPr/>
        </p:nvSpPr>
        <p:spPr>
          <a:xfrm>
            <a:off x="969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6" name="AutoShape 96"/>
          <p:cNvSpPr/>
          <p:nvPr/>
        </p:nvSpPr>
        <p:spPr>
          <a:xfrm>
            <a:off x="1041490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7" name="AutoShape 97"/>
          <p:cNvSpPr/>
          <p:nvPr/>
        </p:nvSpPr>
        <p:spPr>
          <a:xfrm>
            <a:off x="1113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8" name="AutoShape 98"/>
          <p:cNvSpPr/>
          <p:nvPr/>
        </p:nvSpPr>
        <p:spPr>
          <a:xfrm>
            <a:off x="9695041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9" name="AutoShape 99"/>
          <p:cNvSpPr/>
          <p:nvPr/>
        </p:nvSpPr>
        <p:spPr>
          <a:xfrm>
            <a:off x="1113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0" name="AutoShape 100"/>
          <p:cNvSpPr/>
          <p:nvPr/>
        </p:nvSpPr>
        <p:spPr>
          <a:xfrm>
            <a:off x="105536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1" name="AutoShape 101"/>
          <p:cNvSpPr/>
          <p:nvPr/>
        </p:nvSpPr>
        <p:spPr>
          <a:xfrm>
            <a:off x="33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2" name="AutoShape 102"/>
          <p:cNvSpPr/>
          <p:nvPr/>
        </p:nvSpPr>
        <p:spPr>
          <a:xfrm>
            <a:off x="105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3" name="AutoShape 103"/>
          <p:cNvSpPr/>
          <p:nvPr/>
        </p:nvSpPr>
        <p:spPr>
          <a:xfrm>
            <a:off x="177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4" name="AutoShape 104"/>
          <p:cNvSpPr/>
          <p:nvPr/>
        </p:nvSpPr>
        <p:spPr>
          <a:xfrm>
            <a:off x="334950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5" name="AutoShape 105"/>
          <p:cNvSpPr/>
          <p:nvPr/>
        </p:nvSpPr>
        <p:spPr>
          <a:xfrm>
            <a:off x="1775087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6" name="AutoShape 106"/>
          <p:cNvSpPr/>
          <p:nvPr/>
        </p:nvSpPr>
        <p:spPr>
          <a:xfrm>
            <a:off x="3215087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7" name="AutoShape 107"/>
          <p:cNvSpPr/>
          <p:nvPr/>
        </p:nvSpPr>
        <p:spPr>
          <a:xfrm>
            <a:off x="249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8" name="AutoShape 108"/>
          <p:cNvSpPr/>
          <p:nvPr/>
        </p:nvSpPr>
        <p:spPr>
          <a:xfrm>
            <a:off x="321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9" name="AutoShape 109"/>
          <p:cNvSpPr/>
          <p:nvPr/>
        </p:nvSpPr>
        <p:spPr>
          <a:xfrm>
            <a:off x="393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0" name="AutoShape 110"/>
          <p:cNvSpPr/>
          <p:nvPr/>
        </p:nvSpPr>
        <p:spPr>
          <a:xfrm>
            <a:off x="2494676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1" name="AutoShape 111"/>
          <p:cNvSpPr/>
          <p:nvPr/>
        </p:nvSpPr>
        <p:spPr>
          <a:xfrm>
            <a:off x="3934813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2" name="AutoShape 112"/>
          <p:cNvSpPr/>
          <p:nvPr/>
        </p:nvSpPr>
        <p:spPr>
          <a:xfrm>
            <a:off x="537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3" name="AutoShape 113"/>
          <p:cNvSpPr/>
          <p:nvPr/>
        </p:nvSpPr>
        <p:spPr>
          <a:xfrm>
            <a:off x="465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4" name="AutoShape 114"/>
          <p:cNvSpPr/>
          <p:nvPr/>
        </p:nvSpPr>
        <p:spPr>
          <a:xfrm>
            <a:off x="5375315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5" name="AutoShape 115"/>
          <p:cNvSpPr/>
          <p:nvPr/>
        </p:nvSpPr>
        <p:spPr>
          <a:xfrm>
            <a:off x="609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6" name="AutoShape 116"/>
          <p:cNvSpPr/>
          <p:nvPr/>
        </p:nvSpPr>
        <p:spPr>
          <a:xfrm>
            <a:off x="4655452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7" name="AutoShape 117"/>
          <p:cNvSpPr/>
          <p:nvPr/>
        </p:nvSpPr>
        <p:spPr>
          <a:xfrm>
            <a:off x="609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8" name="AutoShape 118"/>
          <p:cNvSpPr/>
          <p:nvPr/>
        </p:nvSpPr>
        <p:spPr>
          <a:xfrm>
            <a:off x="753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9" name="AutoShape 119"/>
          <p:cNvSpPr/>
          <p:nvPr/>
        </p:nvSpPr>
        <p:spPr>
          <a:xfrm>
            <a:off x="681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0" name="AutoShape 120"/>
          <p:cNvSpPr/>
          <p:nvPr/>
        </p:nvSpPr>
        <p:spPr>
          <a:xfrm>
            <a:off x="7535315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1" name="AutoShape 121"/>
          <p:cNvSpPr/>
          <p:nvPr/>
        </p:nvSpPr>
        <p:spPr>
          <a:xfrm>
            <a:off x="825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2" name="AutoShape 122"/>
          <p:cNvSpPr/>
          <p:nvPr/>
        </p:nvSpPr>
        <p:spPr>
          <a:xfrm>
            <a:off x="6815452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3" name="AutoShape 123"/>
          <p:cNvSpPr/>
          <p:nvPr/>
        </p:nvSpPr>
        <p:spPr>
          <a:xfrm>
            <a:off x="825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4" name="AutoShape 124"/>
          <p:cNvSpPr/>
          <p:nvPr/>
        </p:nvSpPr>
        <p:spPr>
          <a:xfrm>
            <a:off x="897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5" name="AutoShape 125"/>
          <p:cNvSpPr/>
          <p:nvPr/>
        </p:nvSpPr>
        <p:spPr>
          <a:xfrm>
            <a:off x="897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6" name="AutoShape 126"/>
          <p:cNvSpPr/>
          <p:nvPr/>
        </p:nvSpPr>
        <p:spPr>
          <a:xfrm>
            <a:off x="1041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7" name="AutoShape 127"/>
          <p:cNvSpPr/>
          <p:nvPr/>
        </p:nvSpPr>
        <p:spPr>
          <a:xfrm>
            <a:off x="969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8" name="AutoShape 128"/>
          <p:cNvSpPr/>
          <p:nvPr/>
        </p:nvSpPr>
        <p:spPr>
          <a:xfrm>
            <a:off x="1041476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9" name="AutoShape 129"/>
          <p:cNvSpPr/>
          <p:nvPr/>
        </p:nvSpPr>
        <p:spPr>
          <a:xfrm>
            <a:off x="1113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0" name="AutoShape 130"/>
          <p:cNvSpPr/>
          <p:nvPr/>
        </p:nvSpPr>
        <p:spPr>
          <a:xfrm>
            <a:off x="9694904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1" name="AutoShape 131"/>
          <p:cNvSpPr/>
          <p:nvPr/>
        </p:nvSpPr>
        <p:spPr>
          <a:xfrm>
            <a:off x="1113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pic>
        <p:nvPicPr>
          <p:cNvPr id="133" name="picture 50">
            <a:extLst>
              <a:ext uri="{FF2B5EF4-FFF2-40B4-BE49-F238E27FC236}">
                <a16:creationId xmlns:a16="http://schemas.microsoft.com/office/drawing/2014/main" id="{26236CA0-4AD4-6FBE-853D-3181204D2D7D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55361426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slideLayout" Target="../slideLayouts/slideLayout13.xml"/><Relationship Id="rId3" Type="http://schemas.openxmlformats.org/officeDocument/2006/relationships/slideLayout" Target="../slideLayouts/slideLayout14.xml"/><Relationship Id="rId4" Type="http://schemas.openxmlformats.org/officeDocument/2006/relationships/slideLayout" Target="../slideLayouts/slideLayout15.xml"/><Relationship Id="rId5" Type="http://schemas.openxmlformats.org/officeDocument/2006/relationships/slideLayout" Target="../slideLayouts/slideLayout16.xml"/><Relationship Id="rId6" Type="http://schemas.openxmlformats.org/officeDocument/2006/relationships/slideLayout" Target="../slideLayouts/slideLayout17.xml"/><Relationship Id="rId7" Type="http://schemas.openxmlformats.org/officeDocument/2006/relationships/slideLayout" Target="../slideLayouts/slideLayout18.xml"/><Relationship Id="rId8" Type="http://schemas.openxmlformats.org/officeDocument/2006/relationships/slideLayout" Target="../slideLayouts/slideLayout19.xml"/><Relationship Id="rId9" Type="http://schemas.openxmlformats.org/officeDocument/2006/relationships/slideLayout" Target="../slideLayouts/slideLayout20.xml"/><Relationship Id="rId10" Type="http://schemas.openxmlformats.org/officeDocument/2006/relationships/slideLayout" Target="../slideLayouts/slideLayout21.xml"/><Relationship Id="rId11" Type="http://schemas.openxmlformats.org/officeDocument/2006/relationships/slideLayout" Target="../slideLayouts/slideLayout22.xml"/><Relationship Id="rId12" Type="http://schemas.openxmlformats.org/officeDocument/2006/relationships/slideLayout" Target="../slideLayouts/slideLayout23.xml"/><Relationship Id="rId13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Shape 1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17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Arial"/>
              <a:buNone/>
              <a:defRPr sz="33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2pPr>
            <a:lvl3pPr lvl="2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3pPr>
            <a:lvl4pPr lvl="3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4pPr>
            <a:lvl5pPr lvl="4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5pPr>
            <a:lvl6pPr lvl="5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6pPr>
            <a:lvl7pPr lvl="6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7pPr>
            <a:lvl8pPr lvl="7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8pPr>
            <a:lvl9pPr lvl="8">
              <a:spcBef>
                <a:spcPts val="0"/>
              </a:spcBef>
              <a:spcAft>
                <a:spcPts val="0"/>
              </a:spcAft>
              <a:buSzPts val="1100"/>
              <a:buNone/>
              <a:defRPr sz="1400"/>
            </a:lvl9pPr>
          </a:lstStyle>
          <a:p>
            <a:endParaRPr/>
          </a:p>
        </p:txBody>
      </p:sp>
      <p:sp>
        <p:nvSpPr>
          <p:cNvPr id="7" name="Shape 2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50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marR="0" lvl="0" indent="-361950" algn="l" rtl="0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2100"/>
              <a:buFont typeface="Arial"/>
              <a:buChar char="•"/>
              <a:defRPr sz="21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2385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Char char="•"/>
              <a:defRPr sz="15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17500" algn="l" rtl="0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Char char="•"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8" name="Shape 3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9" name="Shape 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R="0" lvl="0" algn="ctr" rtl="0">
              <a:spcBef>
                <a:spcPts val="0"/>
              </a:spcBef>
              <a:spcAft>
                <a:spcPts val="0"/>
              </a:spcAft>
              <a:buSzPts val="1100"/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spcBef>
                <a:spcPts val="0"/>
              </a:spcBef>
              <a:spcAft>
                <a:spcPts val="0"/>
              </a:spcAft>
              <a:buSzPts val="1100"/>
              <a:buNone/>
              <a:defRPr sz="14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0" name="Shape 5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84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spcBef>
                <a:spcPts val="0"/>
              </a:spcBef>
              <a:buNone/>
              <a:defRPr sz="900" b="0" i="0" u="none" strike="noStrike" cap="none">
                <a:solidFill>
                  <a:srgbClr val="888888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zh-CN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Office 主题​​">
    <p:bg>
      <p:bgPr>
        <a:solidFill>
          <a:srgbClr val="FFFFFF">
            <a:alpha val="100000"/>
          </a:srgbClr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57483699" r:id="rId1"/>
    <p:sldLayoutId id="2157483700" r:id="rId2"/>
    <p:sldLayoutId id="2157483701" r:id="rId3"/>
    <p:sldLayoutId id="2157483702" r:id="rId4"/>
    <p:sldLayoutId id="2157483703" r:id="rId5"/>
    <p:sldLayoutId id="2157483704" r:id="rId6"/>
    <p:sldLayoutId id="2157483705" r:id="rId7"/>
    <p:sldLayoutId id="2157483706" r:id="rId8"/>
    <p:sldLayoutId id="2157483707" r:id="rId9"/>
    <p:sldLayoutId id="2157483708" r:id="rId10"/>
    <p:sldLayoutId id="2157483709" r:id="rId11"/>
    <p:sldLayoutId id="2157483710" r:id="rId12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3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6.png"/><Relationship Id="rId3" Type="http://schemas.openxmlformats.org/officeDocument/2006/relationships/image" Target="../media/image7.png"/><Relationship Id="rId4" Type="http://schemas.openxmlformats.org/officeDocument/2006/relationships/image" Target="../media/image8.png"/><Relationship Id="rId5" Type="http://schemas.openxmlformats.org/officeDocument/2006/relationships/image" Target="../media/image9.png"/><Relationship Id="rId6" Type="http://schemas.openxmlformats.org/officeDocument/2006/relationships/image" Target="../media/image10.png"/><Relationship Id="rId7" Type="http://schemas.openxmlformats.org/officeDocument/2006/relationships/image" Target="../media/image11.png"/><Relationship Id="rId8" Type="http://schemas.openxmlformats.org/officeDocument/2006/relationships/image" Target="../media/image12.png"/><Relationship Id="rId9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3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4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0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2"/>
          <p:cNvSpPr/>
          <p:nvPr/>
        </p:nvSpPr>
        <p:spPr>
          <a:xfrm>
            <a:off x="903920" y="4485462"/>
            <a:ext cx="2893872" cy="351465"/>
          </a:xfrm>
          <a:prstGeom prst="rect">
            <a:avLst/>
          </a:prstGeom>
          <a:noFill/>
          <a:ln w="0" cap="flat">
            <a:noFill/>
            <a:prstDash val="solid"/>
            <a:miter lim="0"/>
          </a:ln>
        </p:spPr>
        <p:txBody>
          <a:bodyPr vert="horz" wrap="square" lIns="0" tIns="0" rIns="0" bIns="0"/>
          <a:lstStyle/>
          <a:p>
            <a:pPr defTabSz="456743" eaLnBrk="0">
              <a:lnSpc>
                <a:spcPct val="83000"/>
              </a:lnSpc>
              <a:buClrTx/>
              <a:defRPr/>
            </a:pPr>
            <a:endParaRPr sz="100" kern="1200" dirty="0"/>
          </a:p>
          <a:p>
            <a:pPr marL="6344" defTabSz="456743" eaLnBrk="0">
              <a:lnSpc>
                <a:spcPct val="89000"/>
              </a:lnSpc>
              <a:buClrTx/>
              <a:defRPr/>
            </a:pPr>
            <a:r>
              <a:rPr sz="2498" spc="20" dirty="0">
                <a:solidFill>
                  <a:srgbClr val="EDEDED">
                    <a:alpha val="100000"/>
                  </a:srgbClr>
                </a:solidFill>
                <a:latin typeface="HarmonyOS Sans SC Medium" panose="00000600000000000000" charset="-122"/>
                <a:ea typeface="HarmonyOS Sans SC Medium" panose="00000600000000000000" charset="-122"/>
                <a:cs typeface="HarmonyOS Sans SC Medium" panose="00000600000000000000" charset="-122"/>
              </a:rPr>
              <a:t>掌握智能，蜂动未来</a:t>
            </a:r>
            <a:endParaRPr sz="2498" kern="1200" dirty="0">
              <a:latin typeface="HarmonyOS Sans SC Medium" panose="00000600000000000000" charset="-122"/>
              <a:ea typeface="HarmonyOS Sans SC Medium" panose="00000600000000000000" charset="-122"/>
              <a:cs typeface="HarmonyOS Sans SC Medium" panose="00000600000000000000" charset="-122"/>
            </a:endParaRPr>
          </a:p>
        </p:txBody>
      </p:sp>
      <p:sp>
        <p:nvSpPr>
          <p:cNvPr id="4" name="rect 4"/>
          <p:cNvSpPr/>
          <p:nvPr/>
        </p:nvSpPr>
        <p:spPr>
          <a:xfrm>
            <a:off x="890904" y="4194425"/>
            <a:ext cx="1178764" cy="66696"/>
          </a:xfrm>
          <a:prstGeom prst="rect">
            <a:avLst/>
          </a:prstGeom>
          <a:solidFill>
            <a:srgbClr val="F7A90B">
              <a:alpha val="100000"/>
            </a:srgbClr>
          </a:solidFill>
          <a:ln w="0" cap="flat">
            <a:noFill/>
            <a:prstDash val="solid"/>
            <a:miter lim="0"/>
          </a:ln>
        </p:spPr>
        <p:txBody>
          <a:bodyPr rtlCol="0"/>
          <a:lstStyle/>
          <a:p>
            <a:pPr algn="ctr" defTabSz="456743">
              <a:buClrTx/>
              <a:defRPr/>
            </a:pPr>
            <a:endParaRPr lang="zh-CN" altLang="en-US" sz="899" kern="1200">
              <a:latin typeface="+mn-lt"/>
              <a:ea typeface="+mn-ea"/>
              <a:cs typeface="+mn-cs"/>
            </a:endParaRPr>
          </a:p>
        </p:txBody>
      </p:sp>
      <p:sp>
        <p:nvSpPr>
          <p:cNvPr id="3" name="文本框 2"/>
          <p:cNvSpPr txBox="1"/>
          <p:nvPr/>
        </p:nvSpPr>
        <p:spPr>
          <a:xfrm>
            <a:off x="933150" y="2694350"/>
            <a:ext cx="5091161" cy="13221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defTabSz="456743">
              <a:buClrTx/>
              <a:defRPr/>
            </a:pPr>
            <a:r>
              <a:rPr lang="en-US" altLang="zh-CN" sz="3996" kern="1200">
                <a:solidFill>
                  <a:srgbClr val="FFFFFF"/>
                </a:solidFill>
                <a:latin typeface="HarmonyOS Sans Medium" panose="00000600000000000000" charset="0"/>
                <a:ea typeface="+mn-ea"/>
                <a:cs typeface="HarmonyOS Sans Medium" panose="00000600000000000000" charset="0"/>
              </a:rPr>
              <a:t>Rein Intelligence</a:t>
            </a:r>
          </a:p>
          <a:p>
            <a:pPr defTabSz="456743">
              <a:buClrTx/>
              <a:defRPr/>
            </a:pPr>
            <a:r>
              <a:rPr lang="en-US" altLang="zh-CN" sz="3996" kern="1200">
                <a:solidFill>
                  <a:srgbClr val="FFFFFF"/>
                </a:solidFill>
                <a:latin typeface="HarmonyOS Sans Medium" panose="00000600000000000000" charset="0"/>
                <a:ea typeface="+mn-ea"/>
                <a:cs typeface="HarmonyOS Sans Medium" panose="00000600000000000000" charset="0"/>
              </a:rPr>
              <a:t>Bee the Future</a:t>
            </a:r>
          </a:p>
        </p:txBody>
      </p:sp>
      <p:sp>
        <p:nvSpPr>
          <p:cNvPr id="5" name="文本框 4"/>
          <p:cNvSpPr txBox="1"/>
          <p:nvPr/>
        </p:nvSpPr>
        <p:spPr>
          <a:xfrm>
            <a:off x="10191133" y="6361572"/>
            <a:ext cx="1691978" cy="369075"/>
          </a:xfrm>
          <a:prstGeom prst="rect">
            <a:avLst/>
          </a:prstGeom>
          <a:noFill/>
        </p:spPr>
        <p:txBody>
          <a:bodyPr wrap="square" rtlCol="0" anchor="t">
            <a:spAutoFit/>
          </a:bodyPr>
          <a:lstStyle/>
          <a:p>
            <a:pPr defTabSz="456743">
              <a:buClrTx/>
              <a:defRPr/>
            </a:pPr>
            <a:r>
              <a:rPr lang="en-US" altLang="en-US" sz="899" kern="1200">
                <a:solidFill>
                  <a:srgbClr val="E7E6E6">
                    <a:lumMod val="90000"/>
                  </a:srgbClr>
                </a:solidFill>
                <a:latin typeface="+mn-lt"/>
                <a:ea typeface="+mn-ea"/>
                <a:cs typeface="+mn-cs"/>
              </a:rPr>
              <a:t>©</a:t>
            </a:r>
            <a:r>
              <a:rPr lang="en-US" altLang="zh-CN" sz="899" kern="1200">
                <a:solidFill>
                  <a:srgbClr val="E7E6E6">
                    <a:lumMod val="90000"/>
                  </a:srgbClr>
                </a:solidFill>
                <a:latin typeface="+mn-lt"/>
                <a:ea typeface="+mn-ea"/>
                <a:cs typeface="+mn-cs"/>
              </a:rPr>
              <a:t> ReinBee All Rights Reserved.</a:t>
            </a:r>
          </a:p>
        </p:txBody>
      </p:sp>
      <p:pic>
        <p:nvPicPr>
          <p:cNvPr id="7" name="图片 6">
            <a:extLst>
              <a:ext uri="{FF2B5EF4-FFF2-40B4-BE49-F238E27FC236}">
                <a16:creationId xmlns:a16="http://schemas.microsoft.com/office/drawing/2014/main" id="{127403B5-9A6F-E6B1-A4D3-DAA2A1EF2DE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60" y="0"/>
            <a:ext cx="12186080" cy="68580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>
            <a:lvl1pPr algn="l">
              <a:lnSpc>
                <a:spcPct val="91666"/>
              </a:lnSpc>
              <a:defRPr sz="33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33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目录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838200" y="1597662"/>
            <a:ext cx="10515599" cy="4351337"/>
            <a:chOff x="838200" y="1597662"/>
            <a:chExt cx="10515599" cy="4351337"/>
          </a:xfrm>
        </p:grpSpPr>
        <p:sp>
          <p:nvSpPr>
            <p:cNvPr id="4" name="AutoShape 4"/>
            <p:cNvSpPr/>
            <p:nvPr/>
          </p:nvSpPr>
          <p:spPr>
            <a:xfrm>
              <a:off x="838200" y="1597662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5" name="AutoShape 5"/>
            <p:cNvSpPr/>
            <p:nvPr/>
          </p:nvSpPr>
          <p:spPr>
            <a:xfrm>
              <a:off x="861140" y="1620602"/>
              <a:ext cx="7160195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0 </a:t>
              </a:r>
              <a:r>
                <a:rPr lang="en-US" sz="3200" b="0" i="0" u="none" strike="noStrike">
                  <a:solidFill>
                    <a:srgbClr val="FFFFFF"/>
                  </a:solidFill>
                  <a:latin typeface="SimHei"/>
                  <a:ea typeface="SimHei"/>
                  <a:cs typeface="SimHei"/>
                  <a:sym typeface="SimHei"/>
                </a:rPr>
                <a:t>理论基础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1442847" y="2489686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7" name="AutoShape 7"/>
            <p:cNvSpPr/>
            <p:nvPr/>
          </p:nvSpPr>
          <p:spPr>
            <a:xfrm>
              <a:off x="1465787" y="2512626"/>
              <a:ext cx="6937378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 </a:t>
              </a:r>
              <a:r>
                <a:rPr lang="en-US" sz="3200" b="0" i="0" u="none" strike="noStrike">
                  <a:solidFill>
                    <a:srgbClr val="FFFFFF"/>
                  </a:solidFill>
                  <a:latin typeface="SimHei"/>
                  <a:ea typeface="SimHei"/>
                  <a:cs typeface="SimHei"/>
                  <a:sym typeface="SimHei"/>
                </a:rPr>
                <a:t>流程范式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2047493" y="3381710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9" name="AutoShape 9"/>
            <p:cNvSpPr/>
            <p:nvPr/>
          </p:nvSpPr>
          <p:spPr>
            <a:xfrm>
              <a:off x="2070433" y="3404650"/>
              <a:ext cx="6937378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 </a:t>
              </a:r>
              <a:r>
                <a:rPr lang="en-US" sz="3200" b="0" i="0" u="none" strike="noStrike">
                  <a:solidFill>
                    <a:srgbClr val="FFFFFF"/>
                  </a:solidFill>
                  <a:latin typeface="SimHei"/>
                  <a:ea typeface="SimHei"/>
                  <a:cs typeface="SimHei"/>
                  <a:sym typeface="SimHei"/>
                </a:rPr>
                <a:t>数据生成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2652140" y="4273734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2675080" y="4296674"/>
              <a:ext cx="6937378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 AI Agent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3256787" y="5165759"/>
              <a:ext cx="8097012" cy="783240"/>
            </a:xfrm>
            <a:prstGeom prst="roundRect">
              <a:avLst>
                <a:gd name="adj" fmla="val 9999"/>
              </a:avLst>
            </a:prstGeom>
            <a:solidFill>
              <a:srgbClr val="4472C4">
                <a:alpha val="100000"/>
              </a:srgbClr>
            </a:solidFill>
            <a:ln w="12700" cap="flat" cmpd="sng">
              <a:solidFill>
                <a:srgbClr val="FFFFFF">
                  <a:alpha val="10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3279727" y="5188699"/>
              <a:ext cx="6937378" cy="737360"/>
            </a:xfrm>
            <a:prstGeom prst="rect">
              <a:avLst/>
            </a:prstGeom>
            <a:noFill/>
            <a:ln w="12700" cap="flat">
              <a:solidFill>
                <a:srgbClr val="FFFFFF">
                  <a:alpha val="0"/>
                </a:srgbClr>
              </a:solidFill>
              <a:prstDash val="solid"/>
            </a:ln>
          </p:spPr>
          <p:txBody>
            <a:bodyPr vert="horz" wrap="square" lIns="121920" tIns="121920" rIns="121920" bIns="121920" rtlCol="0" anchor="ctr">
              <a:noAutofit/>
            </a:bodyPr>
            <a:lstStyle/>
            <a:p>
              <a:pPr marL="0" indent="0" algn="l">
                <a:lnSpc>
                  <a:spcPct val="91666"/>
                </a:lnSpc>
                <a:spcAft>
                  <a:spcPct val="35000"/>
                </a:spcAft>
                <a:defRPr/>
              </a:pPr>
              <a:r>
                <a:rPr lang="en-US" sz="32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 </a:t>
              </a:r>
              <a:r>
                <a:rPr lang="en-US" sz="3200" b="0" i="0" u="none" strike="noStrike">
                  <a:solidFill>
                    <a:srgbClr val="FFFFFF"/>
                  </a:solidFill>
                  <a:latin typeface="SimHei"/>
                  <a:ea typeface="SimHei"/>
                  <a:cs typeface="SimHei"/>
                  <a:sym typeface="SimHei"/>
                </a:rPr>
                <a:t>轮系统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8426105" y="2169862"/>
              <a:ext cx="509106" cy="509106"/>
            </a:xfrm>
            <a:prstGeom prst="downArrow">
              <a:avLst>
                <a:gd name="adj1" fmla="val 55000"/>
                <a:gd name="adj2" fmla="val 45000"/>
              </a:avLst>
            </a:prstGeom>
            <a:solidFill>
              <a:srgbClr val="CFD5EA">
                <a:alpha val="90000"/>
              </a:srgbClr>
            </a:solidFill>
            <a:ln w="12700" cap="flat" cmpd="sng">
              <a:solidFill>
                <a:srgbClr val="CFD5EA">
                  <a:alpha val="9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9030752" y="3061887"/>
              <a:ext cx="509106" cy="509106"/>
            </a:xfrm>
            <a:prstGeom prst="downArrow">
              <a:avLst>
                <a:gd name="adj1" fmla="val 55000"/>
                <a:gd name="adj2" fmla="val 45000"/>
              </a:avLst>
            </a:prstGeom>
            <a:solidFill>
              <a:srgbClr val="CFD5EA">
                <a:alpha val="90000"/>
              </a:srgbClr>
            </a:solidFill>
            <a:ln w="12700" cap="flat" cmpd="sng">
              <a:solidFill>
                <a:srgbClr val="CFD5EA">
                  <a:alpha val="9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9635399" y="3940857"/>
              <a:ext cx="509106" cy="509106"/>
            </a:xfrm>
            <a:prstGeom prst="downArrow">
              <a:avLst>
                <a:gd name="adj1" fmla="val 55000"/>
                <a:gd name="adj2" fmla="val 45000"/>
              </a:avLst>
            </a:prstGeom>
            <a:solidFill>
              <a:srgbClr val="CFD5EA">
                <a:alpha val="90000"/>
              </a:srgbClr>
            </a:solidFill>
            <a:ln w="12700" cap="flat" cmpd="sng">
              <a:solidFill>
                <a:srgbClr val="CFD5EA">
                  <a:alpha val="9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10240046" y="4841584"/>
              <a:ext cx="509106" cy="509106"/>
            </a:xfrm>
            <a:prstGeom prst="downArrow">
              <a:avLst>
                <a:gd name="adj1" fmla="val 55000"/>
                <a:gd name="adj2" fmla="val 45000"/>
              </a:avLst>
            </a:prstGeom>
            <a:solidFill>
              <a:srgbClr val="CFD5EA">
                <a:alpha val="90000"/>
              </a:srgbClr>
            </a:solidFill>
            <a:ln w="12700" cap="flat" cmpd="sng">
              <a:solidFill>
                <a:srgbClr val="CFD5EA">
                  <a:alpha val="90000"/>
                </a:srgbClr>
              </a:solidFill>
              <a:prstDash val="solid"/>
              <a:miter lim="8000000"/>
            </a:ln>
          </p:spPr>
          <p:txBody>
            <a:bodyPr wrap="square" lIns="91440" tIns="45720" rIns="91440" bIns="45720" rtlCol="0" anchor="t">
              <a:noAutofit/>
            </a:bodyPr>
            <a:lstStyle/>
            <a:p>
              <a:pPr algn="ctr">
                <a:defRPr/>
              </a:pPr>
              <a:endParaRPr/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天体全息学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202545" y="3225934"/>
            <a:ext cx="4096322" cy="3467584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4" name="Picture 4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634250" y="779720"/>
            <a:ext cx="8781750" cy="2700000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5" name="Picture 5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6438055" y="3501554"/>
            <a:ext cx="4458301" cy="2952226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6" name="AutoShape 6"/>
          <p:cNvSpPr/>
          <p:nvPr/>
        </p:nvSpPr>
        <p:spPr>
          <a:xfrm>
            <a:off x="696000" y="4329000"/>
            <a:ext cx="1440000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共形场原理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7967490" y="6450604"/>
            <a:ext cx="1368510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二维复曲面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2545298" y="595054"/>
            <a:ext cx="3730702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光滑平面，可以求得任意精确解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7536000" y="578474"/>
            <a:ext cx="4137242" cy="64633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空间引力变形，但是旋转角度不变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8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</a:t>
            </a:r>
            <a:r>
              <a:rPr lang="en-US" sz="1800" b="1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（角度与精确解对应）</a:t>
            </a:r>
          </a:p>
        </p:txBody>
      </p:sp>
      <p:pic>
        <p:nvPicPr>
          <p:cNvPr id="11" name="picture 50">
            <a:extLst>
              <a:ext uri="{FF2B5EF4-FFF2-40B4-BE49-F238E27FC236}">
                <a16:creationId xmlns:a16="http://schemas.microsoft.com/office/drawing/2014/main" id="{945A1364-A1C0-B8BB-638A-D45BEBBA99F7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3" name="AutoShape 3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" name="AutoShape 4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2F5597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2F5597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2F5597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2F5597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8FAADC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4" name="AutoShape 24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4" name="Connector 44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5" name="Connector 45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6" name="Connector 46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4" name="Connector 54"/>
          <p:cNvCxnSpPr/>
          <p:nvPr/>
        </p:nvCxnSpPr>
        <p:spPr>
          <a:xfrm>
            <a:off x="8254800" y="1628999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5" name="Connector 55"/>
          <p:cNvCxnSpPr/>
          <p:nvPr/>
        </p:nvCxnSpPr>
        <p:spPr>
          <a:xfrm rot="-5400000">
            <a:off x="9334200" y="1628399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6" name="Connector 56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7" name="Connector 57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8" name="Connector 58"/>
          <p:cNvCxnSpPr/>
          <p:nvPr/>
        </p:nvCxnSpPr>
        <p:spPr>
          <a:xfrm flipV="1">
            <a:off x="7174800" y="1988999"/>
            <a:ext cx="1200" cy="720001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9" name="Connector 59"/>
          <p:cNvCxnSpPr/>
          <p:nvPr/>
        </p:nvCxnSpPr>
        <p:spPr>
          <a:xfrm>
            <a:off x="10776000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0" name="Connector 60"/>
          <p:cNvCxnSpPr/>
          <p:nvPr/>
        </p:nvCxnSpPr>
        <p:spPr>
          <a:xfrm rot="10800000" flipV="1">
            <a:off x="10776000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1" name="Connector 61"/>
          <p:cNvCxnSpPr/>
          <p:nvPr/>
        </p:nvCxnSpPr>
        <p:spPr>
          <a:xfrm rot="10800000">
            <a:off x="7168338" y="4149000"/>
            <a:ext cx="7662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2" name="Connector 62"/>
          <p:cNvCxnSpPr/>
          <p:nvPr/>
        </p:nvCxnSpPr>
        <p:spPr>
          <a:xfrm rot="5400000">
            <a:off x="8254799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3" name="Connector 63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4" name="Connector 64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5" name="Connector 65"/>
          <p:cNvCxnSpPr/>
          <p:nvPr/>
        </p:nvCxnSpPr>
        <p:spPr>
          <a:xfrm rot="10800000">
            <a:off x="9341146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6" name="Connector 66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7" name="Connector 67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68" name="AutoShape 68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测量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散射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更新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对称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环境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约束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法规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6.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检测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输出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真值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接口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  <p:sp>
        <p:nvSpPr>
          <p:cNvPr id="69" name="AutoShape 69"/>
          <p:cNvSpPr>
            <a:spLocks noGrp="1"/>
          </p:cNvSpPr>
          <p:nvPr>
            <p:ph type="body" sz="quarter" idx="22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工作流范式</a:t>
            </a:r>
          </a:p>
        </p:txBody>
      </p:sp>
      <p:pic>
        <p:nvPicPr>
          <p:cNvPr id="70" name="Picture 70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8313086" y="2759510"/>
            <a:ext cx="1324855" cy="1338979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71" name="AutoShape 71"/>
          <p:cNvSpPr/>
          <p:nvPr/>
        </p:nvSpPr>
        <p:spPr>
          <a:xfrm>
            <a:off x="6895074" y="3477413"/>
            <a:ext cx="1324170" cy="64633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Kinematics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Channel</a:t>
            </a:r>
          </a:p>
        </p:txBody>
      </p:sp>
      <p:sp>
        <p:nvSpPr>
          <p:cNvPr id="72" name="AutoShape 72"/>
          <p:cNvSpPr/>
          <p:nvPr/>
        </p:nvSpPr>
        <p:spPr>
          <a:xfrm>
            <a:off x="9811974" y="3459208"/>
            <a:ext cx="1324170" cy="64633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Dynamics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Inference</a:t>
            </a:r>
          </a:p>
        </p:txBody>
      </p:sp>
      <p:pic>
        <p:nvPicPr>
          <p:cNvPr id="73" name="Picture 73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8673976" y="3281562"/>
            <a:ext cx="614339" cy="304402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74" name="AutoShape 74"/>
          <p:cNvSpPr/>
          <p:nvPr/>
        </p:nvSpPr>
        <p:spPr>
          <a:xfrm>
            <a:off x="2134570" y="596000"/>
            <a:ext cx="3418572" cy="55399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一定有一个</a:t>
            </a:r>
            <a:r>
              <a:rPr lang="en-US" sz="3000" b="1" i="0" u="none" strike="noStrike">
                <a:solidFill>
                  <a:srgbClr val="203864"/>
                </a:solidFill>
                <a:latin typeface="SimHei"/>
                <a:ea typeface="SimHei"/>
                <a:cs typeface="SimHei"/>
                <a:sym typeface="SimHei"/>
              </a:rPr>
              <a:t>流程</a:t>
            </a:r>
            <a:endParaRPr lang="en-US" sz="1100"/>
          </a:p>
        </p:txBody>
      </p:sp>
      <p:sp>
        <p:nvSpPr>
          <p:cNvPr id="75" name="AutoShape 75"/>
          <p:cNvSpPr/>
          <p:nvPr/>
        </p:nvSpPr>
        <p:spPr>
          <a:xfrm>
            <a:off x="7636504" y="596000"/>
            <a:ext cx="3215096" cy="55399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一定有一个</a:t>
            </a:r>
            <a:r>
              <a:rPr lang="en-US" sz="3000" b="1" i="0" u="none" strike="noStrike">
                <a:solidFill>
                  <a:srgbClr val="203864"/>
                </a:solidFill>
                <a:latin typeface="SimHei"/>
                <a:ea typeface="SimHei"/>
                <a:cs typeface="SimHei"/>
                <a:sym typeface="SimHei"/>
              </a:rPr>
              <a:t>曲面</a:t>
            </a:r>
            <a:endParaRPr lang="en-US" sz="1100"/>
          </a:p>
        </p:txBody>
      </p:sp>
      <p:cxnSp>
        <p:nvCxnSpPr>
          <p:cNvPr id="76" name="Connector 76"/>
          <p:cNvCxnSpPr/>
          <p:nvPr/>
        </p:nvCxnSpPr>
        <p:spPr>
          <a:xfrm>
            <a:off x="4834572" y="872999"/>
            <a:ext cx="2340228" cy="0"/>
          </a:xfrm>
          <a:prstGeom prst="straightConnector1">
            <a:avLst/>
          </a:prstGeom>
          <a:noFill/>
          <a:ln w="12700" cap="flat">
            <a:solidFill>
              <a:srgbClr val="FF0000">
                <a:alpha val="100000"/>
              </a:srgbClr>
            </a:solidFill>
            <a:prstDash val="solid"/>
            <a:headEnd type="triangle" w="med" len="med"/>
            <a:tailEnd type="triangle" w="med" len="med"/>
          </a:ln>
        </p:spPr>
      </p:cxnSp>
      <p:sp>
        <p:nvSpPr>
          <p:cNvPr id="77" name="AutoShape 77"/>
          <p:cNvSpPr/>
          <p:nvPr/>
        </p:nvSpPr>
        <p:spPr>
          <a:xfrm>
            <a:off x="8851358" y="2083848"/>
            <a:ext cx="922695" cy="60016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Gateway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ModelBatch</a:t>
            </a: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Context</a:t>
            </a:r>
          </a:p>
        </p:txBody>
      </p:sp>
      <p:sp>
        <p:nvSpPr>
          <p:cNvPr id="78" name="AutoShape 78"/>
          <p:cNvSpPr/>
          <p:nvPr/>
        </p:nvSpPr>
        <p:spPr>
          <a:xfrm>
            <a:off x="7557159" y="1388836"/>
            <a:ext cx="818907" cy="60016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Sensor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DataLoad</a:t>
            </a:r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  <p:pic>
        <p:nvPicPr>
          <p:cNvPr id="79" name="Picture 79"/>
          <p:cNvPicPr>
            <a:picLocks noChangeAspect="1"/>
          </p:cNvPicPr>
          <p:nvPr/>
        </p:nvPicPr>
        <p:blipFill>
          <a:blip r:embed="rId4"/>
          <a:srcRect/>
          <a:stretch>
            <a:fillRect/>
          </a:stretch>
        </p:blipFill>
        <p:spPr>
          <a:xfrm>
            <a:off x="7667200" y="2855023"/>
            <a:ext cx="447675" cy="447675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80" name="Picture 80"/>
          <p:cNvPicPr>
            <a:picLocks noChangeAspect="1"/>
          </p:cNvPicPr>
          <p:nvPr/>
        </p:nvPicPr>
        <p:blipFill>
          <a:blip r:embed="rId5"/>
          <a:srcRect/>
          <a:stretch>
            <a:fillRect/>
          </a:stretch>
        </p:blipFill>
        <p:spPr>
          <a:xfrm>
            <a:off x="9848810" y="1414386"/>
            <a:ext cx="428625" cy="438150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81" name="Picture 81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10413408" y="2781000"/>
            <a:ext cx="704621" cy="638856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82" name="Picture 82"/>
          <p:cNvPicPr>
            <a:picLocks noChangeAspect="1"/>
          </p:cNvPicPr>
          <p:nvPr/>
        </p:nvPicPr>
        <p:blipFill>
          <a:blip r:embed="rId7"/>
          <a:srcRect/>
          <a:stretch>
            <a:fillRect/>
          </a:stretch>
        </p:blipFill>
        <p:spPr>
          <a:xfrm>
            <a:off x="9774702" y="4954613"/>
            <a:ext cx="600075" cy="542925"/>
          </a:xfrm>
          <a:prstGeom prst="rect">
            <a:avLst/>
          </a:prstGeom>
          <a:ln w="12700">
            <a:noFill/>
            <a:prstDash val="solid"/>
          </a:ln>
        </p:spPr>
      </p:pic>
      <p:pic>
        <p:nvPicPr>
          <p:cNvPr id="83" name="Picture 83"/>
          <p:cNvPicPr>
            <a:picLocks noChangeAspect="1"/>
          </p:cNvPicPr>
          <p:nvPr/>
        </p:nvPicPr>
        <p:blipFill>
          <a:blip r:embed="rId8"/>
          <a:srcRect/>
          <a:stretch>
            <a:fillRect/>
          </a:stretch>
        </p:blipFill>
        <p:spPr>
          <a:xfrm>
            <a:off x="8324742" y="2115887"/>
            <a:ext cx="480394" cy="395163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84" name="AutoShape 84"/>
          <p:cNvSpPr/>
          <p:nvPr/>
        </p:nvSpPr>
        <p:spPr>
          <a:xfrm>
            <a:off x="10334161" y="1370164"/>
            <a:ext cx="922695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Function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Commands</a:t>
            </a:r>
          </a:p>
        </p:txBody>
      </p:sp>
      <p:sp>
        <p:nvSpPr>
          <p:cNvPr id="85" name="AutoShape 85"/>
          <p:cNvSpPr/>
          <p:nvPr/>
        </p:nvSpPr>
        <p:spPr>
          <a:xfrm>
            <a:off x="10487454" y="4988301"/>
            <a:ext cx="922695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Tools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Skills</a:t>
            </a:r>
          </a:p>
        </p:txBody>
      </p:sp>
      <p:pic>
        <p:nvPicPr>
          <p:cNvPr id="87" name="picture 50">
            <a:extLst>
              <a:ext uri="{FF2B5EF4-FFF2-40B4-BE49-F238E27FC236}">
                <a16:creationId xmlns:a16="http://schemas.microsoft.com/office/drawing/2014/main" id="{7931053C-E718-50AC-73D4-D7A3AF1C7D9C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0" y="143093"/>
            <a:ext cx="336000" cy="2921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数据生成工作流</a:t>
            </a:r>
          </a:p>
        </p:txBody>
      </p:sp>
      <p:grpSp>
        <p:nvGrpSpPr>
          <p:cNvPr id="3" name="Group 3"/>
          <p:cNvGrpSpPr/>
          <p:nvPr/>
        </p:nvGrpSpPr>
        <p:grpSpPr>
          <a:xfrm>
            <a:off x="1054572" y="1989000"/>
            <a:ext cx="4321428" cy="2880000"/>
            <a:chOff x="1054572" y="1989000"/>
            <a:chExt cx="4321428" cy="2880000"/>
          </a:xfrm>
        </p:grpSpPr>
        <p:sp>
          <p:nvSpPr>
            <p:cNvPr id="4" name="AutoShape 4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700" cap="flat">
              <a:noFill/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12700" cap="flat">
              <a:noFill/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16" name="Connector 16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7" name="Connector 17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8" name="Connector 18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19" name="Connector 19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0" name="AutoShape 20"/>
          <p:cNvSpPr/>
          <p:nvPr/>
        </p:nvSpPr>
        <p:spPr>
          <a:xfrm>
            <a:off x="931075" y="5607417"/>
            <a:ext cx="4131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生成渲染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2677200" y="2155002"/>
            <a:ext cx="1257372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数据转换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1051082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交通流管理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车辆/道路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</a:t>
            </a:r>
          </a:p>
        </p:txBody>
      </p:sp>
      <p:sp>
        <p:nvSpPr>
          <p:cNvPr id="23" name="AutoShape 23"/>
          <p:cNvSpPr/>
          <p:nvPr/>
        </p:nvSpPr>
        <p:spPr>
          <a:xfrm>
            <a:off x="87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75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2316000" y="468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3935058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条件控制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文生图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图生图</a:t>
            </a:r>
          </a:p>
        </p:txBody>
      </p:sp>
      <p:sp>
        <p:nvSpPr>
          <p:cNvPr id="27" name="AutoShape 27"/>
          <p:cNvSpPr/>
          <p:nvPr/>
        </p:nvSpPr>
        <p:spPr>
          <a:xfrm>
            <a:off x="2451252" y="4315002"/>
            <a:ext cx="1441428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被测模型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6183946" y="797510"/>
            <a:ext cx="5220000" cy="240065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>
            <a:lvl1pPr marL="476250" indent="-190500"/>
            <a:lvl2pPr marL="933450" indent="-190500"/>
            <a:lvl3pPr marL="1390650" indent="-190500"/>
            <a:lvl4pPr marL="1847850" indent="-190500"/>
            <a:lvl5pPr marL="2305050" indent="-190500"/>
            <a:lvl6pPr marL="2762250" indent="-190500"/>
            <a:lvl7pPr marL="3219450" indent="-190500"/>
            <a:lvl8pPr marL="3676650" indent="-190500"/>
            <a:lvl9pPr marL="4133850" indent="-190500"/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 </a:t>
            </a: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工作流逻辑（交通流管理）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输入：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车辆行为配置、道路结构、提示词（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Prompt</a:t>
            </a:r>
            <a:r>
              <a:rPr lang="en-US" sz="15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）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功能模块</a:t>
            </a:r>
            <a:r>
              <a:rPr lang="en-US" sz="15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：交通流管理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作用：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定义仿真环境中的车辆数量、行驶路径、速度分布等；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设置道路拓扑（如交叉口、车道线）；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使用自然语言或结构化描述（提示词）定义场景意图（例如：“城市十字路口，有行人过街”）；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输出：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结构化交通场景数据（包含车辆状态、路网信息、时间序列）</a:t>
            </a:r>
          </a:p>
        </p:txBody>
      </p:sp>
      <p:sp>
        <p:nvSpPr>
          <p:cNvPr id="29" name="AutoShape 29"/>
          <p:cNvSpPr/>
          <p:nvPr/>
        </p:nvSpPr>
        <p:spPr>
          <a:xfrm>
            <a:off x="6183946" y="3789000"/>
            <a:ext cx="5852054" cy="240065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>
            <a:lvl1pPr marL="476250" indent="-190500"/>
            <a:lvl2pPr marL="933450" indent="-190500"/>
            <a:lvl3pPr marL="1390650" indent="-190500"/>
            <a:lvl4pPr marL="1847850" indent="-190500"/>
            <a:lvl5pPr marL="2305050" indent="-190500"/>
            <a:lvl6pPr marL="2762250" indent="-190500"/>
            <a:lvl7pPr marL="3219450" indent="-190500"/>
            <a:lvl8pPr marL="3676650" indent="-190500"/>
            <a:lvl9pPr marL="4133850" indent="-190500"/>
          </a:lstStyle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 </a:t>
            </a:r>
            <a:r>
              <a:rPr lang="en-US" sz="1500" b="1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数据生成渲染（条件控制生成）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输入：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来自步骤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的交通场景数据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功能模块：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条件控制 文生图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图生图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作用：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将交通流数据转换为视觉输入条件（如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地图、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框）；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调用生成模型（如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WorldDreamer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扩散模型）进行图像合成；</a:t>
            </a:r>
          </a:p>
          <a:p>
            <a:pPr marL="285750" indent="-285750" algn="l">
              <a:lnSpc>
                <a:spcPct val="10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支持多种模态生成：</a:t>
            </a:r>
          </a:p>
          <a:p>
            <a:pPr marL="742950" lvl="1" indent="-285750" algn="l">
              <a:lnSpc>
                <a:spcPct val="100000"/>
              </a:lnSpc>
              <a:buClr>
                <a:srgbClr val="000000"/>
              </a:buClr>
              <a:buFont typeface="Wingdings"/>
              <a:buChar char="ü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文生图：基于文本提示生成初始场景；</a:t>
            </a:r>
          </a:p>
          <a:p>
            <a:pPr marL="742950" lvl="1" indent="-285750" algn="l">
              <a:lnSpc>
                <a:spcPct val="100000"/>
              </a:lnSpc>
              <a:buClr>
                <a:srgbClr val="000000"/>
              </a:buClr>
              <a:buFont typeface="Wingdings"/>
              <a:buChar char="ü"/>
            </a:pP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图生图：基于已有图像进行细节增强或风格迁移；</a:t>
            </a:r>
          </a:p>
          <a:p>
            <a:pPr marL="0" indent="0" algn="l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输出：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一组或多组模拟摄像机视角的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RGB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图像（如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6 </a:t>
            </a:r>
            <a:r>
              <a:rPr lang="en-US" sz="15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张拼接图）</a:t>
            </a:r>
          </a:p>
        </p:txBody>
      </p:sp>
      <p:sp>
        <p:nvSpPr>
          <p:cNvPr id="30" name="AutoShape 30"/>
          <p:cNvSpPr/>
          <p:nvPr/>
        </p:nvSpPr>
        <p:spPr>
          <a:xfrm>
            <a:off x="487034" y="865739"/>
            <a:ext cx="5455075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生成式世界模型 </a:t>
            </a:r>
            <a:r>
              <a:rPr lang="en-US" sz="22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+ </a:t>
            </a:r>
            <a:r>
              <a:rPr lang="en-US" sz="22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交通仿真闭环</a:t>
            </a:r>
            <a:r>
              <a:rPr lang="en-US" sz="2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 </a:t>
            </a:r>
            <a:r>
              <a:rPr lang="en-US" sz="22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工作流</a:t>
            </a:r>
            <a:endParaRPr lang="en-US" sz="110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7268" y="3429001"/>
            <a:ext cx="5758276" cy="72000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8101_1 仿真系统API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7724" y="2709001"/>
            <a:ext cx="5758276" cy="720001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8111_1 交通流管理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097724" y="1989001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8121_1 LIMSIM智能仿真框架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976000" y="1989000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8122_1 SUMO交通仿真模型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7724" y="1269001"/>
            <a:ext cx="1440227" cy="719999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8131_1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场景规划</a:t>
            </a:r>
          </a:p>
        </p:txBody>
      </p:sp>
      <p:sp>
        <p:nvSpPr>
          <p:cNvPr id="7" name="AutoShape 7"/>
          <p:cNvSpPr/>
          <p:nvPr/>
        </p:nvSpPr>
        <p:spPr>
          <a:xfrm>
            <a:off x="7537724" y="1269001"/>
            <a:ext cx="1440227" cy="719999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8132_1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车辆控制</a:t>
            </a:r>
          </a:p>
        </p:txBody>
      </p:sp>
      <p:sp>
        <p:nvSpPr>
          <p:cNvPr id="8" name="AutoShape 8"/>
          <p:cNvSpPr/>
          <p:nvPr/>
        </p:nvSpPr>
        <p:spPr>
          <a:xfrm>
            <a:off x="8979326" y="1269001"/>
            <a:ext cx="1440227" cy="719999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8133_1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路网构建</a:t>
            </a:r>
          </a:p>
        </p:txBody>
      </p:sp>
      <p:sp>
        <p:nvSpPr>
          <p:cNvPr id="9" name="AutoShape 9"/>
          <p:cNvSpPr/>
          <p:nvPr/>
        </p:nvSpPr>
        <p:spPr>
          <a:xfrm>
            <a:off x="10415773" y="1269000"/>
            <a:ext cx="1440227" cy="719999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8151_1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MovingScene</a:t>
            </a:r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336000" y="4329000"/>
          <a:ext cx="11519544" cy="2337914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7200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80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7251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层级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名称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功能说明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对应原子功能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18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1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仿真系统</a:t>
                      </a: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</a:t>
                      </a: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提供统一接口，支持外部系统调用仿真服务，如启动、暂停、获取状态、上传配置等。是整个系统的对外门户。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8101_1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仿真系统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1833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2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交通流管理层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负责全局交通流的调度与管理，包括车辆生成、路径规划、流量控制、事件触发等，确保仿真场景符合预期交通模式。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8111_1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交通流管理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3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智能仿真框架层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集成高级仿真逻辑，提供感知、预测、决策、规划闭环能力，支持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AI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模型接入（如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LLM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规划器、生成式世界模型）。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8121_1 LIMSIM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智能仿真框架</a:t>
                      </a:r>
                      <a:endParaRPr lang="en-US" sz="11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8122_1 SUMO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交通仿真模型</a:t>
                      </a:r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n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交通模型层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承载底层物理仿真引擎（如 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SUMO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），执行车辆动力学、碰撞检测、交通规则等基础行为模拟。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8131_1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场景规划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8132_1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车辆控制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8133_1 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路网构建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76008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 5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1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场景控制层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负责高阶场景定制，包括路网构建、车辆行为控制、动态场景生成（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MovingScene</a:t>
                      </a: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）、以及基于条件的场景演化。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60A26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8151_1 MovingScene</a:t>
                      </a:r>
                      <a:endParaRPr lang="en-US" sz="1100"/>
                    </a:p>
                  </a:txBody>
                  <a:tcPr marL="106680" marR="10668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1054572" y="2709000"/>
            <a:ext cx="4321428" cy="1440000"/>
            <a:chOff x="1054572" y="2709000"/>
            <a:chExt cx="4321428" cy="1440000"/>
          </a:xfrm>
        </p:grpSpPr>
        <p:sp>
          <p:nvSpPr>
            <p:cNvPr id="12" name="AutoShape 12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7F7F7F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7F7F7F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7F7F7F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7F7F7F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20" name="Connector 20"/>
          <p:cNvCxnSpPr/>
          <p:nvPr/>
        </p:nvCxnSpPr>
        <p:spPr>
          <a:xfrm rot="-5400000">
            <a:off x="3215886" y="1629114"/>
            <a:ext cx="12700" cy="2159772"/>
          </a:xfrm>
          <a:prstGeom prst="bentConnector3">
            <a:avLst>
              <a:gd name="adj1" fmla="val 2907693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1" name="AutoShape 21"/>
          <p:cNvSpPr/>
          <p:nvPr/>
        </p:nvSpPr>
        <p:spPr>
          <a:xfrm>
            <a:off x="1051082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交通流管理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车辆/道路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</a:t>
            </a:r>
          </a:p>
        </p:txBody>
      </p:sp>
      <p:sp>
        <p:nvSpPr>
          <p:cNvPr id="22" name="AutoShape 22"/>
          <p:cNvSpPr/>
          <p:nvPr/>
        </p:nvSpPr>
        <p:spPr>
          <a:xfrm>
            <a:off x="87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375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7F7F7F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935058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条件控制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文生图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图生图</a:t>
            </a:r>
          </a:p>
        </p:txBody>
      </p:sp>
      <p:sp>
        <p:nvSpPr>
          <p:cNvPr id="25" name="AutoShape 25"/>
          <p:cNvSpPr/>
          <p:nvPr/>
        </p:nvSpPr>
        <p:spPr>
          <a:xfrm>
            <a:off x="7714572" y="750910"/>
            <a:ext cx="2701428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交通流管理系统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 flipV="1">
            <a:off x="1234572" y="907440"/>
            <a:ext cx="6032142" cy="1726582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dash"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7266714" y="802418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31075" y="1305835"/>
            <a:ext cx="4131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                       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生成渲染  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336000" y="112461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交通流管理系统</a:t>
            </a:r>
            <a:endParaRPr lang="en-US" sz="110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7268" y="3429001"/>
            <a:ext cx="5758276" cy="72000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8101_2 图像生成API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7724" y="2709001"/>
            <a:ext cx="5758276" cy="720001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8111_2 多视角Pipeline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097724" y="1989001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8121_2 UNet扩散模型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976000" y="1989000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8122_2 条件控制模型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7724" y="1269001"/>
            <a:ext cx="1440227" cy="719999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8131_2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BEV条件嵌入</a:t>
            </a:r>
          </a:p>
        </p:txBody>
      </p:sp>
      <p:sp>
        <p:nvSpPr>
          <p:cNvPr id="7" name="AutoShape 7"/>
          <p:cNvSpPr/>
          <p:nvPr/>
        </p:nvSpPr>
        <p:spPr>
          <a:xfrm>
            <a:off x="7537724" y="1269001"/>
            <a:ext cx="1440227" cy="719999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8132_2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3D框条件嵌入</a:t>
            </a:r>
          </a:p>
        </p:txBody>
      </p:sp>
      <p:sp>
        <p:nvSpPr>
          <p:cNvPr id="8" name="AutoShape 8"/>
          <p:cNvSpPr/>
          <p:nvPr/>
        </p:nvSpPr>
        <p:spPr>
          <a:xfrm>
            <a:off x="8979326" y="1269001"/>
            <a:ext cx="1440227" cy="719999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8133_2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CLIP提示词</a:t>
            </a:r>
          </a:p>
        </p:txBody>
      </p:sp>
      <p:sp>
        <p:nvSpPr>
          <p:cNvPr id="9" name="AutoShape 9"/>
          <p:cNvSpPr/>
          <p:nvPr/>
        </p:nvSpPr>
        <p:spPr>
          <a:xfrm>
            <a:off x="10415773" y="1269000"/>
            <a:ext cx="1440227" cy="719999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8151_2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时序多视融合</a:t>
            </a:r>
          </a:p>
        </p:txBody>
      </p:sp>
      <p:graphicFrame>
        <p:nvGraphicFramePr>
          <p:cNvPr id="10" name="Table 10"/>
          <p:cNvGraphicFramePr>
            <a:graphicFrameLocks noGrp="1"/>
          </p:cNvGraphicFramePr>
          <p:nvPr/>
        </p:nvGraphicFramePr>
        <p:xfrm>
          <a:off x="336000" y="4329000"/>
          <a:ext cx="11519544" cy="2289198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28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8514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1710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473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187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层级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名称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功能说明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对应原子功能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87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1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提供统一接口，对外暴露生成能力，如图像生成、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生成等。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8101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图像生成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API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87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2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Pipeline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多模态流程编排，处理输入、调度子模块、输出结果。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8111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多视角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Pipeline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070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3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模型层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核心生成模型，包含扩散模型、条件控制等。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8121 UNet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扩散模型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8122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条件控制模型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07007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n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功能嵌入层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场景功能嵌入，包括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BEV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地图，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车辆边界框，提示词等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8131 BEV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条件嵌入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, 8132 3D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框条件嵌入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18796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5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交叉注意力层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跨模态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/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跨视角特征对齐与融合，实现空间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语义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-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时序一致性。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8151 </a:t>
                      </a:r>
                      <a:r>
                        <a:rPr lang="en-US" sz="12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时序多视融合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grpSp>
        <p:nvGrpSpPr>
          <p:cNvPr id="11" name="Group 11"/>
          <p:cNvGrpSpPr/>
          <p:nvPr/>
        </p:nvGrpSpPr>
        <p:grpSpPr>
          <a:xfrm>
            <a:off x="1054572" y="2709000"/>
            <a:ext cx="4321428" cy="1440000"/>
            <a:chOff x="1054572" y="2709000"/>
            <a:chExt cx="4321428" cy="1440000"/>
          </a:xfrm>
        </p:grpSpPr>
        <p:sp>
          <p:nvSpPr>
            <p:cNvPr id="12" name="AutoShape 12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20" name="Connector 20"/>
          <p:cNvCxnSpPr/>
          <p:nvPr/>
        </p:nvCxnSpPr>
        <p:spPr>
          <a:xfrm rot="-5400000">
            <a:off x="3215886" y="1629114"/>
            <a:ext cx="12700" cy="2159772"/>
          </a:xfrm>
          <a:prstGeom prst="bentConnector3">
            <a:avLst>
              <a:gd name="adj1" fmla="val 2907693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1" name="AutoShape 21"/>
          <p:cNvSpPr/>
          <p:nvPr/>
        </p:nvSpPr>
        <p:spPr>
          <a:xfrm>
            <a:off x="1051082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交通流管理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车辆/道路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</a:t>
            </a:r>
          </a:p>
        </p:txBody>
      </p:sp>
      <p:sp>
        <p:nvSpPr>
          <p:cNvPr id="22" name="AutoShape 22"/>
          <p:cNvSpPr/>
          <p:nvPr/>
        </p:nvSpPr>
        <p:spPr>
          <a:xfrm>
            <a:off x="87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80808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375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3935058" y="2967335"/>
            <a:ext cx="1441428" cy="9233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条件控制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文生图</a:t>
            </a:r>
          </a:p>
          <a:p>
            <a:pPr marL="0" indent="0" algn="ctr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图生图</a:t>
            </a:r>
          </a:p>
        </p:txBody>
      </p:sp>
      <p:sp>
        <p:nvSpPr>
          <p:cNvPr id="25" name="AutoShape 25"/>
          <p:cNvSpPr/>
          <p:nvPr/>
        </p:nvSpPr>
        <p:spPr>
          <a:xfrm>
            <a:off x="7177428" y="781512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7714572" y="750910"/>
            <a:ext cx="2701428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数据生成模型框架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 flipV="1">
            <a:off x="4114572" y="886534"/>
            <a:ext cx="3062856" cy="1747488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dash"/>
            <a:headEnd type="none" w="med" len="med"/>
            <a:tailEnd type="none" w="med" len="med"/>
          </a:ln>
        </p:spPr>
      </p:cxnSp>
      <p:sp>
        <p:nvSpPr>
          <p:cNvPr id="28" name="AutoShape 28"/>
          <p:cNvSpPr/>
          <p:nvPr/>
        </p:nvSpPr>
        <p:spPr>
          <a:xfrm>
            <a:off x="931075" y="1305835"/>
            <a:ext cx="4131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                       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生成渲染  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数据生成模型框架</a:t>
            </a:r>
            <a:endParaRPr lang="en-US" sz="110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7268" y="4148999"/>
            <a:ext cx="5758276" cy="72000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8301 多型号电机 Servos API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6097724" y="3428999"/>
            <a:ext cx="5758276" cy="720001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8311 MIDI 驱动库Lib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097724" y="2708999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8321 Move Control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位置控制</a:t>
            </a:r>
          </a:p>
        </p:txBody>
      </p:sp>
      <p:sp>
        <p:nvSpPr>
          <p:cNvPr id="5" name="AutoShape 5"/>
          <p:cNvSpPr/>
          <p:nvPr/>
        </p:nvSpPr>
        <p:spPr>
          <a:xfrm>
            <a:off x="8976000" y="2708998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8322 Torque Control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扭矩控制</a:t>
            </a:r>
          </a:p>
        </p:txBody>
      </p:sp>
      <p:sp>
        <p:nvSpPr>
          <p:cNvPr id="6" name="AutoShape 6"/>
          <p:cNvSpPr/>
          <p:nvPr/>
        </p:nvSpPr>
        <p:spPr>
          <a:xfrm>
            <a:off x="6097724" y="1988999"/>
            <a:ext cx="1440227" cy="719999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8331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监听</a:t>
            </a:r>
          </a:p>
        </p:txBody>
      </p:sp>
      <p:sp>
        <p:nvSpPr>
          <p:cNvPr id="7" name="AutoShape 7"/>
          <p:cNvSpPr/>
          <p:nvPr/>
        </p:nvSpPr>
        <p:spPr>
          <a:xfrm>
            <a:off x="7537724" y="1988999"/>
            <a:ext cx="1440227" cy="719999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8332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处理</a:t>
            </a:r>
          </a:p>
        </p:txBody>
      </p:sp>
      <p:sp>
        <p:nvSpPr>
          <p:cNvPr id="8" name="AutoShape 8"/>
          <p:cNvSpPr/>
          <p:nvPr/>
        </p:nvSpPr>
        <p:spPr>
          <a:xfrm>
            <a:off x="8979326" y="1988999"/>
            <a:ext cx="1440227" cy="719999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8333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播放</a:t>
            </a:r>
          </a:p>
        </p:txBody>
      </p:sp>
      <p:sp>
        <p:nvSpPr>
          <p:cNvPr id="9" name="AutoShape 9"/>
          <p:cNvSpPr/>
          <p:nvPr/>
        </p:nvSpPr>
        <p:spPr>
          <a:xfrm>
            <a:off x="10415773" y="1988998"/>
            <a:ext cx="1440227" cy="719999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8351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抓夹</a:t>
            </a:r>
          </a:p>
        </p:txBody>
      </p:sp>
      <p:sp>
        <p:nvSpPr>
          <p:cNvPr id="10" name="AutoShape 10"/>
          <p:cNvSpPr/>
          <p:nvPr/>
        </p:nvSpPr>
        <p:spPr>
          <a:xfrm>
            <a:off x="8229760" y="729000"/>
            <a:ext cx="3693342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指夹爪框架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095999" y="1269001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8761_1 特色功能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【翻转、扭转、抓取、捏取】</a:t>
            </a:r>
          </a:p>
        </p:txBody>
      </p:sp>
      <p:sp>
        <p:nvSpPr>
          <p:cNvPr id="12" name="AutoShape 12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三指夹爪框架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8975773" y="1268999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8761_1 通用功能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【诊断保护、状态读取】</a:t>
            </a:r>
          </a:p>
        </p:txBody>
      </p:sp>
      <p:grpSp>
        <p:nvGrpSpPr>
          <p:cNvPr id="14" name="Group 14"/>
          <p:cNvGrpSpPr/>
          <p:nvPr/>
        </p:nvGrpSpPr>
        <p:grpSpPr>
          <a:xfrm>
            <a:off x="1054572" y="2709000"/>
            <a:ext cx="4321428" cy="1440000"/>
            <a:chOff x="1054572" y="2709000"/>
            <a:chExt cx="4321428" cy="1440000"/>
          </a:xfrm>
        </p:grpSpPr>
        <p:sp>
          <p:nvSpPr>
            <p:cNvPr id="15" name="AutoShape 1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23" name="Connector 23"/>
          <p:cNvCxnSpPr/>
          <p:nvPr/>
        </p:nvCxnSpPr>
        <p:spPr>
          <a:xfrm rot="-5400000">
            <a:off x="3215886" y="1629114"/>
            <a:ext cx="12700" cy="2159772"/>
          </a:xfrm>
          <a:prstGeom prst="bentConnector3">
            <a:avLst>
              <a:gd name="adj1" fmla="val 2907693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24" name="AutoShape 24"/>
          <p:cNvSpPr/>
          <p:nvPr/>
        </p:nvSpPr>
        <p:spPr>
          <a:xfrm>
            <a:off x="1051082" y="2967335"/>
            <a:ext cx="1441428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逆运动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7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80808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3756000" y="2529000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3935058" y="2967335"/>
            <a:ext cx="1441428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3指控制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931075" y="1305835"/>
            <a:ext cx="4131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决策规划                             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驱动控制  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7801152" y="753672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2</a:t>
            </a:r>
            <a:endParaRPr lang="en-US" sz="1100"/>
          </a:p>
        </p:txBody>
      </p:sp>
      <p:graphicFrame>
        <p:nvGraphicFramePr>
          <p:cNvPr id="30" name="Table 30"/>
          <p:cNvGraphicFramePr>
            <a:graphicFrameLocks noGrp="1"/>
          </p:cNvGraphicFramePr>
          <p:nvPr/>
        </p:nvGraphicFramePr>
        <p:xfrm>
          <a:off x="333138" y="4776668"/>
          <a:ext cx="11519544" cy="2072640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2853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13758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5753885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3599544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4384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层级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名称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功能说明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对应原子功能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6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可扩展的夹爪特色功能库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8761_1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特色功能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【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翻转、扭转、抓取、捏取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】</a:t>
                      </a:r>
                      <a:b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</a:b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8761_1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通用功能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【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诊断保护、状态读取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Noto Sans SC"/>
                          <a:ea typeface="Noto Sans SC"/>
                          <a:cs typeface="Noto Sans SC"/>
                          <a:sym typeface="Noto Sans SC"/>
                        </a:rPr>
                        <a:t>】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3x/5x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任务层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封装可复用的任务能力单元，支持抓取任务的模型选择、场景扫描、规划与范围管理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8331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监听  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8332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处理 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8333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播放  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8351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抓夹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2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控制层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管理电机位置闭环，维护运动状态机，支持点位控制</a:t>
                      </a:r>
                      <a:endParaRPr lang="en-US" sz="11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管理电机扭矩闭环，实现力位混合控制与柔性抓取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8321 Move Control</a:t>
                      </a:r>
                      <a:endParaRPr lang="en-US" sz="11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8322 Torque Control</a:t>
                      </a:r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1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驱动库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Lib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一调度电机驱动请求，实现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MIDI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协议转换与模块间协同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8311 MIDI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驱动库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Lib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0480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Layer 0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Servos API</a:t>
                      </a:r>
                      <a:endParaRPr lang="en-US" sz="11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定义标准化电机控制指令，支持多型号伺服电机的统一编排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8301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多型号电机 </a:t>
                      </a:r>
                      <a:r>
                        <a:rPr lang="en-US" sz="10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Servos API</a:t>
                      </a:r>
                      <a:endParaRPr lang="en-US" sz="1100"/>
                    </a:p>
                  </a:txBody>
                  <a:tcPr marL="76200" marR="76200" marT="76200" marB="76200"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6097268" y="4868999"/>
            <a:ext cx="5758276" cy="72000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1" i="0" u="none" strike="noStrike" dirty="0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8701 Commands 指令集</a:t>
            </a:r>
            <a:endParaRPr lang="en-US" sz="1100" dirty="0"/>
          </a:p>
        </p:txBody>
      </p:sp>
      <p:sp>
        <p:nvSpPr>
          <p:cNvPr id="3" name="AutoShape 3"/>
          <p:cNvSpPr/>
          <p:nvPr/>
        </p:nvSpPr>
        <p:spPr>
          <a:xfrm>
            <a:off x="6097724" y="4148999"/>
            <a:ext cx="5758276" cy="720001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8711 GatewayLoop 总网关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6097724" y="3428999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8721 Memory 记忆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8976000" y="3428998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8722 Session 场景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6097724" y="2708999"/>
            <a:ext cx="1440227" cy="719999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8731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Model_selection</a:t>
            </a:r>
          </a:p>
        </p:txBody>
      </p:sp>
      <p:sp>
        <p:nvSpPr>
          <p:cNvPr id="7" name="AutoShape 7"/>
          <p:cNvSpPr/>
          <p:nvPr/>
        </p:nvSpPr>
        <p:spPr>
          <a:xfrm>
            <a:off x="7537724" y="2708999"/>
            <a:ext cx="1440227" cy="719999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8732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Model_scan</a:t>
            </a:r>
          </a:p>
        </p:txBody>
      </p:sp>
      <p:sp>
        <p:nvSpPr>
          <p:cNvPr id="8" name="AutoShape 8"/>
          <p:cNvSpPr/>
          <p:nvPr/>
        </p:nvSpPr>
        <p:spPr>
          <a:xfrm>
            <a:off x="8979326" y="2708999"/>
            <a:ext cx="1440227" cy="719999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8733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PI_model</a:t>
            </a:r>
          </a:p>
        </p:txBody>
      </p:sp>
      <p:sp>
        <p:nvSpPr>
          <p:cNvPr id="9" name="AutoShape 9"/>
          <p:cNvSpPr/>
          <p:nvPr/>
        </p:nvSpPr>
        <p:spPr>
          <a:xfrm>
            <a:off x="10415773" y="2708998"/>
            <a:ext cx="1440227" cy="719999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8751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12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Agent_scope</a:t>
            </a:r>
          </a:p>
        </p:txBody>
      </p:sp>
      <p:sp>
        <p:nvSpPr>
          <p:cNvPr id="10" name="AutoShape 10"/>
          <p:cNvSpPr/>
          <p:nvPr/>
        </p:nvSpPr>
        <p:spPr>
          <a:xfrm>
            <a:off x="7714572" y="750910"/>
            <a:ext cx="3693342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AI_Agent </a:t>
            </a:r>
            <a:r>
              <a:rPr lang="en-US" sz="22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框架</a:t>
            </a:r>
            <a:r>
              <a:rPr lang="en-US" sz="22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(OpenClaw)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6276000" y="763798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1</a:t>
            </a:r>
            <a:endParaRPr lang="en-US" sz="1100"/>
          </a:p>
        </p:txBody>
      </p:sp>
      <p:grpSp>
        <p:nvGrpSpPr>
          <p:cNvPr id="12" name="Group 12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13" name="AutoShape 13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3" name="AutoShape 23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24" name="AutoShape 24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20386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808080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33" name="Connector 33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4" name="Connector 34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5" name="Connector 35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6" name="Connector 36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7" name="Connector 37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8" name="Connector 38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39" name="Connector 39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0" name="Connector 40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1" name="Connector 41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2" name="Connector 42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3" name="Connector 43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4" name="Connector 44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45" name="AutoShape 45"/>
          <p:cNvSpPr/>
          <p:nvPr/>
        </p:nvSpPr>
        <p:spPr>
          <a:xfrm>
            <a:off x="6096000" y="1989001"/>
            <a:ext cx="5760000" cy="72000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8761_1 Skill 技能库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6097724" y="1269001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8771 Channels 通道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8976000" y="1269000"/>
            <a:ext cx="2880000" cy="720001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500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8772 UI 用户接口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Arial Black"/>
                <a:ea typeface="Arial Black"/>
                <a:cs typeface="Arial Black"/>
                <a:sym typeface="Arial Black"/>
              </a:rPr>
              <a:t>AI Agent</a:t>
            </a: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框架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6995286" y="774358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9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6634572" y="763797"/>
            <a:ext cx="358572" cy="360000"/>
          </a:xfrm>
          <a:prstGeom prst="octagon">
            <a:avLst>
              <a:gd name="adj" fmla="val 29289"/>
            </a:avLst>
          </a:prstGeom>
          <a:solidFill>
            <a:srgbClr val="000000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x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344643" y="5985835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4472C4"/>
                </a:solidFill>
                <a:latin typeface="微软雅黑"/>
                <a:ea typeface="微软雅黑"/>
                <a:cs typeface="微软雅黑"/>
                <a:sym typeface="微软雅黑"/>
              </a:rPr>
              <a:t>通道</a:t>
            </a:r>
            <a:r>
              <a:rPr lang="en-US" sz="1500" b="1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/UI   2.Agent </a:t>
            </a:r>
            <a:r>
              <a:rPr lang="en-US" sz="1500" b="0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  </a:t>
            </a:r>
            <a:r>
              <a:rPr lang="en-US" sz="1500" b="1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1" i="0" u="none" strike="noStrike">
                <a:solidFill>
                  <a:srgbClr val="4472C4"/>
                </a:solidFill>
                <a:latin typeface="微软雅黑"/>
                <a:ea typeface="微软雅黑"/>
                <a:cs typeface="微软雅黑"/>
                <a:sym typeface="微软雅黑"/>
              </a:rPr>
              <a:t>提示词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8.Skill   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场景上下文</a:t>
            </a:r>
            <a:r>
              <a:rPr lang="en-US" sz="1500" b="1" i="0" u="none" strike="noStrike">
                <a:solidFill>
                  <a:srgbClr val="4472C4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1" i="0" u="none" strike="noStrike">
                <a:solidFill>
                  <a:srgbClr val="4472C4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1602085" y="786175"/>
            <a:ext cx="3445397" cy="430887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2200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拥有最高权限的智能体</a:t>
            </a:r>
            <a:endParaRPr lang="en-US" sz="1100"/>
          </a:p>
        </p:txBody>
      </p:sp>
      <p:pic>
        <p:nvPicPr>
          <p:cNvPr id="53" name="Picture 5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11284814" y="656540"/>
            <a:ext cx="720000" cy="595636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Arial Black"/>
                <a:ea typeface="Arial Black"/>
                <a:cs typeface="Arial Black"/>
                <a:sym typeface="Arial Black"/>
              </a:rPr>
              <a:t>AI Agent</a:t>
            </a: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框架</a:t>
            </a:r>
            <a:endParaRPr lang="en-US" sz="1100"/>
          </a:p>
        </p:txBody>
      </p:sp>
      <p:graphicFrame>
        <p:nvGraphicFramePr>
          <p:cNvPr id="3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24386378"/>
              </p:ext>
            </p:extLst>
          </p:nvPr>
        </p:nvGraphicFramePr>
        <p:xfrm>
          <a:off x="333138" y="729001"/>
          <a:ext cx="11702407" cy="5779643"/>
        </p:xfrm>
        <a:graphic>
          <a:graphicData uri="http://schemas.openxmlformats.org/drawingml/2006/table">
            <a:tbl>
              <a:tblPr>
                <a:effectLst/>
              </a:tblPr>
              <a:tblGrid>
                <a:gridCol w="1044857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60333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54656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50765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28839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层级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名称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功能说明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1" i="0" u="none" strike="noStrike">
                          <a:solidFill>
                            <a:srgbClr val="FFFFFF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对应原子功能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4472C4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7.1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Channels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通道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提供多模态数据传输与协议适配，支持内外系统间的数据流交互。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8771 Channels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通道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81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7.2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UI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用户接口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提供人机交互界面，支持指令输入、状态反馈与结果可视化。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8772 UI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用户接口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661770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6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Skill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技能库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可扩展技能库，支持专业领域精细化深耕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8761 Skill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技能库</a:t>
                      </a:r>
                      <a:endParaRPr lang="en-US" sz="15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 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323539">
                <a:tc>
                  <a:txBody>
                    <a:bodyPr/>
                    <a:lstStyle/>
                    <a:p>
                      <a:pPr marL="0" indent="0" algn="ctr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3.x</a:t>
                      </a:r>
                      <a:endParaRPr lang="en-US" sz="1500"/>
                    </a:p>
                    <a:p>
                      <a:pPr marL="0" indent="0" algn="ctr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…</a:t>
                      </a:r>
                    </a:p>
                    <a:p>
                      <a:pPr marL="0" indent="0" algn="ctr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5.x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Agent Model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封装可复用的任务能力单元，支持模型选择、场景扫描、规划与范围管理等。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8731 Model_selection</a:t>
                      </a:r>
                      <a:endParaRPr lang="en-US" sz="15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8732 Model_scan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8733 PI_model</a:t>
                      </a:r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8751 Agent_scope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2.1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Memory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记忆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存储与管理对话上下文、任务状态与历史数据，支持长期记忆与短期上下文切换。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8721 Memory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记忆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2.2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Session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管理多轮任务的生命周期，维护场景上下文、会话状态与执行链路。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8722 Session </a:t>
                      </a: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场景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1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GatewayLoop </a:t>
                      </a:r>
                      <a:endParaRPr lang="en-US" sz="15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总网关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事件循环系统服务，统一调度与路由请求，实现模块间的协同与负载均衡，保障系统高可用。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8711 GatewayLoop </a:t>
                      </a:r>
                      <a:endParaRPr lang="en-US" sz="150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总网关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FD5EA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79049"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Layer 0</a:t>
                      </a:r>
                      <a:endParaRPr lang="en-US" sz="150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Commands </a:t>
                      </a:r>
                      <a:endParaRPr lang="en-US" sz="1500" dirty="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指令集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定义标准化指令与协议，支持技能调用、模型调度与场景控制的统一编排。</a:t>
                      </a:r>
                      <a:endParaRPr lang="en-US" sz="1500" dirty="0"/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>
                        <a:lnSpc>
                          <a:spcPct val="100000"/>
                        </a:lnSpc>
                        <a:defRPr/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ui-sans-serif"/>
                          <a:ea typeface="ui-sans-serif"/>
                          <a:cs typeface="ui-sans-serif"/>
                          <a:sym typeface="ui-sans-serif"/>
                        </a:rPr>
                        <a:t>8701 Commands </a:t>
                      </a:r>
                      <a:endParaRPr lang="en-US" sz="1500" dirty="0"/>
                    </a:p>
                    <a:p>
                      <a:pPr marL="0" indent="0" algn="l">
                        <a:lnSpc>
                          <a:spcPct val="100000"/>
                        </a:lnSpc>
                      </a:pPr>
                      <a:r>
                        <a:rPr lang="en-US" sz="1500" b="0" i="0" u="none" strike="noStrike" dirty="0">
                          <a:solidFill>
                            <a:srgbClr val="000000"/>
                          </a:solidFill>
                          <a:latin typeface="SimHei"/>
                          <a:ea typeface="SimHei"/>
                          <a:cs typeface="SimHei"/>
                          <a:sym typeface="SimHei"/>
                        </a:rPr>
                        <a:t>指令集</a:t>
                      </a:r>
                    </a:p>
                  </a:txBody>
                  <a:tcPr anchor="ctr">
                    <a:lnL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9EBF5">
                        <a:alpha val="100000"/>
                      </a:srgb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55772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双足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行走</a:t>
            </a:r>
          </a:p>
        </p:txBody>
      </p:sp>
      <p:sp>
        <p:nvSpPr>
          <p:cNvPr id="3" name="AutoShape 3"/>
          <p:cNvSpPr/>
          <p:nvPr/>
        </p:nvSpPr>
        <p:spPr>
          <a:xfrm>
            <a:off x="335498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55498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生成世界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775498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8101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图像生成</a:t>
            </a: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API</a:t>
            </a:r>
          </a:p>
        </p:txBody>
      </p:sp>
      <p:sp>
        <p:nvSpPr>
          <p:cNvPr id="6" name="AutoShape 6"/>
          <p:cNvSpPr/>
          <p:nvPr/>
        </p:nvSpPr>
        <p:spPr>
          <a:xfrm>
            <a:off x="335361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5498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215498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495224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基于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FastAPI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的多视角图像生成服务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215224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8111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多视角</a:t>
            </a: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Pipeline</a:t>
            </a:r>
          </a:p>
        </p:txBody>
      </p:sp>
      <p:sp>
        <p:nvSpPr>
          <p:cNvPr id="11" name="AutoShape 11"/>
          <p:cNvSpPr/>
          <p:nvPr/>
        </p:nvSpPr>
        <p:spPr>
          <a:xfrm>
            <a:off x="3935224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基于参考图与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地图生成多视角图像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2495087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935224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376000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656000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0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8121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0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UNet</a:t>
            </a:r>
            <a:r>
              <a:rPr lang="en-US" sz="10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扩散模型</a:t>
            </a:r>
          </a:p>
        </p:txBody>
      </p:sp>
      <p:sp>
        <p:nvSpPr>
          <p:cNvPr id="16" name="AutoShape 16"/>
          <p:cNvSpPr/>
          <p:nvPr/>
        </p:nvSpPr>
        <p:spPr>
          <a:xfrm>
            <a:off x="5375726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支持多视角交叉注意力机制的条件扩散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UNet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图像生成模型</a:t>
            </a:r>
            <a:r>
              <a:rPr lang="en-US" sz="800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096000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8122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条件控制模型</a:t>
            </a:r>
          </a:p>
        </p:txBody>
      </p:sp>
      <p:sp>
        <p:nvSpPr>
          <p:cNvPr id="18" name="AutoShape 18"/>
          <p:cNvSpPr/>
          <p:nvPr/>
        </p:nvSpPr>
        <p:spPr>
          <a:xfrm>
            <a:off x="4655863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536000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816000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支持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条件控制，融合多视参数、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框、位姿与地图，实现高一致图像生成。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535726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8131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条件嵌入</a:t>
            </a:r>
          </a:p>
        </p:txBody>
      </p:sp>
      <p:sp>
        <p:nvSpPr>
          <p:cNvPr id="23" name="AutoShape 23"/>
          <p:cNvSpPr/>
          <p:nvPr/>
        </p:nvSpPr>
        <p:spPr>
          <a:xfrm>
            <a:off x="8256000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将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BEV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语义地图编码为与扩散模型对齐的低维条件特征，支持高精度图像生成控制。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815863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6000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975452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8132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框条件嵌入</a:t>
            </a:r>
          </a:p>
        </p:txBody>
      </p:sp>
      <p:sp>
        <p:nvSpPr>
          <p:cNvPr id="27" name="AutoShape 27"/>
          <p:cNvSpPr/>
          <p:nvPr/>
        </p:nvSpPr>
        <p:spPr>
          <a:xfrm>
            <a:off x="8975452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10415452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9695452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将归一化</a:t>
            </a:r>
            <a:r>
              <a:rPr lang="en-US" sz="7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3D</a:t>
            </a: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框与类别文本特征融合，生成语义联合嵌入，用于条件扩散生成。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10415178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8151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时序多视融合</a:t>
            </a:r>
          </a:p>
        </p:txBody>
      </p:sp>
      <p:sp>
        <p:nvSpPr>
          <p:cNvPr id="31" name="AutoShape 31"/>
          <p:cNvSpPr/>
          <p:nvPr/>
        </p:nvSpPr>
        <p:spPr>
          <a:xfrm>
            <a:off x="11135452" y="54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7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在扩散模型中联合建模多视角空间关系与帧间时序依赖，支持可控多视角视频生成。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95315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1135452" y="126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055635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四轮底盘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335361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83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055361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三指控制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1775361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335224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84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1775361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3215361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2495087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3215087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3935087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2494950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3935087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5375863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4655863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5375589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6095863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4655726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6095863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7535863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3" name="AutoShape 53"/>
          <p:cNvSpPr/>
          <p:nvPr/>
        </p:nvSpPr>
        <p:spPr>
          <a:xfrm>
            <a:off x="6815863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7535589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8255863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6" name="AutoShape 56"/>
          <p:cNvSpPr/>
          <p:nvPr/>
        </p:nvSpPr>
        <p:spPr>
          <a:xfrm>
            <a:off x="6815726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7" name="AutoShape 57"/>
          <p:cNvSpPr/>
          <p:nvPr/>
        </p:nvSpPr>
        <p:spPr>
          <a:xfrm>
            <a:off x="8255863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8975315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8975315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0" name="AutoShape 60"/>
          <p:cNvSpPr/>
          <p:nvPr/>
        </p:nvSpPr>
        <p:spPr>
          <a:xfrm>
            <a:off x="10415315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1" name="AutoShape 61"/>
          <p:cNvSpPr/>
          <p:nvPr/>
        </p:nvSpPr>
        <p:spPr>
          <a:xfrm>
            <a:off x="9695315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10415041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11135315" y="198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4" name="AutoShape 64"/>
          <p:cNvSpPr/>
          <p:nvPr/>
        </p:nvSpPr>
        <p:spPr>
          <a:xfrm>
            <a:off x="9695178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5" name="AutoShape 65"/>
          <p:cNvSpPr/>
          <p:nvPr/>
        </p:nvSpPr>
        <p:spPr>
          <a:xfrm>
            <a:off x="11135315" y="270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1055498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多边产品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335224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85</a:t>
            </a:r>
            <a:endParaRPr lang="en-US" sz="1100"/>
          </a:p>
        </p:txBody>
      </p:sp>
      <p:sp>
        <p:nvSpPr>
          <p:cNvPr id="68" name="AutoShape 68"/>
          <p:cNvSpPr/>
          <p:nvPr/>
        </p:nvSpPr>
        <p:spPr>
          <a:xfrm>
            <a:off x="1055224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五指控制</a:t>
            </a:r>
            <a:endParaRPr lang="en-US" sz="1100"/>
          </a:p>
        </p:txBody>
      </p:sp>
      <p:sp>
        <p:nvSpPr>
          <p:cNvPr id="69" name="AutoShape 69"/>
          <p:cNvSpPr/>
          <p:nvPr/>
        </p:nvSpPr>
        <p:spPr>
          <a:xfrm>
            <a:off x="1775224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335087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86</a:t>
            </a:r>
            <a:endParaRPr lang="en-US" sz="1100"/>
          </a:p>
        </p:txBody>
      </p:sp>
      <p:sp>
        <p:nvSpPr>
          <p:cNvPr id="71" name="AutoShape 71"/>
          <p:cNvSpPr/>
          <p:nvPr/>
        </p:nvSpPr>
        <p:spPr>
          <a:xfrm>
            <a:off x="1775224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2" name="AutoShape 72"/>
          <p:cNvSpPr/>
          <p:nvPr/>
        </p:nvSpPr>
        <p:spPr>
          <a:xfrm>
            <a:off x="3215224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3" name="AutoShape 73"/>
          <p:cNvSpPr/>
          <p:nvPr/>
        </p:nvSpPr>
        <p:spPr>
          <a:xfrm>
            <a:off x="2494950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4" name="AutoShape 74"/>
          <p:cNvSpPr/>
          <p:nvPr/>
        </p:nvSpPr>
        <p:spPr>
          <a:xfrm>
            <a:off x="3214950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5" name="AutoShape 75"/>
          <p:cNvSpPr/>
          <p:nvPr/>
        </p:nvSpPr>
        <p:spPr>
          <a:xfrm>
            <a:off x="3934950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6" name="AutoShape 76"/>
          <p:cNvSpPr/>
          <p:nvPr/>
        </p:nvSpPr>
        <p:spPr>
          <a:xfrm>
            <a:off x="2494813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7" name="AutoShape 77"/>
          <p:cNvSpPr/>
          <p:nvPr/>
        </p:nvSpPr>
        <p:spPr>
          <a:xfrm>
            <a:off x="3934950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8" name="AutoShape 78"/>
          <p:cNvSpPr/>
          <p:nvPr/>
        </p:nvSpPr>
        <p:spPr>
          <a:xfrm>
            <a:off x="5375726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9" name="AutoShape 79"/>
          <p:cNvSpPr/>
          <p:nvPr/>
        </p:nvSpPr>
        <p:spPr>
          <a:xfrm>
            <a:off x="4655726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0" name="AutoShape 80"/>
          <p:cNvSpPr/>
          <p:nvPr/>
        </p:nvSpPr>
        <p:spPr>
          <a:xfrm>
            <a:off x="5375452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1" name="AutoShape 81"/>
          <p:cNvSpPr/>
          <p:nvPr/>
        </p:nvSpPr>
        <p:spPr>
          <a:xfrm>
            <a:off x="6095726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2" name="AutoShape 82"/>
          <p:cNvSpPr/>
          <p:nvPr/>
        </p:nvSpPr>
        <p:spPr>
          <a:xfrm>
            <a:off x="4655589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3" name="AutoShape 83"/>
          <p:cNvSpPr/>
          <p:nvPr/>
        </p:nvSpPr>
        <p:spPr>
          <a:xfrm>
            <a:off x="6095726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4" name="AutoShape 84"/>
          <p:cNvSpPr/>
          <p:nvPr/>
        </p:nvSpPr>
        <p:spPr>
          <a:xfrm>
            <a:off x="7535726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5" name="AutoShape 85"/>
          <p:cNvSpPr/>
          <p:nvPr/>
        </p:nvSpPr>
        <p:spPr>
          <a:xfrm>
            <a:off x="6815726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6" name="AutoShape 86"/>
          <p:cNvSpPr/>
          <p:nvPr/>
        </p:nvSpPr>
        <p:spPr>
          <a:xfrm>
            <a:off x="7535452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7" name="AutoShape 87"/>
          <p:cNvSpPr/>
          <p:nvPr/>
        </p:nvSpPr>
        <p:spPr>
          <a:xfrm>
            <a:off x="8255726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8" name="AutoShape 88"/>
          <p:cNvSpPr/>
          <p:nvPr/>
        </p:nvSpPr>
        <p:spPr>
          <a:xfrm>
            <a:off x="6815589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9" name="AutoShape 89"/>
          <p:cNvSpPr/>
          <p:nvPr/>
        </p:nvSpPr>
        <p:spPr>
          <a:xfrm>
            <a:off x="8255726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0" name="AutoShape 90"/>
          <p:cNvSpPr/>
          <p:nvPr/>
        </p:nvSpPr>
        <p:spPr>
          <a:xfrm>
            <a:off x="8975178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1" name="AutoShape 91"/>
          <p:cNvSpPr/>
          <p:nvPr/>
        </p:nvSpPr>
        <p:spPr>
          <a:xfrm>
            <a:off x="8975178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2" name="AutoShape 92"/>
          <p:cNvSpPr/>
          <p:nvPr/>
        </p:nvSpPr>
        <p:spPr>
          <a:xfrm>
            <a:off x="10415178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3" name="AutoShape 93"/>
          <p:cNvSpPr/>
          <p:nvPr/>
        </p:nvSpPr>
        <p:spPr>
          <a:xfrm>
            <a:off x="9695178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4" name="AutoShape 94"/>
          <p:cNvSpPr/>
          <p:nvPr/>
        </p:nvSpPr>
        <p:spPr>
          <a:xfrm>
            <a:off x="10414904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5" name="AutoShape 95"/>
          <p:cNvSpPr/>
          <p:nvPr/>
        </p:nvSpPr>
        <p:spPr>
          <a:xfrm>
            <a:off x="11135178" y="342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6" name="AutoShape 96"/>
          <p:cNvSpPr/>
          <p:nvPr/>
        </p:nvSpPr>
        <p:spPr>
          <a:xfrm>
            <a:off x="9695041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7" name="AutoShape 97"/>
          <p:cNvSpPr/>
          <p:nvPr/>
        </p:nvSpPr>
        <p:spPr>
          <a:xfrm>
            <a:off x="11135178" y="414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8" name="AutoShape 98"/>
          <p:cNvSpPr/>
          <p:nvPr/>
        </p:nvSpPr>
        <p:spPr>
          <a:xfrm>
            <a:off x="1055361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记忆接口</a:t>
            </a:r>
            <a:endParaRPr lang="en-US" sz="1100"/>
          </a:p>
        </p:txBody>
      </p:sp>
      <p:sp>
        <p:nvSpPr>
          <p:cNvPr id="99" name="AutoShape 99"/>
          <p:cNvSpPr/>
          <p:nvPr/>
        </p:nvSpPr>
        <p:spPr>
          <a:xfrm>
            <a:off x="335087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87</a:t>
            </a:r>
            <a:endParaRPr lang="en-US" sz="1100"/>
          </a:p>
        </p:txBody>
      </p:sp>
      <p:sp>
        <p:nvSpPr>
          <p:cNvPr id="100" name="AutoShape 100"/>
          <p:cNvSpPr/>
          <p:nvPr/>
        </p:nvSpPr>
        <p:spPr>
          <a:xfrm>
            <a:off x="1055087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6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Agent</a:t>
            </a:r>
            <a:endParaRPr lang="en-US" sz="1100"/>
          </a:p>
        </p:txBody>
      </p:sp>
      <p:sp>
        <p:nvSpPr>
          <p:cNvPr id="101" name="AutoShape 101"/>
          <p:cNvSpPr/>
          <p:nvPr/>
        </p:nvSpPr>
        <p:spPr>
          <a:xfrm>
            <a:off x="1775086" y="4869000"/>
            <a:ext cx="739513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8701 </a:t>
            </a:r>
            <a:r>
              <a:rPr lang="en-US" sz="8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Commands</a:t>
            </a:r>
            <a:r>
              <a:rPr lang="en-US" sz="1100" b="0" i="0" u="none" strike="noStrik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 dirty="0"/>
          </a:p>
          <a:p>
            <a:pPr marL="0" indent="0" algn="l">
              <a:lnSpc>
                <a:spcPct val="100000"/>
              </a:lnSpc>
            </a:pPr>
            <a:r>
              <a:rPr lang="en-US" sz="1100" b="0" i="0" u="none" strike="noStrike" dirty="0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指令集</a:t>
            </a:r>
          </a:p>
        </p:txBody>
      </p:sp>
      <p:sp>
        <p:nvSpPr>
          <p:cNvPr id="102" name="AutoShape 102"/>
          <p:cNvSpPr/>
          <p:nvPr/>
        </p:nvSpPr>
        <p:spPr>
          <a:xfrm>
            <a:off x="334950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89</a:t>
            </a:r>
            <a:endParaRPr lang="en-US" sz="1100"/>
          </a:p>
        </p:txBody>
      </p:sp>
      <p:sp>
        <p:nvSpPr>
          <p:cNvPr id="103" name="AutoShape 103"/>
          <p:cNvSpPr/>
          <p:nvPr/>
        </p:nvSpPr>
        <p:spPr>
          <a:xfrm>
            <a:off x="1775087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4" name="AutoShape 104"/>
          <p:cNvSpPr/>
          <p:nvPr/>
        </p:nvSpPr>
        <p:spPr>
          <a:xfrm>
            <a:off x="3215087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5" name="AutoShape 105"/>
          <p:cNvSpPr/>
          <p:nvPr/>
        </p:nvSpPr>
        <p:spPr>
          <a:xfrm>
            <a:off x="2494813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标准化指令与协议</a:t>
            </a:r>
            <a:endParaRPr lang="en-US" sz="1100"/>
          </a:p>
        </p:txBody>
      </p:sp>
      <p:sp>
        <p:nvSpPr>
          <p:cNvPr id="106" name="AutoShape 106"/>
          <p:cNvSpPr/>
          <p:nvPr/>
        </p:nvSpPr>
        <p:spPr>
          <a:xfrm>
            <a:off x="3214813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9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8711 Gateway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Loop </a:t>
            </a:r>
          </a:p>
          <a:p>
            <a:pPr marL="0" indent="0" algn="l">
              <a:lnSpc>
                <a:spcPct val="100000"/>
              </a:lnSpc>
            </a:pPr>
            <a:r>
              <a:rPr lang="en-US" sz="9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总网关</a:t>
            </a:r>
          </a:p>
        </p:txBody>
      </p:sp>
      <p:sp>
        <p:nvSpPr>
          <p:cNvPr id="107" name="AutoShape 107"/>
          <p:cNvSpPr/>
          <p:nvPr/>
        </p:nvSpPr>
        <p:spPr>
          <a:xfrm>
            <a:off x="3934813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事件循环系统服务</a:t>
            </a:r>
            <a:endParaRPr lang="en-US" sz="1100"/>
          </a:p>
        </p:txBody>
      </p:sp>
      <p:sp>
        <p:nvSpPr>
          <p:cNvPr id="108" name="AutoShape 108"/>
          <p:cNvSpPr/>
          <p:nvPr/>
        </p:nvSpPr>
        <p:spPr>
          <a:xfrm>
            <a:off x="2494676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9" name="AutoShape 109"/>
          <p:cNvSpPr/>
          <p:nvPr/>
        </p:nvSpPr>
        <p:spPr>
          <a:xfrm>
            <a:off x="3934813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0" name="AutoShape 110"/>
          <p:cNvSpPr/>
          <p:nvPr/>
        </p:nvSpPr>
        <p:spPr>
          <a:xfrm>
            <a:off x="5375589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1" name="AutoShape 111"/>
          <p:cNvSpPr/>
          <p:nvPr/>
        </p:nvSpPr>
        <p:spPr>
          <a:xfrm>
            <a:off x="4655589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8721 Memory 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记忆</a:t>
            </a:r>
            <a:endParaRPr lang="en-US" sz="1100"/>
          </a:p>
        </p:txBody>
      </p:sp>
      <p:sp>
        <p:nvSpPr>
          <p:cNvPr id="112" name="AutoShape 112"/>
          <p:cNvSpPr/>
          <p:nvPr/>
        </p:nvSpPr>
        <p:spPr>
          <a:xfrm>
            <a:off x="5375315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长期记忆与短期上下文</a:t>
            </a:r>
            <a:endParaRPr lang="en-US" sz="1100"/>
          </a:p>
        </p:txBody>
      </p:sp>
      <p:sp>
        <p:nvSpPr>
          <p:cNvPr id="113" name="AutoShape 113"/>
          <p:cNvSpPr/>
          <p:nvPr/>
        </p:nvSpPr>
        <p:spPr>
          <a:xfrm>
            <a:off x="6095589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8722 Session 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场景</a:t>
            </a:r>
            <a:endParaRPr lang="en-US" sz="1100"/>
          </a:p>
        </p:txBody>
      </p:sp>
      <p:sp>
        <p:nvSpPr>
          <p:cNvPr id="114" name="AutoShape 114"/>
          <p:cNvSpPr/>
          <p:nvPr/>
        </p:nvSpPr>
        <p:spPr>
          <a:xfrm>
            <a:off x="4655452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5" name="AutoShape 115"/>
          <p:cNvSpPr/>
          <p:nvPr/>
        </p:nvSpPr>
        <p:spPr>
          <a:xfrm>
            <a:off x="6095589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6" name="AutoShape 116"/>
          <p:cNvSpPr/>
          <p:nvPr/>
        </p:nvSpPr>
        <p:spPr>
          <a:xfrm>
            <a:off x="7535589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7" name="AutoShape 117"/>
          <p:cNvSpPr/>
          <p:nvPr/>
        </p:nvSpPr>
        <p:spPr>
          <a:xfrm>
            <a:off x="6815589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多轮任务的生命周期</a:t>
            </a:r>
            <a:endParaRPr lang="en-US" sz="1100"/>
          </a:p>
        </p:txBody>
      </p:sp>
      <p:sp>
        <p:nvSpPr>
          <p:cNvPr id="118" name="AutoShape 118"/>
          <p:cNvSpPr/>
          <p:nvPr/>
        </p:nvSpPr>
        <p:spPr>
          <a:xfrm>
            <a:off x="7535315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8733 PI_model</a:t>
            </a:r>
            <a:endParaRPr lang="en-US" sz="1100"/>
          </a:p>
        </p:txBody>
      </p:sp>
      <p:sp>
        <p:nvSpPr>
          <p:cNvPr id="119" name="AutoShape 119"/>
          <p:cNvSpPr/>
          <p:nvPr/>
        </p:nvSpPr>
        <p:spPr>
          <a:xfrm>
            <a:off x="8255589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AI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模型能力单元</a:t>
            </a:r>
            <a:endParaRPr lang="en-US" sz="1100"/>
          </a:p>
        </p:txBody>
      </p:sp>
      <p:sp>
        <p:nvSpPr>
          <p:cNvPr id="120" name="AutoShape 120"/>
          <p:cNvSpPr/>
          <p:nvPr/>
        </p:nvSpPr>
        <p:spPr>
          <a:xfrm>
            <a:off x="6815452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1" name="AutoShape 121"/>
          <p:cNvSpPr/>
          <p:nvPr/>
        </p:nvSpPr>
        <p:spPr>
          <a:xfrm>
            <a:off x="8255589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2" name="AutoShape 122"/>
          <p:cNvSpPr/>
          <p:nvPr/>
        </p:nvSpPr>
        <p:spPr>
          <a:xfrm>
            <a:off x="8975041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8761 Skill 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技能库</a:t>
            </a:r>
            <a:endParaRPr lang="en-US" sz="1100"/>
          </a:p>
        </p:txBody>
      </p:sp>
      <p:sp>
        <p:nvSpPr>
          <p:cNvPr id="123" name="AutoShape 123"/>
          <p:cNvSpPr/>
          <p:nvPr/>
        </p:nvSpPr>
        <p:spPr>
          <a:xfrm>
            <a:off x="8975041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4" name="AutoShape 124"/>
          <p:cNvSpPr/>
          <p:nvPr/>
        </p:nvSpPr>
        <p:spPr>
          <a:xfrm>
            <a:off x="10415041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5" name="AutoShape 125"/>
          <p:cNvSpPr/>
          <p:nvPr/>
        </p:nvSpPr>
        <p:spPr>
          <a:xfrm>
            <a:off x="9695041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可扩展技能库</a:t>
            </a:r>
            <a:endParaRPr lang="en-US" sz="1100"/>
          </a:p>
        </p:txBody>
      </p:sp>
      <p:sp>
        <p:nvSpPr>
          <p:cNvPr id="126" name="AutoShape 126"/>
          <p:cNvSpPr/>
          <p:nvPr/>
        </p:nvSpPr>
        <p:spPr>
          <a:xfrm>
            <a:off x="10414767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ui-sans-serif"/>
                <a:ea typeface="ui-sans-serif"/>
                <a:cs typeface="ui-sans-serif"/>
                <a:sym typeface="ui-sans-serif"/>
              </a:rPr>
              <a:t>8771 Channels </a:t>
            </a: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通道</a:t>
            </a:r>
            <a:endParaRPr lang="en-US" sz="1100"/>
          </a:p>
        </p:txBody>
      </p:sp>
      <p:sp>
        <p:nvSpPr>
          <p:cNvPr id="127" name="AutoShape 127"/>
          <p:cNvSpPr/>
          <p:nvPr/>
        </p:nvSpPr>
        <p:spPr>
          <a:xfrm>
            <a:off x="11135041" y="4869000"/>
            <a:ext cx="720000" cy="720000"/>
          </a:xfrm>
          <a:prstGeom prst="rect">
            <a:avLst/>
          </a:prstGeom>
          <a:solidFill>
            <a:srgbClr val="F2F2F2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1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多模态数据传输与协议适配</a:t>
            </a:r>
            <a:endParaRPr lang="en-US" sz="1100"/>
          </a:p>
        </p:txBody>
      </p:sp>
      <p:sp>
        <p:nvSpPr>
          <p:cNvPr id="128" name="AutoShape 128"/>
          <p:cNvSpPr/>
          <p:nvPr/>
        </p:nvSpPr>
        <p:spPr>
          <a:xfrm>
            <a:off x="9694904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9" name="AutoShape 129"/>
          <p:cNvSpPr/>
          <p:nvPr/>
        </p:nvSpPr>
        <p:spPr>
          <a:xfrm>
            <a:off x="11135041" y="5589000"/>
            <a:ext cx="720000" cy="720000"/>
          </a:xfrm>
          <a:prstGeom prst="rect">
            <a:avLst/>
          </a:prstGeom>
          <a:solidFill>
            <a:srgbClr val="D9D9D9">
              <a:alpha val="100000"/>
            </a:srgbClr>
          </a:solidFill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0" name="AutoShape 130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功能区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8X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类别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81X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层级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811X.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原子功能  </a:t>
            </a:r>
            <a:endParaRPr lang="en-US" sz="1100"/>
          </a:p>
        </p:txBody>
      </p:sp>
      <p:sp>
        <p:nvSpPr>
          <p:cNvPr id="131" name="AutoShape 131"/>
          <p:cNvSpPr/>
          <p:nvPr/>
        </p:nvSpPr>
        <p:spPr>
          <a:xfrm>
            <a:off x="333138" y="118973"/>
            <a:ext cx="10515600" cy="3638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vert="horz" wrap="square" lIns="91440" tIns="45720" rIns="91440" bIns="45720" rtlCol="0" anchor="ctr">
            <a:noAutofit/>
          </a:bodyPr>
          <a:lstStyle/>
          <a:p>
            <a:pPr marL="0" indent="0" algn="l">
              <a:lnSpc>
                <a:spcPct val="91666"/>
              </a:lnSpc>
              <a:defRPr/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功能库</a:t>
            </a:r>
            <a:endParaRPr lang="en-US" sz="11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 hasCustomPrompt="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marL="0" indent="0" algn="l">
              <a:lnSpc>
                <a:spcPct val="91666"/>
              </a:lnSpc>
            </a:pPr>
            <a:r>
              <a:rPr lang="en-US" sz="2700" b="1" i="0" u="none" strike="noStrike">
                <a:solidFill>
                  <a:srgbClr val="002060"/>
                </a:solidFill>
                <a:latin typeface="微软雅黑"/>
                <a:ea typeface="微软雅黑"/>
                <a:cs typeface="微软雅黑"/>
                <a:sym typeface="微软雅黑"/>
              </a:rPr>
              <a:t>图生图实例</a:t>
            </a:r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>
          <a:xfrm>
            <a:off x="0" y="1269000"/>
            <a:ext cx="12192000" cy="5284662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4" name="AutoShape 4"/>
          <p:cNvSpPr/>
          <p:nvPr/>
        </p:nvSpPr>
        <p:spPr>
          <a:xfrm>
            <a:off x="316015" y="729000"/>
            <a:ext cx="11700000" cy="369332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工作流运行在</a:t>
            </a: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RunningHub</a:t>
            </a: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或自建服务平台上，采用</a:t>
            </a: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ComfyUI</a:t>
            </a: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开源框架和</a:t>
            </a:r>
            <a:r>
              <a:rPr lang="en-US" sz="18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Nvidia Cosmos Predict 2.5</a:t>
            </a:r>
            <a:r>
              <a:rPr lang="en-US" sz="1800" b="0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模型</a:t>
            </a:r>
            <a:endParaRPr lang="en-US" sz="1100"/>
          </a:p>
        </p:txBody>
      </p:sp>
      <p:pic>
        <p:nvPicPr>
          <p:cNvPr id="5" name="Picture 5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7716000" y="2349000"/>
            <a:ext cx="4105848" cy="4001058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11"/>
          </p:nvPr>
        </p:nvSpPr>
        <p:spPr>
          <a:prstGeom prst="rect">
            <a:avLst/>
          </a:prstGeom>
        </p:spPr>
        <p:txBody>
          <a:bodyPr wrap="square" lIns="91440" tIns="45720" rIns="91440" bIns="45720" anchor="ctr">
            <a:normAutofit/>
          </a:bodyPr>
          <a:lstStyle>
            <a:lvl1pPr algn="l">
              <a:lnSpc>
                <a:spcPct val="91666"/>
              </a:lnSpc>
              <a:defRPr sz="44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sp>
        <p:nvSpPr>
          <p:cNvPr id="3" name="AutoShape 3"/>
          <p:cNvSpPr>
            <a:spLocks noGrp="1"/>
          </p:cNvSpPr>
          <p:nvPr>
            <p:ph type="body" sz="quarter" idx="12"/>
          </p:nvPr>
        </p:nvSpPr>
        <p:spPr>
          <a:prstGeom prst="rect">
            <a:avLst/>
          </a:prstGeom>
        </p:spPr>
        <p:txBody>
          <a:bodyPr wrap="square" lIns="91440" tIns="45720" rIns="91440" bIns="45720" anchor="t">
            <a:normAutofit/>
          </a:bodyPr>
          <a:lstStyle>
            <a:lvl1pPr algn="l">
              <a:lnSpc>
                <a:spcPct val="91666"/>
              </a:lnSpc>
              <a:defRPr sz="2800" b="0" i="0" u="none" strike="noStrike" spc="0">
                <a:solidFill>
                  <a:srgbClr val="00000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05577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33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105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" name="AutoShape 5"/>
          <p:cNvSpPr/>
          <p:nvPr/>
        </p:nvSpPr>
        <p:spPr>
          <a:xfrm>
            <a:off x="177549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335361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1775498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3215498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" name="AutoShape 9"/>
          <p:cNvSpPr/>
          <p:nvPr/>
        </p:nvSpPr>
        <p:spPr>
          <a:xfrm>
            <a:off x="249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21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3935224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" name="AutoShape 12"/>
          <p:cNvSpPr/>
          <p:nvPr/>
        </p:nvSpPr>
        <p:spPr>
          <a:xfrm>
            <a:off x="2495087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3935224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37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5" name="AutoShape 15"/>
          <p:cNvSpPr/>
          <p:nvPr/>
        </p:nvSpPr>
        <p:spPr>
          <a:xfrm>
            <a:off x="465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375726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609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4655863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9" name="AutoShape 19"/>
          <p:cNvSpPr/>
          <p:nvPr/>
        </p:nvSpPr>
        <p:spPr>
          <a:xfrm>
            <a:off x="609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0" name="AutoShape 20"/>
          <p:cNvSpPr/>
          <p:nvPr/>
        </p:nvSpPr>
        <p:spPr>
          <a:xfrm>
            <a:off x="753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1" name="AutoShape 21"/>
          <p:cNvSpPr/>
          <p:nvPr/>
        </p:nvSpPr>
        <p:spPr>
          <a:xfrm>
            <a:off x="681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>
            <a:off x="7535726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8256000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6815863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8256000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897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7" name="AutoShape 27"/>
          <p:cNvSpPr/>
          <p:nvPr/>
        </p:nvSpPr>
        <p:spPr>
          <a:xfrm>
            <a:off x="897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8" name="AutoShape 28"/>
          <p:cNvSpPr/>
          <p:nvPr/>
        </p:nvSpPr>
        <p:spPr>
          <a:xfrm>
            <a:off x="1041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9" name="AutoShape 29"/>
          <p:cNvSpPr/>
          <p:nvPr/>
        </p:nvSpPr>
        <p:spPr>
          <a:xfrm>
            <a:off x="969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0" name="AutoShape 30"/>
          <p:cNvSpPr/>
          <p:nvPr/>
        </p:nvSpPr>
        <p:spPr>
          <a:xfrm>
            <a:off x="10415178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1" name="AutoShape 31"/>
          <p:cNvSpPr/>
          <p:nvPr/>
        </p:nvSpPr>
        <p:spPr>
          <a:xfrm>
            <a:off x="11135452" y="5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9695315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1135452" y="12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4" name="AutoShape 34"/>
          <p:cNvSpPr/>
          <p:nvPr/>
        </p:nvSpPr>
        <p:spPr>
          <a:xfrm>
            <a:off x="105563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5" name="AutoShape 35"/>
          <p:cNvSpPr/>
          <p:nvPr/>
        </p:nvSpPr>
        <p:spPr>
          <a:xfrm>
            <a:off x="33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6" name="AutoShape 36"/>
          <p:cNvSpPr/>
          <p:nvPr/>
        </p:nvSpPr>
        <p:spPr>
          <a:xfrm>
            <a:off x="105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177536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8" name="AutoShape 38"/>
          <p:cNvSpPr/>
          <p:nvPr/>
        </p:nvSpPr>
        <p:spPr>
          <a:xfrm>
            <a:off x="335224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9" name="AutoShape 39"/>
          <p:cNvSpPr/>
          <p:nvPr/>
        </p:nvSpPr>
        <p:spPr>
          <a:xfrm>
            <a:off x="1775361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0" name="AutoShape 40"/>
          <p:cNvSpPr/>
          <p:nvPr/>
        </p:nvSpPr>
        <p:spPr>
          <a:xfrm>
            <a:off x="3215361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1" name="AutoShape 41"/>
          <p:cNvSpPr/>
          <p:nvPr/>
        </p:nvSpPr>
        <p:spPr>
          <a:xfrm>
            <a:off x="249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2" name="AutoShape 42"/>
          <p:cNvSpPr/>
          <p:nvPr/>
        </p:nvSpPr>
        <p:spPr>
          <a:xfrm>
            <a:off x="321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3" name="AutoShape 43"/>
          <p:cNvSpPr/>
          <p:nvPr/>
        </p:nvSpPr>
        <p:spPr>
          <a:xfrm>
            <a:off x="3935087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4" name="AutoShape 44"/>
          <p:cNvSpPr/>
          <p:nvPr/>
        </p:nvSpPr>
        <p:spPr>
          <a:xfrm>
            <a:off x="2494950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5" name="AutoShape 45"/>
          <p:cNvSpPr/>
          <p:nvPr/>
        </p:nvSpPr>
        <p:spPr>
          <a:xfrm>
            <a:off x="3935087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6" name="AutoShape 46"/>
          <p:cNvSpPr/>
          <p:nvPr/>
        </p:nvSpPr>
        <p:spPr>
          <a:xfrm>
            <a:off x="537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7" name="AutoShape 47"/>
          <p:cNvSpPr/>
          <p:nvPr/>
        </p:nvSpPr>
        <p:spPr>
          <a:xfrm>
            <a:off x="465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8" name="AutoShape 48"/>
          <p:cNvSpPr/>
          <p:nvPr/>
        </p:nvSpPr>
        <p:spPr>
          <a:xfrm>
            <a:off x="5375589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49" name="AutoShape 49"/>
          <p:cNvSpPr/>
          <p:nvPr/>
        </p:nvSpPr>
        <p:spPr>
          <a:xfrm>
            <a:off x="609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0" name="AutoShape 50"/>
          <p:cNvSpPr/>
          <p:nvPr/>
        </p:nvSpPr>
        <p:spPr>
          <a:xfrm>
            <a:off x="4655726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1" name="AutoShape 51"/>
          <p:cNvSpPr/>
          <p:nvPr/>
        </p:nvSpPr>
        <p:spPr>
          <a:xfrm>
            <a:off x="609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2" name="AutoShape 52"/>
          <p:cNvSpPr/>
          <p:nvPr/>
        </p:nvSpPr>
        <p:spPr>
          <a:xfrm>
            <a:off x="753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3" name="AutoShape 53"/>
          <p:cNvSpPr/>
          <p:nvPr/>
        </p:nvSpPr>
        <p:spPr>
          <a:xfrm>
            <a:off x="681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4" name="AutoShape 54"/>
          <p:cNvSpPr/>
          <p:nvPr/>
        </p:nvSpPr>
        <p:spPr>
          <a:xfrm>
            <a:off x="7535589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5" name="AutoShape 55"/>
          <p:cNvSpPr/>
          <p:nvPr/>
        </p:nvSpPr>
        <p:spPr>
          <a:xfrm>
            <a:off x="8255863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6" name="AutoShape 56"/>
          <p:cNvSpPr/>
          <p:nvPr/>
        </p:nvSpPr>
        <p:spPr>
          <a:xfrm>
            <a:off x="6815726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7" name="AutoShape 57"/>
          <p:cNvSpPr/>
          <p:nvPr/>
        </p:nvSpPr>
        <p:spPr>
          <a:xfrm>
            <a:off x="8255863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8" name="AutoShape 58"/>
          <p:cNvSpPr/>
          <p:nvPr/>
        </p:nvSpPr>
        <p:spPr>
          <a:xfrm>
            <a:off x="897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59" name="AutoShape 59"/>
          <p:cNvSpPr/>
          <p:nvPr/>
        </p:nvSpPr>
        <p:spPr>
          <a:xfrm>
            <a:off x="897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0" name="AutoShape 60"/>
          <p:cNvSpPr/>
          <p:nvPr/>
        </p:nvSpPr>
        <p:spPr>
          <a:xfrm>
            <a:off x="1041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1" name="AutoShape 61"/>
          <p:cNvSpPr/>
          <p:nvPr/>
        </p:nvSpPr>
        <p:spPr>
          <a:xfrm>
            <a:off x="969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2" name="AutoShape 62"/>
          <p:cNvSpPr/>
          <p:nvPr/>
        </p:nvSpPr>
        <p:spPr>
          <a:xfrm>
            <a:off x="10415041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3" name="AutoShape 63"/>
          <p:cNvSpPr/>
          <p:nvPr/>
        </p:nvSpPr>
        <p:spPr>
          <a:xfrm>
            <a:off x="11135315" y="19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4" name="AutoShape 64"/>
          <p:cNvSpPr/>
          <p:nvPr/>
        </p:nvSpPr>
        <p:spPr>
          <a:xfrm>
            <a:off x="9695178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5" name="AutoShape 65"/>
          <p:cNvSpPr/>
          <p:nvPr/>
        </p:nvSpPr>
        <p:spPr>
          <a:xfrm>
            <a:off x="11135315" y="270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6" name="AutoShape 66"/>
          <p:cNvSpPr/>
          <p:nvPr/>
        </p:nvSpPr>
        <p:spPr>
          <a:xfrm>
            <a:off x="105549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7" name="AutoShape 67"/>
          <p:cNvSpPr/>
          <p:nvPr/>
        </p:nvSpPr>
        <p:spPr>
          <a:xfrm>
            <a:off x="33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8" name="AutoShape 68"/>
          <p:cNvSpPr/>
          <p:nvPr/>
        </p:nvSpPr>
        <p:spPr>
          <a:xfrm>
            <a:off x="105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69" name="AutoShape 69"/>
          <p:cNvSpPr/>
          <p:nvPr/>
        </p:nvSpPr>
        <p:spPr>
          <a:xfrm>
            <a:off x="177522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0" name="AutoShape 70"/>
          <p:cNvSpPr/>
          <p:nvPr/>
        </p:nvSpPr>
        <p:spPr>
          <a:xfrm>
            <a:off x="335087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1" name="AutoShape 71"/>
          <p:cNvSpPr/>
          <p:nvPr/>
        </p:nvSpPr>
        <p:spPr>
          <a:xfrm>
            <a:off x="1775224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2" name="AutoShape 72"/>
          <p:cNvSpPr/>
          <p:nvPr/>
        </p:nvSpPr>
        <p:spPr>
          <a:xfrm>
            <a:off x="3215224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3" name="AutoShape 73"/>
          <p:cNvSpPr/>
          <p:nvPr/>
        </p:nvSpPr>
        <p:spPr>
          <a:xfrm>
            <a:off x="249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4" name="AutoShape 74"/>
          <p:cNvSpPr/>
          <p:nvPr/>
        </p:nvSpPr>
        <p:spPr>
          <a:xfrm>
            <a:off x="321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5" name="AutoShape 75"/>
          <p:cNvSpPr/>
          <p:nvPr/>
        </p:nvSpPr>
        <p:spPr>
          <a:xfrm>
            <a:off x="3934950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6" name="AutoShape 76"/>
          <p:cNvSpPr/>
          <p:nvPr/>
        </p:nvSpPr>
        <p:spPr>
          <a:xfrm>
            <a:off x="2494813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7" name="AutoShape 77"/>
          <p:cNvSpPr/>
          <p:nvPr/>
        </p:nvSpPr>
        <p:spPr>
          <a:xfrm>
            <a:off x="3934950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8" name="AutoShape 78"/>
          <p:cNvSpPr/>
          <p:nvPr/>
        </p:nvSpPr>
        <p:spPr>
          <a:xfrm>
            <a:off x="537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79" name="AutoShape 79"/>
          <p:cNvSpPr/>
          <p:nvPr/>
        </p:nvSpPr>
        <p:spPr>
          <a:xfrm>
            <a:off x="465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0" name="AutoShape 80"/>
          <p:cNvSpPr/>
          <p:nvPr/>
        </p:nvSpPr>
        <p:spPr>
          <a:xfrm>
            <a:off x="5375452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1" name="AutoShape 81"/>
          <p:cNvSpPr/>
          <p:nvPr/>
        </p:nvSpPr>
        <p:spPr>
          <a:xfrm>
            <a:off x="609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2" name="AutoShape 82"/>
          <p:cNvSpPr/>
          <p:nvPr/>
        </p:nvSpPr>
        <p:spPr>
          <a:xfrm>
            <a:off x="4655589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3" name="AutoShape 83"/>
          <p:cNvSpPr/>
          <p:nvPr/>
        </p:nvSpPr>
        <p:spPr>
          <a:xfrm>
            <a:off x="609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4" name="AutoShape 84"/>
          <p:cNvSpPr/>
          <p:nvPr/>
        </p:nvSpPr>
        <p:spPr>
          <a:xfrm>
            <a:off x="753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5" name="AutoShape 85"/>
          <p:cNvSpPr/>
          <p:nvPr/>
        </p:nvSpPr>
        <p:spPr>
          <a:xfrm>
            <a:off x="681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6" name="AutoShape 86"/>
          <p:cNvSpPr/>
          <p:nvPr/>
        </p:nvSpPr>
        <p:spPr>
          <a:xfrm>
            <a:off x="7535452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7" name="AutoShape 87"/>
          <p:cNvSpPr/>
          <p:nvPr/>
        </p:nvSpPr>
        <p:spPr>
          <a:xfrm>
            <a:off x="8255726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8" name="AutoShape 88"/>
          <p:cNvSpPr/>
          <p:nvPr/>
        </p:nvSpPr>
        <p:spPr>
          <a:xfrm>
            <a:off x="6815589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89" name="AutoShape 89"/>
          <p:cNvSpPr/>
          <p:nvPr/>
        </p:nvSpPr>
        <p:spPr>
          <a:xfrm>
            <a:off x="8255726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0" name="AutoShape 90"/>
          <p:cNvSpPr/>
          <p:nvPr/>
        </p:nvSpPr>
        <p:spPr>
          <a:xfrm>
            <a:off x="897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1" name="AutoShape 91"/>
          <p:cNvSpPr/>
          <p:nvPr/>
        </p:nvSpPr>
        <p:spPr>
          <a:xfrm>
            <a:off x="897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2" name="AutoShape 92"/>
          <p:cNvSpPr/>
          <p:nvPr/>
        </p:nvSpPr>
        <p:spPr>
          <a:xfrm>
            <a:off x="1041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3" name="AutoShape 93"/>
          <p:cNvSpPr/>
          <p:nvPr/>
        </p:nvSpPr>
        <p:spPr>
          <a:xfrm>
            <a:off x="969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4" name="AutoShape 94"/>
          <p:cNvSpPr/>
          <p:nvPr/>
        </p:nvSpPr>
        <p:spPr>
          <a:xfrm>
            <a:off x="10414904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5" name="AutoShape 95"/>
          <p:cNvSpPr/>
          <p:nvPr/>
        </p:nvSpPr>
        <p:spPr>
          <a:xfrm>
            <a:off x="11135178" y="342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6" name="AutoShape 96"/>
          <p:cNvSpPr/>
          <p:nvPr/>
        </p:nvSpPr>
        <p:spPr>
          <a:xfrm>
            <a:off x="9695041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7" name="AutoShape 97"/>
          <p:cNvSpPr/>
          <p:nvPr/>
        </p:nvSpPr>
        <p:spPr>
          <a:xfrm>
            <a:off x="11135178" y="414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8" name="AutoShape 98"/>
          <p:cNvSpPr/>
          <p:nvPr/>
        </p:nvSpPr>
        <p:spPr>
          <a:xfrm>
            <a:off x="105536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99" name="AutoShape 99"/>
          <p:cNvSpPr/>
          <p:nvPr/>
        </p:nvSpPr>
        <p:spPr>
          <a:xfrm>
            <a:off x="33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0" name="AutoShape 100"/>
          <p:cNvSpPr/>
          <p:nvPr/>
        </p:nvSpPr>
        <p:spPr>
          <a:xfrm>
            <a:off x="105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1" name="AutoShape 101"/>
          <p:cNvSpPr/>
          <p:nvPr/>
        </p:nvSpPr>
        <p:spPr>
          <a:xfrm>
            <a:off x="177508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2" name="AutoShape 102"/>
          <p:cNvSpPr/>
          <p:nvPr/>
        </p:nvSpPr>
        <p:spPr>
          <a:xfrm>
            <a:off x="334950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3" name="AutoShape 103"/>
          <p:cNvSpPr/>
          <p:nvPr/>
        </p:nvSpPr>
        <p:spPr>
          <a:xfrm>
            <a:off x="1775087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4" name="AutoShape 104"/>
          <p:cNvSpPr/>
          <p:nvPr/>
        </p:nvSpPr>
        <p:spPr>
          <a:xfrm>
            <a:off x="3215087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5" name="AutoShape 105"/>
          <p:cNvSpPr/>
          <p:nvPr/>
        </p:nvSpPr>
        <p:spPr>
          <a:xfrm>
            <a:off x="249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6" name="AutoShape 106"/>
          <p:cNvSpPr/>
          <p:nvPr/>
        </p:nvSpPr>
        <p:spPr>
          <a:xfrm>
            <a:off x="321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7" name="AutoShape 107"/>
          <p:cNvSpPr/>
          <p:nvPr/>
        </p:nvSpPr>
        <p:spPr>
          <a:xfrm>
            <a:off x="3934813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8" name="AutoShape 108"/>
          <p:cNvSpPr/>
          <p:nvPr/>
        </p:nvSpPr>
        <p:spPr>
          <a:xfrm>
            <a:off x="2494676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09" name="AutoShape 109"/>
          <p:cNvSpPr/>
          <p:nvPr/>
        </p:nvSpPr>
        <p:spPr>
          <a:xfrm>
            <a:off x="3934813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0" name="AutoShape 110"/>
          <p:cNvSpPr/>
          <p:nvPr/>
        </p:nvSpPr>
        <p:spPr>
          <a:xfrm>
            <a:off x="537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1" name="AutoShape 111"/>
          <p:cNvSpPr/>
          <p:nvPr/>
        </p:nvSpPr>
        <p:spPr>
          <a:xfrm>
            <a:off x="465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2" name="AutoShape 112"/>
          <p:cNvSpPr/>
          <p:nvPr/>
        </p:nvSpPr>
        <p:spPr>
          <a:xfrm>
            <a:off x="5375315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3" name="AutoShape 113"/>
          <p:cNvSpPr/>
          <p:nvPr/>
        </p:nvSpPr>
        <p:spPr>
          <a:xfrm>
            <a:off x="609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4" name="AutoShape 114"/>
          <p:cNvSpPr/>
          <p:nvPr/>
        </p:nvSpPr>
        <p:spPr>
          <a:xfrm>
            <a:off x="4655452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5" name="AutoShape 115"/>
          <p:cNvSpPr/>
          <p:nvPr/>
        </p:nvSpPr>
        <p:spPr>
          <a:xfrm>
            <a:off x="609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6" name="AutoShape 116"/>
          <p:cNvSpPr/>
          <p:nvPr/>
        </p:nvSpPr>
        <p:spPr>
          <a:xfrm>
            <a:off x="753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7" name="AutoShape 117"/>
          <p:cNvSpPr/>
          <p:nvPr/>
        </p:nvSpPr>
        <p:spPr>
          <a:xfrm>
            <a:off x="681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8" name="AutoShape 118"/>
          <p:cNvSpPr/>
          <p:nvPr/>
        </p:nvSpPr>
        <p:spPr>
          <a:xfrm>
            <a:off x="7535315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19" name="AutoShape 119"/>
          <p:cNvSpPr/>
          <p:nvPr/>
        </p:nvSpPr>
        <p:spPr>
          <a:xfrm>
            <a:off x="8255589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0" name="AutoShape 120"/>
          <p:cNvSpPr/>
          <p:nvPr/>
        </p:nvSpPr>
        <p:spPr>
          <a:xfrm>
            <a:off x="6815452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1" name="AutoShape 121"/>
          <p:cNvSpPr/>
          <p:nvPr/>
        </p:nvSpPr>
        <p:spPr>
          <a:xfrm>
            <a:off x="8255589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2" name="AutoShape 122"/>
          <p:cNvSpPr/>
          <p:nvPr/>
        </p:nvSpPr>
        <p:spPr>
          <a:xfrm>
            <a:off x="897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3" name="AutoShape 123"/>
          <p:cNvSpPr/>
          <p:nvPr/>
        </p:nvSpPr>
        <p:spPr>
          <a:xfrm>
            <a:off x="897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4" name="AutoShape 124"/>
          <p:cNvSpPr/>
          <p:nvPr/>
        </p:nvSpPr>
        <p:spPr>
          <a:xfrm>
            <a:off x="1041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5" name="AutoShape 125"/>
          <p:cNvSpPr/>
          <p:nvPr/>
        </p:nvSpPr>
        <p:spPr>
          <a:xfrm>
            <a:off x="969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6" name="AutoShape 126"/>
          <p:cNvSpPr/>
          <p:nvPr/>
        </p:nvSpPr>
        <p:spPr>
          <a:xfrm>
            <a:off x="10414767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7" name="AutoShape 127"/>
          <p:cNvSpPr/>
          <p:nvPr/>
        </p:nvSpPr>
        <p:spPr>
          <a:xfrm>
            <a:off x="11135041" y="486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8" name="AutoShape 128"/>
          <p:cNvSpPr/>
          <p:nvPr/>
        </p:nvSpPr>
        <p:spPr>
          <a:xfrm>
            <a:off x="9694904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29" name="AutoShape 129"/>
          <p:cNvSpPr/>
          <p:nvPr/>
        </p:nvSpPr>
        <p:spPr>
          <a:xfrm>
            <a:off x="11135041" y="5589000"/>
            <a:ext cx="720000" cy="720000"/>
          </a:xfrm>
          <a:prstGeom prst="rect">
            <a:avLst/>
          </a:prstGeom>
          <a:noFill/>
          <a:ln w="12700" cap="flat">
            <a:solidFill>
              <a:srgbClr val="2F528F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800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7599592" y="1098382"/>
            <a:ext cx="3449411" cy="5116684"/>
          </a:xfrm>
          <a:prstGeom prst="rect">
            <a:avLst/>
          </a:prstGeom>
          <a:solidFill>
            <a:srgbClr val="DAE3F3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7589645" y="3945158"/>
            <a:ext cx="3449411" cy="2279329"/>
          </a:xfrm>
          <a:prstGeom prst="rect">
            <a:avLst/>
          </a:prstGeom>
          <a:solidFill>
            <a:srgbClr val="B4C7E7">
              <a:alpha val="100000"/>
            </a:srgbClr>
          </a:solidFill>
          <a:ln w="12700" cap="flat">
            <a:noFill/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4" name="Connector 4"/>
          <p:cNvCxnSpPr/>
          <p:nvPr/>
        </p:nvCxnSpPr>
        <p:spPr>
          <a:xfrm>
            <a:off x="1277185" y="4385648"/>
            <a:ext cx="2514945" cy="0"/>
          </a:xfrm>
          <a:prstGeom prst="line">
            <a:avLst/>
          </a:prstGeom>
          <a:noFill/>
          <a:ln w="12700" cap="flat">
            <a:solidFill>
              <a:srgbClr val="808080">
                <a:alpha val="100000"/>
              </a:srgbClr>
            </a:solidFill>
            <a:prstDash val="dash"/>
            <a:headEnd type="none" w="med" len="med"/>
            <a:tailEnd type="none" w="med" len="med"/>
          </a:ln>
        </p:spPr>
      </p:cxnSp>
      <p:sp>
        <p:nvSpPr>
          <p:cNvPr id="5" name="AutoShape 5"/>
          <p:cNvSpPr/>
          <p:nvPr/>
        </p:nvSpPr>
        <p:spPr>
          <a:xfrm>
            <a:off x="1415158" y="723278"/>
            <a:ext cx="6765679" cy="39254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951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岚图-睿驰联合研发实绩介绍-核心目标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3923943" y="1911146"/>
            <a:ext cx="1023751" cy="1023751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感知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975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agent</a:t>
            </a:r>
          </a:p>
        </p:txBody>
      </p:sp>
      <p:sp>
        <p:nvSpPr>
          <p:cNvPr id="7" name="AutoShape 7"/>
          <p:cNvSpPr/>
          <p:nvPr/>
        </p:nvSpPr>
        <p:spPr>
          <a:xfrm>
            <a:off x="7722999" y="1385498"/>
            <a:ext cx="2926488" cy="2595198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系统定义与规划</a:t>
            </a: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明确自主系统的整体架构，设定全局目标与性能指标。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综合集成</a:t>
            </a: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规划异构硬件和系统软件的集成策略，确保各组件高效协同工作。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安全与信任</a:t>
            </a: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：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 定义系统的安全性和可靠性要求，包括故障检测、隔离和恢复机制。</a:t>
            </a:r>
          </a:p>
        </p:txBody>
      </p:sp>
      <p:sp>
        <p:nvSpPr>
          <p:cNvPr id="8" name="AutoShape 8"/>
          <p:cNvSpPr/>
          <p:nvPr/>
        </p:nvSpPr>
        <p:spPr>
          <a:xfrm>
            <a:off x="3923944" y="2934895"/>
            <a:ext cx="2047499" cy="1462500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endParaRPr lang="en-US" sz="1700"/>
          </a:p>
          <a:p>
            <a:pPr marL="0" indent="0" algn="ctr">
              <a:lnSpc>
                <a:spcPct val="100000"/>
              </a:lnSpc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数据处理</a:t>
            </a:r>
          </a:p>
        </p:txBody>
      </p:sp>
      <p:sp>
        <p:nvSpPr>
          <p:cNvPr id="9" name="AutoShape 9"/>
          <p:cNvSpPr/>
          <p:nvPr/>
        </p:nvSpPr>
        <p:spPr>
          <a:xfrm>
            <a:off x="3923944" y="4397395"/>
            <a:ext cx="3509995" cy="73125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分布式计算系统</a:t>
            </a:r>
            <a:endParaRPr lang="en-US" sz="1100"/>
          </a:p>
        </p:txBody>
      </p:sp>
      <p:sp>
        <p:nvSpPr>
          <p:cNvPr id="10" name="AutoShape 10"/>
          <p:cNvSpPr/>
          <p:nvPr/>
        </p:nvSpPr>
        <p:spPr>
          <a:xfrm>
            <a:off x="3923935" y="5128646"/>
            <a:ext cx="3510000" cy="292500"/>
          </a:xfrm>
          <a:prstGeom prst="rect">
            <a:avLst/>
          </a:prstGeom>
          <a:solidFill>
            <a:srgbClr val="3B3838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18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异构硬件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4947694" y="1911146"/>
            <a:ext cx="1023751" cy="1023751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决策</a:t>
            </a:r>
            <a:endParaRPr lang="en-US" sz="1100"/>
          </a:p>
          <a:p>
            <a:pPr marL="0" indent="0" algn="ctr">
              <a:lnSpc>
                <a:spcPct val="100000"/>
              </a:lnSpc>
            </a:pPr>
            <a:r>
              <a:rPr lang="en-US" sz="975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agent</a:t>
            </a:r>
          </a:p>
        </p:txBody>
      </p:sp>
      <p:sp>
        <p:nvSpPr>
          <p:cNvPr id="12" name="AutoShape 12"/>
          <p:cNvSpPr/>
          <p:nvPr/>
        </p:nvSpPr>
        <p:spPr>
          <a:xfrm>
            <a:off x="5971443" y="1911145"/>
            <a:ext cx="1462500" cy="585000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安全控制</a:t>
            </a:r>
            <a:endParaRPr lang="en-US" sz="1100"/>
          </a:p>
        </p:txBody>
      </p:sp>
      <p:cxnSp>
        <p:nvCxnSpPr>
          <p:cNvPr id="13" name="Connector 13"/>
          <p:cNvCxnSpPr/>
          <p:nvPr/>
        </p:nvCxnSpPr>
        <p:spPr>
          <a:xfrm>
            <a:off x="3923943" y="1785323"/>
            <a:ext cx="351000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14" name="Connector 14"/>
          <p:cNvCxnSpPr/>
          <p:nvPr/>
        </p:nvCxnSpPr>
        <p:spPr>
          <a:xfrm>
            <a:off x="3792129" y="1911145"/>
            <a:ext cx="0" cy="35100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15" name="AutoShape 15"/>
          <p:cNvSpPr/>
          <p:nvPr/>
        </p:nvSpPr>
        <p:spPr>
          <a:xfrm>
            <a:off x="5971443" y="2496146"/>
            <a:ext cx="1462500" cy="438751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保障与恢复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971442" y="2934895"/>
            <a:ext cx="1462500" cy="1462500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endParaRPr lang="en-US" sz="1700"/>
          </a:p>
          <a:p>
            <a:pPr marL="0" indent="0" algn="ctr">
              <a:lnSpc>
                <a:spcPct val="100000"/>
              </a:lnSpc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智能管理</a:t>
            </a:r>
          </a:p>
        </p:txBody>
      </p:sp>
      <p:sp>
        <p:nvSpPr>
          <p:cNvPr id="17" name="AutoShape 17"/>
          <p:cNvSpPr/>
          <p:nvPr/>
        </p:nvSpPr>
        <p:spPr>
          <a:xfrm>
            <a:off x="4405339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6263942" y="3162259"/>
            <a:ext cx="877500" cy="292500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lgDash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975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知识库</a:t>
            </a:r>
            <a:endParaRPr lang="en-US" sz="1100"/>
          </a:p>
        </p:txBody>
      </p:sp>
      <p:pic>
        <p:nvPicPr>
          <p:cNvPr id="19" name="Picture 19"/>
          <p:cNvPicPr>
            <a:picLocks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1360444" y="3208335"/>
            <a:ext cx="2325275" cy="1751551"/>
          </a:xfrm>
          <a:prstGeom prst="rect">
            <a:avLst/>
          </a:prstGeom>
          <a:ln w="12700">
            <a:noFill/>
            <a:prstDash val="solid"/>
          </a:ln>
        </p:spPr>
      </p:pic>
      <p:sp>
        <p:nvSpPr>
          <p:cNvPr id="20" name="AutoShape 20"/>
          <p:cNvSpPr/>
          <p:nvPr/>
        </p:nvSpPr>
        <p:spPr>
          <a:xfrm>
            <a:off x="5073370" y="1195258"/>
            <a:ext cx="1589829" cy="54258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r>
              <a:rPr lang="en-US" sz="1463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自动驾驶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自主系统技术栈</a:t>
            </a:r>
          </a:p>
        </p:txBody>
      </p:sp>
      <p:sp>
        <p:nvSpPr>
          <p:cNvPr id="21" name="AutoShape 21"/>
          <p:cNvSpPr/>
          <p:nvPr/>
        </p:nvSpPr>
        <p:spPr>
          <a:xfrm>
            <a:off x="2350918" y="5040570"/>
            <a:ext cx="367479" cy="176153"/>
          </a:xfrm>
          <a:prstGeom prst="downArrow">
            <a:avLst>
              <a:gd name="adj1" fmla="val 50000"/>
              <a:gd name="adj2" fmla="val 50000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2" name="AutoShape 22"/>
          <p:cNvSpPr/>
          <p:nvPr/>
        </p:nvSpPr>
        <p:spPr>
          <a:xfrm rot="10800000">
            <a:off x="2321039" y="3042626"/>
            <a:ext cx="367479" cy="176153"/>
          </a:xfrm>
          <a:prstGeom prst="downArrow">
            <a:avLst>
              <a:gd name="adj1" fmla="val 50000"/>
              <a:gd name="adj2" fmla="val 50000"/>
            </a:avLst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3" name="AutoShape 23"/>
          <p:cNvSpPr/>
          <p:nvPr/>
        </p:nvSpPr>
        <p:spPr>
          <a:xfrm>
            <a:off x="4706014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4" name="AutoShape 24"/>
          <p:cNvSpPr/>
          <p:nvPr/>
        </p:nvSpPr>
        <p:spPr>
          <a:xfrm>
            <a:off x="5006687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5" name="AutoShape 25"/>
          <p:cNvSpPr/>
          <p:nvPr/>
        </p:nvSpPr>
        <p:spPr>
          <a:xfrm>
            <a:off x="5307362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26" name="AutoShape 26"/>
          <p:cNvSpPr/>
          <p:nvPr/>
        </p:nvSpPr>
        <p:spPr>
          <a:xfrm>
            <a:off x="5608034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27" name="Connector 27"/>
          <p:cNvCxnSpPr/>
          <p:nvPr/>
        </p:nvCxnSpPr>
        <p:spPr>
          <a:xfrm>
            <a:off x="4507715" y="2851079"/>
            <a:ext cx="0" cy="2925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8" name="Connector 28"/>
          <p:cNvCxnSpPr/>
          <p:nvPr/>
        </p:nvCxnSpPr>
        <p:spPr>
          <a:xfrm>
            <a:off x="5423187" y="2851079"/>
            <a:ext cx="0" cy="2925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9" name="AutoShape 29"/>
          <p:cNvSpPr/>
          <p:nvPr/>
        </p:nvSpPr>
        <p:spPr>
          <a:xfrm>
            <a:off x="4322503" y="3066644"/>
            <a:ext cx="2925000" cy="497251"/>
          </a:xfrm>
          <a:prstGeom prst="roundRect">
            <a:avLst>
              <a:gd name="adj" fmla="val 16667"/>
            </a:avLst>
          </a:prstGeom>
          <a:noFill/>
          <a:ln w="12700" cap="flat">
            <a:solidFill>
              <a:srgbClr val="1F4E79">
                <a:alpha val="100000"/>
              </a:srgbClr>
            </a:solidFill>
            <a:prstDash val="lgDash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30" name="Connector 30"/>
          <p:cNvCxnSpPr/>
          <p:nvPr/>
        </p:nvCxnSpPr>
        <p:spPr>
          <a:xfrm rot="10800000" flipV="1">
            <a:off x="5898522" y="3315335"/>
            <a:ext cx="29250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31" name="AutoShape 31"/>
          <p:cNvSpPr/>
          <p:nvPr/>
        </p:nvSpPr>
        <p:spPr>
          <a:xfrm>
            <a:off x="1548060" y="1497181"/>
            <a:ext cx="2137659" cy="31745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【自主系统】 </a:t>
            </a:r>
            <a:r>
              <a:rPr lang="en-US" sz="1218" b="1" i="1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设计与集成</a:t>
            </a:r>
            <a:endParaRPr lang="en-US" sz="1100"/>
          </a:p>
        </p:txBody>
      </p:sp>
      <p:sp>
        <p:nvSpPr>
          <p:cNvPr id="32" name="AutoShape 32"/>
          <p:cNvSpPr/>
          <p:nvPr/>
        </p:nvSpPr>
        <p:spPr>
          <a:xfrm>
            <a:off x="1415159" y="5228324"/>
            <a:ext cx="2125511" cy="50507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【算法软件】 </a:t>
            </a:r>
            <a:r>
              <a:rPr lang="en-US" sz="1218" b="1" i="1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开发与部署</a:t>
            </a:r>
            <a:endParaRPr lang="en-US" sz="1100"/>
          </a:p>
        </p:txBody>
      </p:sp>
      <p:sp>
        <p:nvSpPr>
          <p:cNvPr id="33" name="AutoShape 33"/>
          <p:cNvSpPr/>
          <p:nvPr/>
        </p:nvSpPr>
        <p:spPr>
          <a:xfrm>
            <a:off x="1708829" y="1780128"/>
            <a:ext cx="1957571" cy="1184876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>
            <a:lvl1pPr marL="384556" indent="-152400"/>
            <a:lvl2pPr marL="841756" indent="-152400"/>
            <a:lvl3pPr marL="1298956" indent="-152400"/>
            <a:lvl4pPr marL="1756156" indent="-152400"/>
            <a:lvl5pPr marL="2213356" indent="-152400"/>
            <a:lvl6pPr marL="2670556" indent="-152400"/>
            <a:lvl7pPr marL="3127756" indent="-152400"/>
            <a:lvl8pPr marL="3584956" indent="-152400"/>
            <a:lvl9pPr marL="4042156" indent="-152400"/>
          </a:lstStyle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系统定义与规划</a:t>
            </a:r>
            <a:endParaRPr lang="en-US" sz="1100"/>
          </a:p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综合集成</a:t>
            </a:r>
          </a:p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安全要求</a:t>
            </a:r>
          </a:p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保障与恢复机制</a:t>
            </a:r>
          </a:p>
        </p:txBody>
      </p:sp>
      <p:sp>
        <p:nvSpPr>
          <p:cNvPr id="34" name="AutoShape 34"/>
          <p:cNvSpPr/>
          <p:nvPr/>
        </p:nvSpPr>
        <p:spPr>
          <a:xfrm>
            <a:off x="1708828" y="5514818"/>
            <a:ext cx="1957571" cy="6220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>
            <a:lvl1pPr marL="384556" indent="-152400"/>
            <a:lvl2pPr marL="841756" indent="-152400"/>
            <a:lvl3pPr marL="1298956" indent="-152400"/>
            <a:lvl4pPr marL="1756156" indent="-152400"/>
            <a:lvl5pPr marL="2213356" indent="-152400"/>
            <a:lvl6pPr marL="2670556" indent="-152400"/>
            <a:lvl7pPr marL="3127756" indent="-152400"/>
            <a:lvl8pPr marL="3584956" indent="-152400"/>
            <a:lvl9pPr marL="4042156" indent="-152400"/>
          </a:lstStyle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  <a:defRPr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算法逻辑</a:t>
            </a:r>
            <a:endParaRPr lang="en-US" sz="1100"/>
          </a:p>
          <a:p>
            <a:pPr marL="232156" indent="-232156" algn="l">
              <a:lnSpc>
                <a:spcPct val="150000"/>
              </a:lnSpc>
              <a:buClr>
                <a:srgbClr val="000000"/>
              </a:buClr>
              <a:buFont typeface="Arial"/>
              <a:buChar char="•"/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软件工程</a:t>
            </a:r>
          </a:p>
        </p:txBody>
      </p:sp>
      <p:sp>
        <p:nvSpPr>
          <p:cNvPr id="35" name="AutoShape 35"/>
          <p:cNvSpPr/>
          <p:nvPr/>
        </p:nvSpPr>
        <p:spPr>
          <a:xfrm>
            <a:off x="7720497" y="4222738"/>
            <a:ext cx="3173695" cy="231056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模型代理开发：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基于面向模型的agent，开发端到端的两阶段模型。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特征数据处理：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开发面向feature特征数据流的数据处理模块。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智能管理系统：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建设知识库和模型库管理系统。</a:t>
            </a:r>
          </a:p>
        </p:txBody>
      </p:sp>
      <p:sp>
        <p:nvSpPr>
          <p:cNvPr id="36" name="AutoShape 36"/>
          <p:cNvSpPr/>
          <p:nvPr/>
        </p:nvSpPr>
        <p:spPr>
          <a:xfrm>
            <a:off x="8369675" y="1157746"/>
            <a:ext cx="2137659" cy="31745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【岚图核心目标】</a:t>
            </a:r>
            <a:endParaRPr lang="en-US" sz="1100"/>
          </a:p>
        </p:txBody>
      </p:sp>
      <p:sp>
        <p:nvSpPr>
          <p:cNvPr id="37" name="AutoShape 37"/>
          <p:cNvSpPr/>
          <p:nvPr/>
        </p:nvSpPr>
        <p:spPr>
          <a:xfrm>
            <a:off x="8298917" y="3945158"/>
            <a:ext cx="2137659" cy="317459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【睿驰核心目标】</a:t>
            </a:r>
            <a:endParaRPr lang="en-US" sz="11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/>
          <p:nvPr/>
        </p:nvSpPr>
        <p:spPr>
          <a:xfrm>
            <a:off x="1415158" y="723278"/>
            <a:ext cx="6765679" cy="392543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951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岚图-睿驰联合研发实绩介绍-实施方案</a:t>
            </a:r>
            <a:endParaRPr lang="en-US" sz="1100"/>
          </a:p>
        </p:txBody>
      </p:sp>
      <p:sp>
        <p:nvSpPr>
          <p:cNvPr id="3" name="AutoShape 3"/>
          <p:cNvSpPr/>
          <p:nvPr/>
        </p:nvSpPr>
        <p:spPr>
          <a:xfrm>
            <a:off x="3923943" y="1911146"/>
            <a:ext cx="1023751" cy="1023751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F:10</a:t>
            </a:r>
            <a:endParaRPr lang="en-US" sz="1100"/>
          </a:p>
        </p:txBody>
      </p:sp>
      <p:sp>
        <p:nvSpPr>
          <p:cNvPr id="4" name="AutoShape 4"/>
          <p:cNvSpPr/>
          <p:nvPr/>
        </p:nvSpPr>
        <p:spPr>
          <a:xfrm>
            <a:off x="3923944" y="2934895"/>
            <a:ext cx="2047499" cy="1462500"/>
          </a:xfrm>
          <a:prstGeom prst="rect">
            <a:avLst/>
          </a:prstGeom>
          <a:solidFill>
            <a:srgbClr val="A9D18E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endParaRPr lang="en-US" sz="1700"/>
          </a:p>
          <a:p>
            <a:pPr marL="0" indent="0" algn="ctr">
              <a:lnSpc>
                <a:spcPct val="100000"/>
              </a:lnSpc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F:1020</a:t>
            </a:r>
          </a:p>
        </p:txBody>
      </p:sp>
      <p:sp>
        <p:nvSpPr>
          <p:cNvPr id="5" name="AutoShape 5"/>
          <p:cNvSpPr/>
          <p:nvPr/>
        </p:nvSpPr>
        <p:spPr>
          <a:xfrm>
            <a:off x="3923944" y="4397395"/>
            <a:ext cx="3509995" cy="731251"/>
          </a:xfrm>
          <a:prstGeom prst="rect">
            <a:avLst/>
          </a:prstGeom>
          <a:solidFill>
            <a:srgbClr val="9DC3E6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S:101</a:t>
            </a:r>
            <a:endParaRPr lang="en-US" sz="1100"/>
          </a:p>
        </p:txBody>
      </p:sp>
      <p:sp>
        <p:nvSpPr>
          <p:cNvPr id="6" name="AutoShape 6"/>
          <p:cNvSpPr/>
          <p:nvPr/>
        </p:nvSpPr>
        <p:spPr>
          <a:xfrm>
            <a:off x="3923935" y="5128646"/>
            <a:ext cx="3510000" cy="292500"/>
          </a:xfrm>
          <a:prstGeom prst="rect">
            <a:avLst/>
          </a:prstGeom>
          <a:solidFill>
            <a:srgbClr val="3B3838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218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S:202</a:t>
            </a:r>
            <a:endParaRPr lang="en-US" sz="1100"/>
          </a:p>
        </p:txBody>
      </p:sp>
      <p:sp>
        <p:nvSpPr>
          <p:cNvPr id="7" name="AutoShape 7"/>
          <p:cNvSpPr/>
          <p:nvPr/>
        </p:nvSpPr>
        <p:spPr>
          <a:xfrm>
            <a:off x="4947694" y="1911146"/>
            <a:ext cx="1023751" cy="1023751"/>
          </a:xfrm>
          <a:prstGeom prst="rect">
            <a:avLst/>
          </a:prstGeom>
          <a:solidFill>
            <a:srgbClr val="ED7D31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F:20</a:t>
            </a:r>
            <a:endParaRPr lang="en-US" sz="1100"/>
          </a:p>
        </p:txBody>
      </p:sp>
      <p:sp>
        <p:nvSpPr>
          <p:cNvPr id="8" name="AutoShape 8"/>
          <p:cNvSpPr/>
          <p:nvPr/>
        </p:nvSpPr>
        <p:spPr>
          <a:xfrm>
            <a:off x="5971443" y="1911145"/>
            <a:ext cx="1462500" cy="585000"/>
          </a:xfrm>
          <a:prstGeom prst="rect">
            <a:avLst/>
          </a:prstGeom>
          <a:solidFill>
            <a:srgbClr val="70AD47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F:30</a:t>
            </a:r>
            <a:endParaRPr lang="en-US" sz="1100"/>
          </a:p>
        </p:txBody>
      </p:sp>
      <p:cxnSp>
        <p:nvCxnSpPr>
          <p:cNvPr id="9" name="Connector 9"/>
          <p:cNvCxnSpPr/>
          <p:nvPr/>
        </p:nvCxnSpPr>
        <p:spPr>
          <a:xfrm>
            <a:off x="3923943" y="1785323"/>
            <a:ext cx="351000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10" name="AutoShape 10"/>
          <p:cNvSpPr/>
          <p:nvPr/>
        </p:nvSpPr>
        <p:spPr>
          <a:xfrm>
            <a:off x="5971443" y="2496146"/>
            <a:ext cx="1462500" cy="438751"/>
          </a:xfrm>
          <a:prstGeom prst="rect">
            <a:avLst/>
          </a:prstGeom>
          <a:solidFill>
            <a:srgbClr val="BF9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F:35</a:t>
            </a:r>
            <a:endParaRPr lang="en-US" sz="1100"/>
          </a:p>
        </p:txBody>
      </p:sp>
      <p:sp>
        <p:nvSpPr>
          <p:cNvPr id="11" name="AutoShape 11"/>
          <p:cNvSpPr/>
          <p:nvPr/>
        </p:nvSpPr>
        <p:spPr>
          <a:xfrm>
            <a:off x="5971442" y="2934895"/>
            <a:ext cx="1462500" cy="1462500"/>
          </a:xfrm>
          <a:prstGeom prst="rect">
            <a:avLst/>
          </a:prstGeom>
          <a:solidFill>
            <a:srgbClr val="2F5597">
              <a:alpha val="100000"/>
            </a:srgbClr>
          </a:solidFill>
          <a:ln w="12700" cap="flat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endParaRPr lang="en-US" sz="1700"/>
          </a:p>
          <a:p>
            <a:pPr marL="0" indent="0" algn="ctr">
              <a:lnSpc>
                <a:spcPct val="100000"/>
              </a:lnSpc>
            </a:pPr>
            <a:r>
              <a:rPr lang="en-US" sz="1787" b="1" i="0" u="none" strike="noStrike">
                <a:solidFill>
                  <a:srgbClr val="FFFFFF"/>
                </a:solidFill>
                <a:latin typeface="微软雅黑"/>
                <a:ea typeface="微软雅黑"/>
                <a:cs typeface="微软雅黑"/>
                <a:sym typeface="微软雅黑"/>
              </a:rPr>
              <a:t>F:8888</a:t>
            </a:r>
          </a:p>
        </p:txBody>
      </p:sp>
      <p:sp>
        <p:nvSpPr>
          <p:cNvPr id="12" name="AutoShape 12"/>
          <p:cNvSpPr/>
          <p:nvPr/>
        </p:nvSpPr>
        <p:spPr>
          <a:xfrm>
            <a:off x="4405339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3" name="AutoShape 13"/>
          <p:cNvSpPr/>
          <p:nvPr/>
        </p:nvSpPr>
        <p:spPr>
          <a:xfrm>
            <a:off x="6263942" y="3162259"/>
            <a:ext cx="877500" cy="292500"/>
          </a:xfrm>
          <a:prstGeom prst="rect">
            <a:avLst/>
          </a:prstGeom>
          <a:solidFill>
            <a:srgbClr val="E34DBF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lgDash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975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知识库</a:t>
            </a:r>
            <a:endParaRPr lang="en-US" sz="1100"/>
          </a:p>
        </p:txBody>
      </p:sp>
      <p:sp>
        <p:nvSpPr>
          <p:cNvPr id="14" name="AutoShape 14"/>
          <p:cNvSpPr/>
          <p:nvPr/>
        </p:nvSpPr>
        <p:spPr>
          <a:xfrm>
            <a:off x="5073370" y="1195258"/>
            <a:ext cx="1589829" cy="542584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    </a:t>
            </a:r>
            <a:r>
              <a:rPr lang="en-US" sz="1463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联合开发</a:t>
            </a:r>
            <a:endParaRPr lang="en-US" sz="1100"/>
          </a:p>
          <a:p>
            <a:pPr marL="0" indent="0" algn="l">
              <a:lnSpc>
                <a:spcPct val="100000"/>
              </a:lnSpc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共建工程实验室</a:t>
            </a:r>
          </a:p>
        </p:txBody>
      </p:sp>
      <p:sp>
        <p:nvSpPr>
          <p:cNvPr id="15" name="AutoShape 15"/>
          <p:cNvSpPr/>
          <p:nvPr/>
        </p:nvSpPr>
        <p:spPr>
          <a:xfrm>
            <a:off x="4706014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6" name="AutoShape 16"/>
          <p:cNvSpPr/>
          <p:nvPr/>
        </p:nvSpPr>
        <p:spPr>
          <a:xfrm>
            <a:off x="5006687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7" name="AutoShape 17"/>
          <p:cNvSpPr/>
          <p:nvPr/>
        </p:nvSpPr>
        <p:spPr>
          <a:xfrm>
            <a:off x="5307362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sp>
        <p:nvSpPr>
          <p:cNvPr id="18" name="AutoShape 18"/>
          <p:cNvSpPr/>
          <p:nvPr/>
        </p:nvSpPr>
        <p:spPr>
          <a:xfrm>
            <a:off x="5608034" y="3266841"/>
            <a:ext cx="204751" cy="87751"/>
          </a:xfrm>
          <a:prstGeom prst="rect">
            <a:avLst/>
          </a:prstGeom>
          <a:solidFill>
            <a:srgbClr val="FF0000">
              <a:alpha val="100000"/>
            </a:srgbClr>
          </a:solidFill>
          <a:ln w="12700" cap="flat">
            <a:solidFill>
              <a:srgbClr val="172C51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19" name="Connector 19"/>
          <p:cNvCxnSpPr/>
          <p:nvPr/>
        </p:nvCxnSpPr>
        <p:spPr>
          <a:xfrm>
            <a:off x="4507715" y="2851079"/>
            <a:ext cx="0" cy="2925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cxnSp>
        <p:nvCxnSpPr>
          <p:cNvPr id="20" name="Connector 20"/>
          <p:cNvCxnSpPr/>
          <p:nvPr/>
        </p:nvCxnSpPr>
        <p:spPr>
          <a:xfrm>
            <a:off x="5423187" y="2851079"/>
            <a:ext cx="0" cy="2925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1" name="AutoShape 21"/>
          <p:cNvSpPr/>
          <p:nvPr/>
        </p:nvSpPr>
        <p:spPr>
          <a:xfrm>
            <a:off x="4322503" y="3066644"/>
            <a:ext cx="2925000" cy="497251"/>
          </a:xfrm>
          <a:prstGeom prst="roundRect">
            <a:avLst>
              <a:gd name="adj" fmla="val 16667"/>
            </a:avLst>
          </a:prstGeom>
          <a:noFill/>
          <a:ln w="12700" cap="flat">
            <a:solidFill>
              <a:srgbClr val="1F4E79">
                <a:alpha val="100000"/>
              </a:srgbClr>
            </a:solidFill>
            <a:prstDash val="lgDash"/>
          </a:ln>
        </p:spPr>
        <p:txBody>
          <a:bodyPr wrap="square" lIns="91440" tIns="45720" rIns="91440" bIns="45720" rtlCol="0" anchor="ctr">
            <a:noAutofit/>
          </a:bodyPr>
          <a:lstStyle/>
          <a:p>
            <a:pPr marL="0" indent="0" algn="ctr">
              <a:lnSpc>
                <a:spcPct val="100000"/>
              </a:lnSpc>
              <a:defRPr/>
            </a:pPr>
            <a:r>
              <a:rPr lang="en-US" sz="1463" b="0" i="0" u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lang="en-US" sz="1100"/>
          </a:p>
        </p:txBody>
      </p:sp>
      <p:cxnSp>
        <p:nvCxnSpPr>
          <p:cNvPr id="22" name="Connector 22"/>
          <p:cNvCxnSpPr/>
          <p:nvPr/>
        </p:nvCxnSpPr>
        <p:spPr>
          <a:xfrm rot="10800000" flipV="1">
            <a:off x="5898522" y="3315335"/>
            <a:ext cx="292500" cy="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3" name="AutoShape 23"/>
          <p:cNvSpPr/>
          <p:nvPr/>
        </p:nvSpPr>
        <p:spPr>
          <a:xfrm>
            <a:off x="1287764" y="1254016"/>
            <a:ext cx="2437009" cy="5124801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AI Lab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F:10 感知agent（端口号：10）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F:20 决策agent（端口号：20）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AI Lab负责开发和优化感知与决策模型算法，实现高效的算法逻辑与智能决策。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DataFlow Lab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F:1020 数据处理（端口号：1020）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致力于本地实时通讯数据流的管理与优化，确保高效可靠的数据传输。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Safety Control &amp; Protection Shell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F:30 控制（端口号：30）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F:35 保障与恢复（端口号：35）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负责开发安全控制和故障恢复机制，确保系统稳定性与可靠性</a:t>
            </a:r>
            <a:r>
              <a:rPr lang="en-US" sz="894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</a:p>
        </p:txBody>
      </p:sp>
      <p:sp>
        <p:nvSpPr>
          <p:cNvPr id="24" name="AutoShape 24"/>
          <p:cNvSpPr/>
          <p:nvPr/>
        </p:nvSpPr>
        <p:spPr>
          <a:xfrm>
            <a:off x="7795757" y="1254015"/>
            <a:ext cx="3013411" cy="4820230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50000"/>
              </a:lnSpc>
              <a:defRPr/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Agent Hub</a:t>
            </a:r>
            <a:endParaRPr lang="en-US" sz="1100"/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F:8888 智能代理管理（端口号：8888）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 Agent Hub负责本地知识库和远程智能代理的管理与协调，通过标准接口提供灵活的服务访问。</a:t>
            </a:r>
          </a:p>
          <a:p>
            <a:pPr marL="0" indent="0" algn="l">
              <a:lnSpc>
                <a:spcPct val="150000"/>
              </a:lnSpc>
            </a:pPr>
            <a:endParaRPr sz="1200"/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System Software Engineering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S:101 系统软件（端口号：101）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底层系统软件的开发与维护，提供统一的硬件抽象接口。</a:t>
            </a:r>
          </a:p>
          <a:p>
            <a:pPr marL="0" indent="0" algn="l">
              <a:lnSpc>
                <a:spcPct val="150000"/>
              </a:lnSpc>
            </a:pPr>
            <a:endParaRPr sz="1200"/>
          </a:p>
          <a:p>
            <a:pPr marL="0" indent="0" algn="l">
              <a:lnSpc>
                <a:spcPct val="150000"/>
              </a:lnSpc>
            </a:pPr>
            <a:r>
              <a:rPr lang="en-US" sz="1218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Heterogeneous Hardware Engineering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S:202 异构硬件（端口号：202）</a:t>
            </a:r>
          </a:p>
          <a:p>
            <a:pPr marL="0" indent="0" algn="l">
              <a:lnSpc>
                <a:spcPct val="150000"/>
              </a:lnSpc>
            </a:pPr>
            <a:r>
              <a:rPr lang="en-US" sz="1218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      负责异构硬件平台的接口统一和性能优化，支持多种设备的集成。</a:t>
            </a:r>
          </a:p>
          <a:p>
            <a:pPr marL="0" indent="0" algn="l">
              <a:lnSpc>
                <a:spcPct val="100000"/>
              </a:lnSpc>
            </a:pPr>
            <a:r>
              <a:rPr lang="en-US" sz="1463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</a:p>
        </p:txBody>
      </p:sp>
      <p:sp>
        <p:nvSpPr>
          <p:cNvPr id="25" name="AutoShape 25"/>
          <p:cNvSpPr/>
          <p:nvPr/>
        </p:nvSpPr>
        <p:spPr>
          <a:xfrm>
            <a:off x="3828021" y="5533618"/>
            <a:ext cx="3864491" cy="767711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  <a:prstDash val="dash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自主系统通过统一端口规划，实现远程迭代开发与本地高效验证，构建协同集成开发环境</a:t>
            </a:r>
            <a:r>
              <a:rPr lang="en-US" sz="1463" b="0" i="0" u="none" strike="noStrike">
                <a:solidFill>
                  <a:srgbClr val="000000"/>
                </a:solidFill>
                <a:latin typeface="Noto Sans SC"/>
                <a:ea typeface="Noto Sans SC"/>
                <a:cs typeface="Noto Sans SC"/>
                <a:sym typeface="Noto Sans SC"/>
              </a:rPr>
              <a:t>。</a:t>
            </a:r>
            <a:endParaRPr lang="en-US" sz="1100"/>
          </a:p>
        </p:txBody>
      </p:sp>
      <p:cxnSp>
        <p:nvCxnSpPr>
          <p:cNvPr id="26" name="Connector 26"/>
          <p:cNvCxnSpPr/>
          <p:nvPr/>
        </p:nvCxnSpPr>
        <p:spPr>
          <a:xfrm>
            <a:off x="3792129" y="1911145"/>
            <a:ext cx="0" cy="3510000"/>
          </a:xfrm>
          <a:prstGeom prst="line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none" w="med" len="med"/>
          </a:ln>
        </p:spPr>
      </p:cxnSp>
      <p:sp>
        <p:nvSpPr>
          <p:cNvPr id="27" name="AutoShape 27"/>
          <p:cNvSpPr/>
          <p:nvPr/>
        </p:nvSpPr>
        <p:spPr>
          <a:xfrm>
            <a:off x="8585159" y="5796188"/>
            <a:ext cx="2087348" cy="317459"/>
          </a:xfrm>
          <a:prstGeom prst="rect">
            <a:avLst/>
          </a:prstGeom>
          <a:noFill/>
          <a:ln w="12700">
            <a:solidFill>
              <a:srgbClr val="000000">
                <a:alpha val="100000"/>
              </a:srgbClr>
            </a:solidFill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463" b="1" i="0" u="none" strike="noStrike">
                <a:solidFill>
                  <a:srgbClr val="000000"/>
                </a:solidFill>
                <a:latin typeface="SimHei"/>
                <a:ea typeface="SimHei"/>
                <a:cs typeface="SimHei"/>
                <a:sym typeface="SimHei"/>
              </a:rPr>
              <a:t>图例  </a:t>
            </a:r>
            <a:r>
              <a:rPr lang="en-US" sz="1463" b="1" i="0" u="none" strike="noStrike">
                <a:solidFill>
                  <a:srgbClr val="5B9BD5"/>
                </a:solidFill>
                <a:latin typeface="Arial"/>
                <a:ea typeface="Arial"/>
                <a:cs typeface="Arial"/>
                <a:sym typeface="Arial"/>
              </a:rPr>
              <a:t>F </a:t>
            </a:r>
            <a:r>
              <a:rPr lang="en-US" sz="1463" b="0" i="0" u="none" strike="noStrike">
                <a:solidFill>
                  <a:srgbClr val="5B9BD5"/>
                </a:solidFill>
                <a:latin typeface="Arial"/>
                <a:ea typeface="Arial"/>
                <a:cs typeface="Arial"/>
                <a:sym typeface="Arial"/>
              </a:rPr>
              <a:t>unction, </a:t>
            </a:r>
            <a:r>
              <a:rPr lang="en-US" sz="1463" b="1" i="0" u="none" strike="noStrike">
                <a:solidFill>
                  <a:srgbClr val="5B9BD5"/>
                </a:solidFill>
                <a:latin typeface="Arial"/>
                <a:ea typeface="Arial"/>
                <a:cs typeface="Arial"/>
                <a:sym typeface="Arial"/>
              </a:rPr>
              <a:t>S </a:t>
            </a:r>
            <a:r>
              <a:rPr lang="en-US" sz="1463" b="0" i="0" u="none" strike="noStrike">
                <a:solidFill>
                  <a:srgbClr val="5B9BD5"/>
                </a:solidFill>
                <a:latin typeface="Arial"/>
                <a:ea typeface="Arial"/>
                <a:cs typeface="Arial"/>
                <a:sym typeface="Arial"/>
              </a:rPr>
              <a:t>ystem</a:t>
            </a:r>
            <a:endParaRPr lang="en-US" sz="110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16002" y="1269000"/>
            <a:ext cx="4321428" cy="4320000"/>
            <a:chOff x="6816002" y="1269000"/>
            <a:chExt cx="4321428" cy="4320000"/>
          </a:xfrm>
        </p:grpSpPr>
        <p:sp>
          <p:nvSpPr>
            <p:cNvPr id="3" name="AutoShape 3"/>
            <p:cNvSpPr/>
            <p:nvPr/>
          </p:nvSpPr>
          <p:spPr>
            <a:xfrm>
              <a:off x="753720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" name="AutoShape 4"/>
            <p:cNvSpPr/>
            <p:nvPr/>
          </p:nvSpPr>
          <p:spPr>
            <a:xfrm>
              <a:off x="681600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969720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898234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825600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753743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97600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969720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25600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1041743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753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970869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681600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753743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969720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1041743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681720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720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720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720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4" name="AutoShape 24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3" name="AutoShape 3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" name="AutoShape 4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2"/>
          <p:cNvGrpSpPr/>
          <p:nvPr/>
        </p:nvGrpSpPr>
        <p:grpSpPr>
          <a:xfrm>
            <a:off x="6814800" y="1269000"/>
            <a:ext cx="4321428" cy="4320000"/>
            <a:chOff x="6814800" y="1269000"/>
            <a:chExt cx="4321428" cy="4320000"/>
          </a:xfrm>
        </p:grpSpPr>
        <p:sp>
          <p:nvSpPr>
            <p:cNvPr id="3" name="AutoShape 3"/>
            <p:cNvSpPr/>
            <p:nvPr/>
          </p:nvSpPr>
          <p:spPr>
            <a:xfrm>
              <a:off x="753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" name="AutoShape 4"/>
            <p:cNvSpPr/>
            <p:nvPr/>
          </p:nvSpPr>
          <p:spPr>
            <a:xfrm>
              <a:off x="68148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5" name="AutoShape 5"/>
            <p:cNvSpPr/>
            <p:nvPr/>
          </p:nvSpPr>
          <p:spPr>
            <a:xfrm>
              <a:off x="969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6" name="AutoShape 6"/>
            <p:cNvSpPr/>
            <p:nvPr/>
          </p:nvSpPr>
          <p:spPr>
            <a:xfrm>
              <a:off x="8981146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7" name="AutoShape 7"/>
            <p:cNvSpPr/>
            <p:nvPr/>
          </p:nvSpPr>
          <p:spPr>
            <a:xfrm>
              <a:off x="825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8" name="AutoShape 8"/>
            <p:cNvSpPr/>
            <p:nvPr/>
          </p:nvSpPr>
          <p:spPr>
            <a:xfrm>
              <a:off x="753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9" name="AutoShape 9"/>
            <p:cNvSpPr/>
            <p:nvPr/>
          </p:nvSpPr>
          <p:spPr>
            <a:xfrm>
              <a:off x="8974800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0" name="AutoShape 10"/>
            <p:cNvSpPr/>
            <p:nvPr/>
          </p:nvSpPr>
          <p:spPr>
            <a:xfrm>
              <a:off x="969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11" name="AutoShape 11"/>
            <p:cNvSpPr/>
            <p:nvPr/>
          </p:nvSpPr>
          <p:spPr>
            <a:xfrm>
              <a:off x="8254800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12" name="AutoShape 12"/>
            <p:cNvSpPr/>
            <p:nvPr/>
          </p:nvSpPr>
          <p:spPr>
            <a:xfrm>
              <a:off x="10416228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3" name="AutoShape 13"/>
            <p:cNvSpPr/>
            <p:nvPr/>
          </p:nvSpPr>
          <p:spPr>
            <a:xfrm>
              <a:off x="7534798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14" name="AutoShape 14"/>
            <p:cNvSpPr/>
            <p:nvPr/>
          </p:nvSpPr>
          <p:spPr>
            <a:xfrm>
              <a:off x="970749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15" name="AutoShape 15"/>
            <p:cNvSpPr/>
            <p:nvPr/>
          </p:nvSpPr>
          <p:spPr>
            <a:xfrm>
              <a:off x="68148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6" name="AutoShape 16"/>
            <p:cNvSpPr/>
            <p:nvPr/>
          </p:nvSpPr>
          <p:spPr>
            <a:xfrm>
              <a:off x="753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7" name="AutoShape 17"/>
            <p:cNvSpPr/>
            <p:nvPr/>
          </p:nvSpPr>
          <p:spPr>
            <a:xfrm>
              <a:off x="969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8" name="AutoShape 18"/>
            <p:cNvSpPr/>
            <p:nvPr/>
          </p:nvSpPr>
          <p:spPr>
            <a:xfrm>
              <a:off x="10416228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19" name="AutoShape 19"/>
            <p:cNvSpPr/>
            <p:nvPr/>
          </p:nvSpPr>
          <p:spPr>
            <a:xfrm>
              <a:off x="68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20" name="AutoShape 20"/>
            <p:cNvSpPr/>
            <p:nvPr/>
          </p:nvSpPr>
          <p:spPr>
            <a:xfrm>
              <a:off x="10416000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1" name="AutoShape 21"/>
            <p:cNvSpPr/>
            <p:nvPr/>
          </p:nvSpPr>
          <p:spPr>
            <a:xfrm>
              <a:off x="68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22" name="AutoShape 22"/>
            <p:cNvSpPr/>
            <p:nvPr/>
          </p:nvSpPr>
          <p:spPr>
            <a:xfrm>
              <a:off x="1041600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grpSp>
        <p:nvGrpSpPr>
          <p:cNvPr id="23" name="Group 23"/>
          <p:cNvGrpSpPr/>
          <p:nvPr/>
        </p:nvGrpSpPr>
        <p:grpSpPr>
          <a:xfrm>
            <a:off x="1054572" y="1269000"/>
            <a:ext cx="4321428" cy="4320000"/>
            <a:chOff x="1054572" y="1269000"/>
            <a:chExt cx="4321428" cy="4320000"/>
          </a:xfrm>
        </p:grpSpPr>
        <p:sp>
          <p:nvSpPr>
            <p:cNvPr id="24" name="AutoShape 24"/>
            <p:cNvSpPr/>
            <p:nvPr/>
          </p:nvSpPr>
          <p:spPr>
            <a:xfrm>
              <a:off x="177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5" name="AutoShape 25"/>
            <p:cNvSpPr/>
            <p:nvPr/>
          </p:nvSpPr>
          <p:spPr>
            <a:xfrm>
              <a:off x="10545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1</a:t>
              </a:r>
              <a:endParaRPr lang="en-US" sz="1100"/>
            </a:p>
          </p:txBody>
        </p:sp>
        <p:sp>
          <p:nvSpPr>
            <p:cNvPr id="26" name="AutoShape 26"/>
            <p:cNvSpPr/>
            <p:nvPr/>
          </p:nvSpPr>
          <p:spPr>
            <a:xfrm>
              <a:off x="393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8</a:t>
              </a:r>
              <a:endParaRPr lang="en-US" sz="1100"/>
            </a:p>
          </p:txBody>
        </p:sp>
        <p:sp>
          <p:nvSpPr>
            <p:cNvPr id="27" name="AutoShape 27"/>
            <p:cNvSpPr/>
            <p:nvPr/>
          </p:nvSpPr>
          <p:spPr>
            <a:xfrm>
              <a:off x="3220918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28" name="AutoShape 28"/>
            <p:cNvSpPr/>
            <p:nvPr/>
          </p:nvSpPr>
          <p:spPr>
            <a:xfrm>
              <a:off x="249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9</a:t>
              </a:r>
              <a:endParaRPr lang="en-US" sz="1100"/>
            </a:p>
          </p:txBody>
        </p:sp>
        <p:sp>
          <p:nvSpPr>
            <p:cNvPr id="29" name="AutoShape 29"/>
            <p:cNvSpPr/>
            <p:nvPr/>
          </p:nvSpPr>
          <p:spPr>
            <a:xfrm>
              <a:off x="177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0" name="AutoShape 30"/>
            <p:cNvSpPr/>
            <p:nvPr/>
          </p:nvSpPr>
          <p:spPr>
            <a:xfrm>
              <a:off x="3214572" y="198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1" name="AutoShape 31"/>
            <p:cNvSpPr/>
            <p:nvPr/>
          </p:nvSpPr>
          <p:spPr>
            <a:xfrm>
              <a:off x="3935772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2</a:t>
              </a:r>
              <a:endParaRPr lang="en-US" sz="1100"/>
            </a:p>
          </p:txBody>
        </p:sp>
        <p:sp>
          <p:nvSpPr>
            <p:cNvPr id="32" name="AutoShape 32"/>
            <p:cNvSpPr/>
            <p:nvPr/>
          </p:nvSpPr>
          <p:spPr>
            <a:xfrm>
              <a:off x="2494572" y="414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3</a:t>
              </a:r>
              <a:endParaRPr lang="en-US" sz="1100"/>
            </a:p>
          </p:txBody>
        </p:sp>
        <p:sp>
          <p:nvSpPr>
            <p:cNvPr id="33" name="AutoShape 33"/>
            <p:cNvSpPr/>
            <p:nvPr/>
          </p:nvSpPr>
          <p:spPr>
            <a:xfrm>
              <a:off x="4656000" y="270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4" name="AutoShape 34"/>
            <p:cNvSpPr/>
            <p:nvPr/>
          </p:nvSpPr>
          <p:spPr>
            <a:xfrm>
              <a:off x="1774570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5</a:t>
              </a:r>
              <a:endParaRPr lang="en-US" sz="1100"/>
            </a:p>
          </p:txBody>
        </p:sp>
        <p:sp>
          <p:nvSpPr>
            <p:cNvPr id="35" name="AutoShape 35"/>
            <p:cNvSpPr/>
            <p:nvPr/>
          </p:nvSpPr>
          <p:spPr>
            <a:xfrm>
              <a:off x="3947264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6</a:t>
              </a:r>
              <a:endParaRPr lang="en-US" sz="1100"/>
            </a:p>
          </p:txBody>
        </p:sp>
        <p:sp>
          <p:nvSpPr>
            <p:cNvPr id="36" name="AutoShape 36"/>
            <p:cNvSpPr/>
            <p:nvPr/>
          </p:nvSpPr>
          <p:spPr>
            <a:xfrm>
              <a:off x="10545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7" name="AutoShape 37"/>
            <p:cNvSpPr/>
            <p:nvPr/>
          </p:nvSpPr>
          <p:spPr>
            <a:xfrm>
              <a:off x="177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8" name="AutoShape 38"/>
            <p:cNvSpPr/>
            <p:nvPr/>
          </p:nvSpPr>
          <p:spPr>
            <a:xfrm>
              <a:off x="3935772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39" name="AutoShape 39"/>
            <p:cNvSpPr/>
            <p:nvPr/>
          </p:nvSpPr>
          <p:spPr>
            <a:xfrm>
              <a:off x="4656000" y="342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0" name="AutoShape 40"/>
            <p:cNvSpPr/>
            <p:nvPr/>
          </p:nvSpPr>
          <p:spPr>
            <a:xfrm>
              <a:off x="10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7</a:t>
              </a:r>
              <a:endParaRPr lang="en-US" sz="1100"/>
            </a:p>
          </p:txBody>
        </p:sp>
        <p:sp>
          <p:nvSpPr>
            <p:cNvPr id="41" name="AutoShape 41"/>
            <p:cNvSpPr/>
            <p:nvPr/>
          </p:nvSpPr>
          <p:spPr>
            <a:xfrm>
              <a:off x="4655772" y="12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  <p:sp>
          <p:nvSpPr>
            <p:cNvPr id="42" name="AutoShape 42"/>
            <p:cNvSpPr/>
            <p:nvPr/>
          </p:nvSpPr>
          <p:spPr>
            <a:xfrm>
              <a:off x="10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4</a:t>
              </a:r>
              <a:endParaRPr lang="en-US" sz="1100"/>
            </a:p>
          </p:txBody>
        </p:sp>
        <p:sp>
          <p:nvSpPr>
            <p:cNvPr id="43" name="AutoShape 43"/>
            <p:cNvSpPr/>
            <p:nvPr/>
          </p:nvSpPr>
          <p:spPr>
            <a:xfrm>
              <a:off x="4655772" y="4869000"/>
              <a:ext cx="720000" cy="720000"/>
            </a:xfrm>
            <a:prstGeom prst="rect">
              <a:avLst/>
            </a:prstGeom>
            <a:solidFill>
              <a:srgbClr val="4472C4">
                <a:alpha val="100000"/>
              </a:srgbClr>
            </a:solidFill>
            <a:ln w="12700" cap="flat">
              <a:solidFill>
                <a:srgbClr val="2F528F">
                  <a:alpha val="100000"/>
                </a:srgbClr>
              </a:solidFill>
              <a:prstDash val="solid"/>
            </a:ln>
          </p:spPr>
          <p:txBody>
            <a:bodyPr wrap="square" lIns="91440" tIns="45720" rIns="91440" bIns="45720" rtlCol="0" anchor="ctr">
              <a:noAutofit/>
            </a:bodyPr>
            <a:lstStyle/>
            <a:p>
              <a:pPr marL="0" indent="0" algn="ctr">
                <a:lnSpc>
                  <a:spcPct val="100000"/>
                </a:lnSpc>
                <a:defRPr/>
              </a:pPr>
              <a:r>
                <a:rPr lang="en-US" sz="1800" b="0" i="0" u="none" strike="noStrike">
                  <a:solidFill>
                    <a:srgbClr val="FFFFFF"/>
                  </a:solidFill>
                  <a:latin typeface="Arial"/>
                  <a:ea typeface="Arial"/>
                  <a:cs typeface="Arial"/>
                  <a:sym typeface="Arial"/>
                </a:rPr>
                <a:t> </a:t>
              </a:r>
              <a:endParaRPr lang="en-US" sz="1100"/>
            </a:p>
          </p:txBody>
        </p:sp>
      </p:grpSp>
      <p:cxnSp>
        <p:nvCxnSpPr>
          <p:cNvPr id="44" name="Connector 44"/>
          <p:cNvCxnSpPr/>
          <p:nvPr/>
        </p:nvCxnSpPr>
        <p:spPr>
          <a:xfrm rot="-5400000">
            <a:off x="2135286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5" name="Connector 45"/>
          <p:cNvCxnSpPr/>
          <p:nvPr/>
        </p:nvCxnSpPr>
        <p:spPr>
          <a:xfrm>
            <a:off x="3934572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6" name="Connector 46"/>
          <p:cNvCxnSpPr/>
          <p:nvPr/>
        </p:nvCxnSpPr>
        <p:spPr>
          <a:xfrm rot="5400000">
            <a:off x="3938345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7" name="Connector 47"/>
          <p:cNvCxnSpPr/>
          <p:nvPr/>
        </p:nvCxnSpPr>
        <p:spPr>
          <a:xfrm rot="10800000">
            <a:off x="2136000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8" name="Connector 48"/>
          <p:cNvCxnSpPr/>
          <p:nvPr/>
        </p:nvCxnSpPr>
        <p:spPr>
          <a:xfrm rot="-5400000">
            <a:off x="7895514" y="2349714"/>
            <a:ext cx="360000" cy="358572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49" name="Connector 49"/>
          <p:cNvCxnSpPr/>
          <p:nvPr/>
        </p:nvCxnSpPr>
        <p:spPr>
          <a:xfrm>
            <a:off x="9694800" y="2349000"/>
            <a:ext cx="361200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0" name="Connector 50"/>
          <p:cNvCxnSpPr/>
          <p:nvPr/>
        </p:nvCxnSpPr>
        <p:spPr>
          <a:xfrm rot="5400000">
            <a:off x="9698573" y="4151573"/>
            <a:ext cx="360000" cy="354854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1" name="Connector 51"/>
          <p:cNvCxnSpPr/>
          <p:nvPr/>
        </p:nvCxnSpPr>
        <p:spPr>
          <a:xfrm rot="10800000">
            <a:off x="7896228" y="4149000"/>
            <a:ext cx="358572" cy="360000"/>
          </a:xfrm>
          <a:prstGeom prst="bentConnector2">
            <a:avLst/>
          </a:prstGeom>
          <a:noFill/>
          <a:ln w="12700" cap="flat">
            <a:solidFill>
              <a:srgbClr val="000000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2" name="Connector 52"/>
          <p:cNvCxnSpPr/>
          <p:nvPr/>
        </p:nvCxnSpPr>
        <p:spPr>
          <a:xfrm>
            <a:off x="2495772" y="1629000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3" name="Connector 53"/>
          <p:cNvCxnSpPr/>
          <p:nvPr/>
        </p:nvCxnSpPr>
        <p:spPr>
          <a:xfrm rot="-5400000">
            <a:off x="3575172" y="1628400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4" name="Connector 54"/>
          <p:cNvCxnSpPr/>
          <p:nvPr/>
        </p:nvCxnSpPr>
        <p:spPr>
          <a:xfrm>
            <a:off x="8254800" y="1628999"/>
            <a:ext cx="358800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5" name="Connector 55"/>
          <p:cNvCxnSpPr/>
          <p:nvPr/>
        </p:nvCxnSpPr>
        <p:spPr>
          <a:xfrm rot="-5400000">
            <a:off x="9334200" y="1628399"/>
            <a:ext cx="360000" cy="3612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6" name="Connector 56"/>
          <p:cNvCxnSpPr/>
          <p:nvPr/>
        </p:nvCxnSpPr>
        <p:spPr>
          <a:xfrm>
            <a:off x="5015772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7" name="Connector 57"/>
          <p:cNvCxnSpPr/>
          <p:nvPr/>
        </p:nvCxnSpPr>
        <p:spPr>
          <a:xfrm flipV="1">
            <a:off x="1414572" y="1989000"/>
            <a:ext cx="120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8" name="Connector 58"/>
          <p:cNvCxnSpPr/>
          <p:nvPr/>
        </p:nvCxnSpPr>
        <p:spPr>
          <a:xfrm flipV="1">
            <a:off x="7174800" y="1988999"/>
            <a:ext cx="1200" cy="720001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59" name="Connector 59"/>
          <p:cNvCxnSpPr/>
          <p:nvPr/>
        </p:nvCxnSpPr>
        <p:spPr>
          <a:xfrm>
            <a:off x="10776000" y="198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0" name="Connector 60"/>
          <p:cNvCxnSpPr/>
          <p:nvPr/>
        </p:nvCxnSpPr>
        <p:spPr>
          <a:xfrm rot="10800000" flipV="1">
            <a:off x="10776000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1" name="Connector 61"/>
          <p:cNvCxnSpPr/>
          <p:nvPr/>
        </p:nvCxnSpPr>
        <p:spPr>
          <a:xfrm rot="10800000">
            <a:off x="7168338" y="4149000"/>
            <a:ext cx="7662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2" name="Connector 62"/>
          <p:cNvCxnSpPr/>
          <p:nvPr/>
        </p:nvCxnSpPr>
        <p:spPr>
          <a:xfrm rot="5400000">
            <a:off x="8254799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3" name="Connector 63"/>
          <p:cNvCxnSpPr/>
          <p:nvPr/>
        </p:nvCxnSpPr>
        <p:spPr>
          <a:xfrm rot="5400000">
            <a:off x="2494571" y="4868999"/>
            <a:ext cx="360000" cy="360002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4" name="Connector 64"/>
          <p:cNvCxnSpPr/>
          <p:nvPr/>
        </p:nvCxnSpPr>
        <p:spPr>
          <a:xfrm rot="10800000">
            <a:off x="3580918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5" name="Connector 65"/>
          <p:cNvCxnSpPr/>
          <p:nvPr/>
        </p:nvCxnSpPr>
        <p:spPr>
          <a:xfrm rot="10800000">
            <a:off x="9341146" y="4869000"/>
            <a:ext cx="366346" cy="360000"/>
          </a:xfrm>
          <a:prstGeom prst="bentConnector2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6" name="Connector 66"/>
          <p:cNvCxnSpPr/>
          <p:nvPr/>
        </p:nvCxnSpPr>
        <p:spPr>
          <a:xfrm rot="10800000" flipV="1">
            <a:off x="5015772" y="4149000"/>
            <a:ext cx="228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cxnSp>
        <p:nvCxnSpPr>
          <p:cNvPr id="67" name="Connector 67"/>
          <p:cNvCxnSpPr/>
          <p:nvPr/>
        </p:nvCxnSpPr>
        <p:spPr>
          <a:xfrm rot="10800000">
            <a:off x="1408222" y="4149000"/>
            <a:ext cx="7550" cy="720000"/>
          </a:xfrm>
          <a:prstGeom prst="straightConnector1">
            <a:avLst/>
          </a:prstGeom>
          <a:noFill/>
          <a:ln w="12700" cap="flat">
            <a:solidFill>
              <a:srgbClr val="4472C4">
                <a:alpha val="100000"/>
              </a:srgbClr>
            </a:solidFill>
            <a:prstDash val="solid"/>
            <a:headEnd type="none" w="med" len="med"/>
            <a:tailEnd type="triangle" w="med" len="med"/>
          </a:ln>
        </p:spPr>
      </p:cxnSp>
      <p:sp>
        <p:nvSpPr>
          <p:cNvPr id="68" name="AutoShape 68"/>
          <p:cNvSpPr/>
          <p:nvPr/>
        </p:nvSpPr>
        <p:spPr>
          <a:xfrm>
            <a:off x="344643" y="6309000"/>
            <a:ext cx="11403357" cy="323165"/>
          </a:xfrm>
          <a:prstGeom prst="rect">
            <a:avLst/>
          </a:prstGeom>
          <a:noFill/>
          <a:ln w="12700">
            <a:noFill/>
            <a:prstDash val="solid"/>
          </a:ln>
        </p:spPr>
        <p:txBody>
          <a:bodyPr wrap="square" lIns="91440" tIns="45720" rIns="91440" bIns="45720" rtlCol="0" anchor="t">
            <a:spAutoFit/>
          </a:bodyPr>
          <a:lstStyle/>
          <a:p>
            <a:pPr marL="0" indent="0" algn="l">
              <a:lnSpc>
                <a:spcPct val="100000"/>
              </a:lnSpc>
              <a:defRPr/>
            </a:pPr>
            <a:r>
              <a:rPr lang="en-US" sz="1500" b="1" i="1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图例：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测量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散射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工作流逻辑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2.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更新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对称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渲染   </a:t>
            </a:r>
            <a:r>
              <a:rPr lang="en-US" sz="1500" b="1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3.</a:t>
            </a:r>
            <a:r>
              <a:rPr lang="en-US" sz="1500" b="1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模型反馈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环境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4.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约束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法规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6.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检测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输出   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7.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真值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8.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功能   </a:t>
            </a:r>
            <a:r>
              <a:rPr lang="en-US" sz="1500" b="1" i="0" u="none" strike="noStrike">
                <a:solidFill>
                  <a:srgbClr val="0070C0"/>
                </a:solidFill>
                <a:latin typeface="Arial"/>
                <a:ea typeface="Arial"/>
                <a:cs typeface="Arial"/>
                <a:sym typeface="Arial"/>
              </a:rPr>
              <a:t>9.</a:t>
            </a:r>
            <a:r>
              <a:rPr lang="en-US" sz="1500" b="1" i="0" u="none" strike="noStrike">
                <a:solidFill>
                  <a:srgbClr val="0070C0"/>
                </a:solidFill>
                <a:latin typeface="微软雅黑"/>
                <a:ea typeface="微软雅黑"/>
                <a:cs typeface="微软雅黑"/>
                <a:sym typeface="微软雅黑"/>
              </a:rPr>
              <a:t>接口</a:t>
            </a:r>
            <a:r>
              <a:rPr lang="en-US" sz="1500" b="0" i="0" u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/</a:t>
            </a:r>
            <a:r>
              <a:rPr lang="en-US" sz="1500" b="0" i="0" u="none" strike="noStrike">
                <a:solidFill>
                  <a:srgbClr val="000000"/>
                </a:solidFill>
                <a:latin typeface="微软雅黑"/>
                <a:ea typeface="微软雅黑"/>
                <a:cs typeface="微软雅黑"/>
                <a:sym typeface="微软雅黑"/>
              </a:rPr>
              <a:t>记忆  </a:t>
            </a:r>
            <a:endParaRPr lang="en-US" sz="110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92018" y="654256"/>
            <a:ext cx="11096483" cy="6273630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  <p:pic>
        <p:nvPicPr>
          <p:cNvPr id="3" name="Picture 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308107"/>
            <a:ext cx="12192000" cy="6241786"/>
          </a:xfrm>
          <a:prstGeom prst="rect">
            <a:avLst/>
          </a:prstGeom>
          <a:ln w="12700">
            <a:noFill/>
            <a:prstDash val="solid"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AutoShape 2"/>
          <p:cNvSpPr>
            <a:spLocks noGrp="1"/>
          </p:cNvSpPr>
          <p:nvPr>
            <p:ph type="body" sz="quarter" idx="22"/>
          </p:nvPr>
        </p:nvSpPr>
        <p:spPr>
          <a:prstGeom prst="rect">
            <a:avLst/>
          </a:prstGeom>
        </p:spPr>
        <p:txBody>
          <a:bodyPr lIns="91440" tIns="45720" rIns="91440" bIns="45720" anchor="t">
            <a:noAutofit/>
          </a:bodyPr>
          <a:lstStyle>
            <a:lvl1pPr algn="l">
              <a:lnSpc>
                <a:spcPct val="91666"/>
              </a:lnSpc>
              <a:defRPr sz="2700" b="1" i="0" u="none" strike="noStrike" spc="0">
                <a:solidFill>
                  <a:srgbClr val="002060">
                    <a:alpha val="100000"/>
                  </a:srgbClr>
                </a:solidFill>
                <a:latin typeface="Noto Sans SC"/>
              </a:defRPr>
            </a:lvl1pPr>
          </a:lstStyle>
          <a:p>
            <a:pPr algn="l"/>
            <a:endParaRPr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6080D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0000" y="150000"/>
            <a:ext cx="11000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600" b="1">
                <a:solidFill>
                  <a:srgbClr val="E6EDF3"/>
                </a:solidFill>
                <a:latin typeface="Microsoft YaHei"/>
              </a:defRPr>
            </a:pPr>
            <a:r>
              <a:t>Z-MAX 系统架构 · 三层总览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00000" y="680000"/>
            <a:ext cx="11000000" cy="35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B949E"/>
                </a:solidFill>
                <a:latin typeface="Microsoft YaHei"/>
              </a:defRPr>
            </a:pPr>
            <a:r>
              <a:t>云-边-端 数据闭环体系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00000" y="1300000"/>
            <a:ext cx="3400000" cy="46000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A371F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00000" y="1300000"/>
            <a:ext cx="3400000" cy="280000"/>
          </a:xfrm>
          <a:prstGeom prst="roundRect">
            <a:avLst>
              <a:gd name="adj" fmla="val 5000"/>
            </a:avLst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80000" y="1320000"/>
            <a:ext cx="3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6EDF3"/>
                </a:solidFill>
                <a:latin typeface="Microsoft YaHei"/>
              </a:defRPr>
            </a:pPr>
            <a:r>
              <a:t>云 系统2 云端训练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80000" y="166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00000" y="168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D  X-D 数据采集管理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0000" y="198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00000" y="200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M  X-Mo 模型训练微调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0000" y="230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0000" y="232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A  X-Ma 模型部署监控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250000" y="1300000"/>
            <a:ext cx="3400000" cy="46000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58A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4250000" y="1300000"/>
            <a:ext cx="3400000" cy="280000"/>
          </a:xfrm>
          <a:prstGeom prst="roundRect">
            <a:avLst>
              <a:gd name="adj" fmla="val 5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30000" y="1320000"/>
            <a:ext cx="3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6EDF3"/>
                </a:solidFill>
                <a:latin typeface="Microsoft YaHei"/>
              </a:defRPr>
            </a:pPr>
            <a:r>
              <a:t>边 系统1 边缘推理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30000" y="166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350000" y="168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V  VLA推理 Orin Nano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330000" y="198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350000" y="200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F  力-位混合动作规划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0000" y="230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350000" y="232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U  OTA远程升级回滚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900000" y="1300000"/>
            <a:ext cx="3400000" cy="46000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3FB95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7900000" y="1300000"/>
            <a:ext cx="3400000" cy="280000"/>
          </a:xfrm>
          <a:prstGeom prst="roundRect">
            <a:avLst>
              <a:gd name="adj" fmla="val 5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980000" y="1320000"/>
            <a:ext cx="3240000" cy="2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1">
                <a:solidFill>
                  <a:srgbClr val="E6EDF3"/>
                </a:solidFill>
                <a:latin typeface="Microsoft YaHei"/>
              </a:defRPr>
            </a:pPr>
            <a:r>
              <a:t>端 系统0 硬件执行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980000" y="166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00000" y="168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R  双臂运动控制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980000" y="198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00000" y="200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T  六维力/力矩反馈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980000" y="2300000"/>
            <a:ext cx="3240000" cy="280000"/>
          </a:xfrm>
          <a:prstGeom prst="roundRect">
            <a:avLst>
              <a:gd name="adj" fmla="val 5000"/>
            </a:avLst>
          </a:prstGeom>
          <a:solidFill>
            <a:srgbClr val="080C1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000000" y="2320000"/>
            <a:ext cx="3200000" cy="28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V  视觉/触觉采集</a:t>
            </a:r>
          </a:p>
        </p:txBody>
      </p:sp>
      <p:cxnSp>
        <p:nvCxnSpPr>
          <p:cNvPr id="31" name="Connector 30"/>
          <p:cNvCxnSpPr/>
          <p:nvPr/>
        </p:nvCxnSpPr>
        <p:spPr>
          <a:xfrm flipV="1">
            <a:off x="2300000" y="1300000"/>
            <a:ext cx="3650000" cy="4600000"/>
          </a:xfrm>
          <a:prstGeom prst="line">
            <a:avLst/>
          </a:prstGeom>
          <a:ln w="25400">
            <a:solidFill>
              <a:srgbClr val="A371F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ln>
          <a:tailEnd type="triangle" w="med" len="med"/>
        </a:ln>
      </p:cxnSp>
      <p:cxnSp>
        <p:nvCxnSpPr>
          <p:cNvPr id="32" name="Connector 31"/>
          <p:cNvCxnSpPr/>
          <p:nvPr/>
        </p:nvCxnSpPr>
        <p:spPr>
          <a:xfrm flipV="1">
            <a:off x="5950000" y="1300000"/>
            <a:ext cx="3650000" cy="4600000"/>
          </a:xfrm>
          <a:prstGeom prst="line">
            <a:avLst/>
          </a:prstGeom>
          <a:ln w="25400">
            <a:solidFill>
              <a:srgbClr val="58A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a:ln>
          <a:tailEnd type="triangle" w="med" len="med"/>
        </a:ln>
      </p:cxnSp>
      <p:sp>
        <p:nvSpPr>
          <p:cNvPr id="33" name="TextBox 32"/>
          <p:cNvSpPr txBox="1"/>
          <p:nvPr/>
        </p:nvSpPr>
        <p:spPr>
          <a:xfrm>
            <a:off x="1700000" y="595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A371F7"/>
                </a:solidFill>
                <a:latin typeface="Microsoft YaHei"/>
              </a:defRPr>
            </a:pPr>
            <a:r>
              <a:t>V 模型下发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350000" y="5950000"/>
            <a:ext cx="12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800" b="0">
                <a:solidFill>
                  <a:srgbClr val="58A6FF"/>
                </a:solidFill>
                <a:latin typeface="Microsoft YaHei"/>
              </a:defRPr>
            </a:pPr>
            <a:r>
              <a:t>V 动作指令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1600000" y="2700000"/>
            <a:ext cx="1800000" cy="18000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F7A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1680000" y="2800000"/>
            <a:ext cx="1640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7A90B"/>
                </a:solidFill>
                <a:latin typeface="Microsoft YaHei"/>
              </a:defRPr>
            </a:pPr>
            <a:r>
              <a:t>^ 数据回传</a:t>
            </a:r>
            <a:br/>
            <a:r>
              <a:t>关节状态</a:t>
            </a:r>
            <a:br/>
            <a:r>
              <a:t>力/力矩</a:t>
            </a:r>
            <a:br/>
            <a:r>
              <a:t>温度</a:t>
            </a:r>
            <a:br/>
            <a:r>
              <a:t>图像</a:t>
            </a:r>
            <a:br/>
            <a:r>
              <a:t>触觉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00000" y="6400000"/>
            <a:ext cx="11200000" cy="500000"/>
          </a:xfrm>
          <a:prstGeom prst="roundRect">
            <a:avLst>
              <a:gd name="adj" fmla="val 5000"/>
            </a:avLst>
          </a:prstGeom>
          <a:solidFill>
            <a:srgbClr val="0D1117"/>
          </a:solidFill>
          <a:ln w="12700">
            <a:solidFill>
              <a:srgbClr val="1A1F2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ounded Rectangle 37"/>
          <p:cNvSpPr/>
          <p:nvPr/>
        </p:nvSpPr>
        <p:spPr>
          <a:xfrm>
            <a:off x="800000" y="6500000"/>
            <a:ext cx="200000" cy="200000"/>
          </a:xfrm>
          <a:prstGeom prst="roundRect">
            <a:avLst>
              <a:gd name="adj" fmla="val 5000"/>
            </a:avLst>
          </a:prstGeom>
          <a:solidFill>
            <a:srgbClr val="A371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80000" y="648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云端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3300000" y="6500000"/>
            <a:ext cx="200000" cy="200000"/>
          </a:xfrm>
          <a:prstGeom prst="roundRect">
            <a:avLst>
              <a:gd name="adj" fmla="val 5000"/>
            </a:avLst>
          </a:prstGeom>
          <a:solidFill>
            <a:srgbClr val="58A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80000" y="648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边缘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5800000" y="6500000"/>
            <a:ext cx="200000" cy="200000"/>
          </a:xfrm>
          <a:prstGeom prst="roundRect">
            <a:avLst>
              <a:gd name="adj" fmla="val 5000"/>
            </a:avLst>
          </a:prstGeom>
          <a:solidFill>
            <a:srgbClr val="3FB95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080000" y="648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硬件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8300000" y="6500000"/>
            <a:ext cx="200000" cy="200000"/>
          </a:xfrm>
          <a:prstGeom prst="roundRect">
            <a:avLst>
              <a:gd name="adj" fmla="val 5000"/>
            </a:avLst>
          </a:prstGeom>
          <a:solidFill>
            <a:srgbClr val="F7A9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580000" y="6480000"/>
            <a:ext cx="1500000" cy="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8B949E"/>
                </a:solidFill>
                <a:latin typeface="Microsoft YaHei"/>
              </a:defRPr>
            </a:pPr>
            <a:r>
              <a:t>回传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500000" y="100000"/>
            <a:ext cx="1500000" cy="500000"/>
          </a:xfrm>
          <a:prstGeom prst="roundRect">
            <a:avLst>
              <a:gd name="adj" fmla="val 5000"/>
            </a:avLst>
          </a:prstGeom>
          <a:solidFill>
            <a:srgbClr val="06080D"/>
          </a:solidFill>
          <a:ln w="25400">
            <a:solidFill>
              <a:srgbClr val="F7A9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500000" y="100000"/>
            <a:ext cx="1500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600" b="1">
                <a:solidFill>
                  <a:srgbClr val="F7A90B"/>
                </a:solidFill>
                <a:latin typeface="Microsoft YaHei"/>
              </a:defRPr>
            </a:pPr>
            <a:r>
              <a:t>V 静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​​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1742</Words>
  <Application>Microsoft Office PowerPoint</Application>
  <PresentationFormat>宽屏</PresentationFormat>
  <Paragraphs>862</Paragraphs>
  <Slides>24</Slides>
  <Notes>7</Notes>
  <HiddenSlides>0</HiddenSlides>
  <MMClips>0</MMClips>
  <ScaleCrop>false</ScaleCrop>
  <HeadingPairs>
    <vt:vector size="6" baseType="variant">
      <vt:variant>
        <vt:lpstr>已用的字体</vt:lpstr>
      </vt:variant>
      <vt:variant>
        <vt:i4>11</vt:i4>
      </vt:variant>
      <vt:variant>
        <vt:lpstr>主题</vt:lpstr>
      </vt:variant>
      <vt:variant>
        <vt:i4>2</vt:i4>
      </vt:variant>
      <vt:variant>
        <vt:lpstr>幻灯片标题</vt:lpstr>
      </vt:variant>
      <vt:variant>
        <vt:i4>24</vt:i4>
      </vt:variant>
    </vt:vector>
  </HeadingPairs>
  <TitlesOfParts>
    <vt:vector size="37" baseType="lpstr">
      <vt:lpstr>HarmonyOS Sans Medium</vt:lpstr>
      <vt:lpstr>HarmonyOS Sans SC Medium</vt:lpstr>
      <vt:lpstr>Noto Sans SC</vt:lpstr>
      <vt:lpstr>ui-sans-serif</vt:lpstr>
      <vt:lpstr>等线</vt:lpstr>
      <vt:lpstr>SimHei</vt:lpstr>
      <vt:lpstr>微软雅黑</vt:lpstr>
      <vt:lpstr>Arial</vt:lpstr>
      <vt:lpstr>Arial Black</vt:lpstr>
      <vt:lpstr>Calibri</vt:lpstr>
      <vt:lpstr>Wingdings</vt:lpstr>
      <vt:lpstr>Office 主题​​</vt:lpstr>
      <vt:lpstr>Office 主题​​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祥 倪</cp:lastModifiedBy>
  <cp:revision>4</cp:revision>
  <dcterms:modified xsi:type="dcterms:W3CDTF">2026-07-30T03:41:12Z</dcterms:modified>
</cp:coreProperties>
</file>