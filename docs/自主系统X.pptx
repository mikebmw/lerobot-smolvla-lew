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7"/>
  </p:notesMasterIdLst>
  <p:sldIdLst>
    <p:sldId id="1660266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14" y="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29A40-2E64-4AD7-B150-0D3F8C5A144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635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364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364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364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364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364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364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1666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单击此处编辑母版副标题样式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2026/2/10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5F14990-D34B-49C0-987A-9A21CF18B7AD}" type="slidenum">
              <a:rPr sz="12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编辑母版文本样式</a:t>
            </a:r>
          </a:p>
          <a:p>
            <a:pPr marL="685800" lvl="1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第二级</a:t>
            </a:r>
          </a:p>
          <a:p>
            <a:pPr marL="1143000" lvl="2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第三级</a:t>
            </a:r>
          </a:p>
          <a:p>
            <a:pPr marL="1600200" lvl="3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第四级</a:t>
            </a:r>
          </a:p>
          <a:p>
            <a:pPr marL="2057400" lvl="4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2026/2/10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5E3B5C-13A6-4F23-B5BE-E8CB9A85ED95}" type="slidenum">
              <a:rPr sz="12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编辑母版文本样式</a:t>
            </a:r>
          </a:p>
          <a:p>
            <a:pPr marL="685800" lvl="1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第二级</a:t>
            </a:r>
          </a:p>
          <a:p>
            <a:pPr marL="1143000" lvl="2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第三级</a:t>
            </a:r>
          </a:p>
          <a:p>
            <a:pPr marL="1600200" lvl="3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第四级</a:t>
            </a:r>
          </a:p>
          <a:p>
            <a:pPr marL="2057400" lvl="4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编辑母版文本样式</a:t>
            </a:r>
          </a:p>
          <a:p>
            <a:pPr marL="685800" lvl="1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第二级</a:t>
            </a:r>
          </a:p>
          <a:p>
            <a:pPr marL="1143000" lvl="2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第三级</a:t>
            </a:r>
          </a:p>
          <a:p>
            <a:pPr marL="1600200" lvl="3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第四级</a:t>
            </a:r>
          </a:p>
          <a:p>
            <a:pPr marL="2057400" lvl="4" indent="-228600" algn="l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第五级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2026/2/10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9981455-4A26-4BC1-8895-B4F7A75796CC}" type="slidenum">
              <a:rPr sz="12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横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503499"/>
            <a:ext cx="12204000" cy="65111"/>
          </a:xfrm>
          <a:prstGeom prst="rect">
            <a:avLst/>
          </a:prstGeom>
          <a:solidFill>
            <a:srgbClr val="22518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87" b="0" i="0" u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700000" y="108000"/>
            <a:ext cx="360000" cy="324000"/>
          </a:xfrm>
          <a:prstGeom prst="triangle">
            <a:avLst>
              <a:gd name="adj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2" hasCustomPrompt="1"/>
          </p:nvPr>
        </p:nvSpPr>
        <p:spPr>
          <a:xfrm>
            <a:off x="336000" y="113125"/>
            <a:ext cx="10515600" cy="363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1666"/>
              </a:lnSpc>
              <a:defRPr sz="2700" b="1" i="0" u="none" strike="noStrike" spc="0">
                <a:solidFill>
                  <a:srgbClr val="00206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pic>
        <p:nvPicPr>
          <p:cNvPr id="6" name="picture 50">
            <a:extLst>
              <a:ext uri="{FF2B5EF4-FFF2-40B4-BE49-F238E27FC236}">
                <a16:creationId xmlns:a16="http://schemas.microsoft.com/office/drawing/2014/main" id="{2C41FCEE-58D1-CDAA-DAEF-D3C9607BAF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093"/>
            <a:ext cx="336000" cy="2921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共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503499"/>
            <a:ext cx="12204000" cy="65111"/>
          </a:xfrm>
          <a:prstGeom prst="rect">
            <a:avLst/>
          </a:prstGeom>
          <a:solidFill>
            <a:srgbClr val="22518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87" b="0" i="0" u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748000" y="117000"/>
            <a:ext cx="360000" cy="324000"/>
          </a:xfrm>
          <a:prstGeom prst="triangle">
            <a:avLst>
              <a:gd name="adj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6814800" y="1269000"/>
            <a:ext cx="4321428" cy="4320000"/>
            <a:chOff x="6814800" y="1269000"/>
            <a:chExt cx="4321428" cy="4320000"/>
          </a:xfrm>
        </p:grpSpPr>
        <p:sp>
          <p:nvSpPr>
            <p:cNvPr id="5" name="AutoShape 5"/>
            <p:cNvSpPr/>
            <p:nvPr/>
          </p:nvSpPr>
          <p:spPr>
            <a:xfrm>
              <a:off x="753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8148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969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8981146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254800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536228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974800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969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8254800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0416228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534798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970749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8148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536228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969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0416228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81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41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681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041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54572" y="1269000"/>
            <a:ext cx="4321428" cy="4320000"/>
            <a:chOff x="1054572" y="1269000"/>
            <a:chExt cx="4321428" cy="4320000"/>
          </a:xfrm>
        </p:grpSpPr>
        <p:sp>
          <p:nvSpPr>
            <p:cNvPr id="26" name="AutoShape 26"/>
            <p:cNvSpPr/>
            <p:nvPr/>
          </p:nvSpPr>
          <p:spPr>
            <a:xfrm>
              <a:off x="177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393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177457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3947264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10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46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10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46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pic>
        <p:nvPicPr>
          <p:cNvPr id="47" name="picture 50">
            <a:extLst>
              <a:ext uri="{FF2B5EF4-FFF2-40B4-BE49-F238E27FC236}">
                <a16:creationId xmlns:a16="http://schemas.microsoft.com/office/drawing/2014/main" id="{B2AA05A3-09B9-5026-0F05-0CEA66D5D4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093"/>
            <a:ext cx="336000" cy="2921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共形_旋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503499"/>
            <a:ext cx="12204000" cy="65111"/>
          </a:xfrm>
          <a:prstGeom prst="rect">
            <a:avLst/>
          </a:prstGeom>
          <a:solidFill>
            <a:srgbClr val="22518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87" b="0" i="0" u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748000" y="117000"/>
            <a:ext cx="360000" cy="324000"/>
          </a:xfrm>
          <a:prstGeom prst="triangle">
            <a:avLst>
              <a:gd name="adj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6814800" y="1269000"/>
            <a:ext cx="4321428" cy="4320000"/>
            <a:chOff x="6814800" y="1269000"/>
            <a:chExt cx="4321428" cy="4320000"/>
          </a:xfrm>
        </p:grpSpPr>
        <p:sp>
          <p:nvSpPr>
            <p:cNvPr id="5" name="AutoShape 5"/>
            <p:cNvSpPr/>
            <p:nvPr/>
          </p:nvSpPr>
          <p:spPr>
            <a:xfrm>
              <a:off x="753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8148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969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8981146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254800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536228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974800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969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8254800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0416228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534798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970749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8148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536228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969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0416228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81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41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681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041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54572" y="1269000"/>
            <a:ext cx="4321428" cy="4320000"/>
            <a:chOff x="1054572" y="1269000"/>
            <a:chExt cx="4321428" cy="4320000"/>
          </a:xfrm>
        </p:grpSpPr>
        <p:sp>
          <p:nvSpPr>
            <p:cNvPr id="26" name="AutoShape 26"/>
            <p:cNvSpPr/>
            <p:nvPr/>
          </p:nvSpPr>
          <p:spPr>
            <a:xfrm>
              <a:off x="177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393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177457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3947264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10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46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10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46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46" name="Connector 46"/>
          <p:cNvCxnSpPr/>
          <p:nvPr/>
        </p:nvCxnSpPr>
        <p:spPr>
          <a:xfrm rot="-5400000">
            <a:off x="2135286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7" name="Connector 47"/>
          <p:cNvCxnSpPr/>
          <p:nvPr/>
        </p:nvCxnSpPr>
        <p:spPr>
          <a:xfrm>
            <a:off x="3934572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8" name="Connector 48"/>
          <p:cNvCxnSpPr/>
          <p:nvPr/>
        </p:nvCxnSpPr>
        <p:spPr>
          <a:xfrm rot="5400000">
            <a:off x="3938345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9" name="Connector 49"/>
          <p:cNvCxnSpPr/>
          <p:nvPr/>
        </p:nvCxnSpPr>
        <p:spPr>
          <a:xfrm rot="10800000">
            <a:off x="2136000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0" name="Connector 50"/>
          <p:cNvCxnSpPr/>
          <p:nvPr/>
        </p:nvCxnSpPr>
        <p:spPr>
          <a:xfrm rot="-5400000">
            <a:off x="7895514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1" name="Connector 51"/>
          <p:cNvCxnSpPr/>
          <p:nvPr/>
        </p:nvCxnSpPr>
        <p:spPr>
          <a:xfrm>
            <a:off x="9694800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2" name="Connector 52"/>
          <p:cNvCxnSpPr/>
          <p:nvPr/>
        </p:nvCxnSpPr>
        <p:spPr>
          <a:xfrm rot="5400000">
            <a:off x="9698573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3" name="Connector 53"/>
          <p:cNvCxnSpPr/>
          <p:nvPr/>
        </p:nvCxnSpPr>
        <p:spPr>
          <a:xfrm rot="10800000">
            <a:off x="7896228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pic>
        <p:nvPicPr>
          <p:cNvPr id="55" name="picture 50">
            <a:extLst>
              <a:ext uri="{FF2B5EF4-FFF2-40B4-BE49-F238E27FC236}">
                <a16:creationId xmlns:a16="http://schemas.microsoft.com/office/drawing/2014/main" id="{665B377A-8283-7C4B-2A20-77AB08930F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093"/>
            <a:ext cx="336000" cy="2921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共形_旋转_扩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503499"/>
            <a:ext cx="12204000" cy="65111"/>
          </a:xfrm>
          <a:prstGeom prst="rect">
            <a:avLst/>
          </a:prstGeom>
          <a:solidFill>
            <a:srgbClr val="22518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87" b="0" i="0" u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748000" y="117000"/>
            <a:ext cx="360000" cy="324000"/>
          </a:xfrm>
          <a:prstGeom prst="triangle">
            <a:avLst>
              <a:gd name="adj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6814800" y="1269000"/>
            <a:ext cx="4321428" cy="4320000"/>
            <a:chOff x="6814800" y="1269000"/>
            <a:chExt cx="4321428" cy="4320000"/>
          </a:xfrm>
        </p:grpSpPr>
        <p:sp>
          <p:nvSpPr>
            <p:cNvPr id="5" name="AutoShape 5"/>
            <p:cNvSpPr/>
            <p:nvPr/>
          </p:nvSpPr>
          <p:spPr>
            <a:xfrm>
              <a:off x="753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8148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969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8981146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254800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536228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974800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969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8254800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0416228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534798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970749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8148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536228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969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0416228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81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41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681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041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54572" y="1269000"/>
            <a:ext cx="4321428" cy="4320000"/>
            <a:chOff x="1054572" y="1269000"/>
            <a:chExt cx="4321428" cy="4320000"/>
          </a:xfrm>
        </p:grpSpPr>
        <p:sp>
          <p:nvSpPr>
            <p:cNvPr id="26" name="AutoShape 26"/>
            <p:cNvSpPr/>
            <p:nvPr/>
          </p:nvSpPr>
          <p:spPr>
            <a:xfrm>
              <a:off x="177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393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177457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3947264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10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46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10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46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46" name="Connector 46"/>
          <p:cNvCxnSpPr/>
          <p:nvPr/>
        </p:nvCxnSpPr>
        <p:spPr>
          <a:xfrm rot="-5400000">
            <a:off x="2135286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7" name="Connector 47"/>
          <p:cNvCxnSpPr/>
          <p:nvPr/>
        </p:nvCxnSpPr>
        <p:spPr>
          <a:xfrm>
            <a:off x="3934572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8" name="Connector 48"/>
          <p:cNvCxnSpPr/>
          <p:nvPr/>
        </p:nvCxnSpPr>
        <p:spPr>
          <a:xfrm rot="5400000">
            <a:off x="3938345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9" name="Connector 49"/>
          <p:cNvCxnSpPr/>
          <p:nvPr/>
        </p:nvCxnSpPr>
        <p:spPr>
          <a:xfrm rot="10800000">
            <a:off x="2136000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0" name="Connector 50"/>
          <p:cNvCxnSpPr/>
          <p:nvPr/>
        </p:nvCxnSpPr>
        <p:spPr>
          <a:xfrm rot="-5400000">
            <a:off x="7895514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1" name="Connector 51"/>
          <p:cNvCxnSpPr/>
          <p:nvPr/>
        </p:nvCxnSpPr>
        <p:spPr>
          <a:xfrm>
            <a:off x="9694800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2" name="Connector 52"/>
          <p:cNvCxnSpPr/>
          <p:nvPr/>
        </p:nvCxnSpPr>
        <p:spPr>
          <a:xfrm rot="5400000">
            <a:off x="9698573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3" name="Connector 53"/>
          <p:cNvCxnSpPr/>
          <p:nvPr/>
        </p:nvCxnSpPr>
        <p:spPr>
          <a:xfrm rot="10800000">
            <a:off x="7896228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4" name="Connector 54"/>
          <p:cNvCxnSpPr/>
          <p:nvPr/>
        </p:nvCxnSpPr>
        <p:spPr>
          <a:xfrm>
            <a:off x="2495772" y="1629000"/>
            <a:ext cx="358800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5" name="Connector 55"/>
          <p:cNvCxnSpPr/>
          <p:nvPr/>
        </p:nvCxnSpPr>
        <p:spPr>
          <a:xfrm rot="-5400000">
            <a:off x="3575172" y="1628400"/>
            <a:ext cx="360000" cy="3612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6" name="Connector 56"/>
          <p:cNvCxnSpPr/>
          <p:nvPr/>
        </p:nvCxnSpPr>
        <p:spPr>
          <a:xfrm>
            <a:off x="8254800" y="1628999"/>
            <a:ext cx="358800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7" name="Connector 57"/>
          <p:cNvCxnSpPr/>
          <p:nvPr/>
        </p:nvCxnSpPr>
        <p:spPr>
          <a:xfrm rot="-5400000">
            <a:off x="9334200" y="1628399"/>
            <a:ext cx="360000" cy="3612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8" name="Connector 58"/>
          <p:cNvCxnSpPr/>
          <p:nvPr/>
        </p:nvCxnSpPr>
        <p:spPr>
          <a:xfrm>
            <a:off x="5015772" y="198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9" name="Connector 59"/>
          <p:cNvCxnSpPr/>
          <p:nvPr/>
        </p:nvCxnSpPr>
        <p:spPr>
          <a:xfrm flipV="1">
            <a:off x="1414572" y="1989000"/>
            <a:ext cx="1200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0" name="Connector 60"/>
          <p:cNvCxnSpPr/>
          <p:nvPr/>
        </p:nvCxnSpPr>
        <p:spPr>
          <a:xfrm flipV="1">
            <a:off x="7174800" y="1988999"/>
            <a:ext cx="1200" cy="720001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1" name="Connector 61"/>
          <p:cNvCxnSpPr/>
          <p:nvPr/>
        </p:nvCxnSpPr>
        <p:spPr>
          <a:xfrm>
            <a:off x="10776000" y="198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2" name="Connector 62"/>
          <p:cNvCxnSpPr/>
          <p:nvPr/>
        </p:nvCxnSpPr>
        <p:spPr>
          <a:xfrm rot="10800000" flipV="1">
            <a:off x="10776000" y="414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3" name="Connector 63"/>
          <p:cNvCxnSpPr/>
          <p:nvPr/>
        </p:nvCxnSpPr>
        <p:spPr>
          <a:xfrm rot="10800000">
            <a:off x="7168338" y="4149000"/>
            <a:ext cx="7662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4" name="Connector 64"/>
          <p:cNvCxnSpPr/>
          <p:nvPr/>
        </p:nvCxnSpPr>
        <p:spPr>
          <a:xfrm rot="5400000">
            <a:off x="8254799" y="4868999"/>
            <a:ext cx="360000" cy="360002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5" name="Connector 65"/>
          <p:cNvCxnSpPr/>
          <p:nvPr/>
        </p:nvCxnSpPr>
        <p:spPr>
          <a:xfrm rot="5400000">
            <a:off x="2494571" y="4868999"/>
            <a:ext cx="360000" cy="360002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6" name="Connector 66"/>
          <p:cNvCxnSpPr/>
          <p:nvPr/>
        </p:nvCxnSpPr>
        <p:spPr>
          <a:xfrm rot="10800000">
            <a:off x="3580918" y="4869000"/>
            <a:ext cx="366346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7" name="Connector 67"/>
          <p:cNvCxnSpPr/>
          <p:nvPr/>
        </p:nvCxnSpPr>
        <p:spPr>
          <a:xfrm rot="10800000">
            <a:off x="9341146" y="4869000"/>
            <a:ext cx="366346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8" name="Connector 68"/>
          <p:cNvCxnSpPr/>
          <p:nvPr/>
        </p:nvCxnSpPr>
        <p:spPr>
          <a:xfrm rot="10800000" flipV="1">
            <a:off x="5015772" y="414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9" name="Connector 69"/>
          <p:cNvCxnSpPr/>
          <p:nvPr/>
        </p:nvCxnSpPr>
        <p:spPr>
          <a:xfrm rot="10800000">
            <a:off x="1408222" y="4149000"/>
            <a:ext cx="7550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pic>
        <p:nvPicPr>
          <p:cNvPr id="71" name="picture 50">
            <a:extLst>
              <a:ext uri="{FF2B5EF4-FFF2-40B4-BE49-F238E27FC236}">
                <a16:creationId xmlns:a16="http://schemas.microsoft.com/office/drawing/2014/main" id="{FE1265EA-E247-7B05-571F-E7EDBF3AB3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093"/>
            <a:ext cx="336000" cy="2921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共形_旋转_扩展_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503499"/>
            <a:ext cx="12204000" cy="65111"/>
          </a:xfrm>
          <a:prstGeom prst="rect">
            <a:avLst/>
          </a:prstGeom>
          <a:solidFill>
            <a:srgbClr val="22518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87" b="0" i="0" u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748000" y="117000"/>
            <a:ext cx="360000" cy="324000"/>
          </a:xfrm>
          <a:prstGeom prst="triangle">
            <a:avLst>
              <a:gd name="adj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6814800" y="1269000"/>
            <a:ext cx="4321428" cy="4320000"/>
            <a:chOff x="6814800" y="1269000"/>
            <a:chExt cx="4321428" cy="4320000"/>
          </a:xfrm>
        </p:grpSpPr>
        <p:sp>
          <p:nvSpPr>
            <p:cNvPr id="5" name="AutoShape 5"/>
            <p:cNvSpPr/>
            <p:nvPr/>
          </p:nvSpPr>
          <p:spPr>
            <a:xfrm>
              <a:off x="753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8148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969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8981146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254800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536228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974800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969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8254800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0416228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534798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970749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8148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536228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969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0416228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81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41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681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041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54572" y="1269000"/>
            <a:ext cx="4321428" cy="4320000"/>
            <a:chOff x="1054572" y="1269000"/>
            <a:chExt cx="4321428" cy="4320000"/>
          </a:xfrm>
        </p:grpSpPr>
        <p:sp>
          <p:nvSpPr>
            <p:cNvPr id="26" name="AutoShape 26"/>
            <p:cNvSpPr/>
            <p:nvPr/>
          </p:nvSpPr>
          <p:spPr>
            <a:xfrm>
              <a:off x="177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393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177457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3947264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10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46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10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lang="en-US" sz="110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46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46" name="Connector 46"/>
          <p:cNvCxnSpPr/>
          <p:nvPr/>
        </p:nvCxnSpPr>
        <p:spPr>
          <a:xfrm rot="-5400000">
            <a:off x="2135286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7" name="Connector 47"/>
          <p:cNvCxnSpPr/>
          <p:nvPr/>
        </p:nvCxnSpPr>
        <p:spPr>
          <a:xfrm>
            <a:off x="3934572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8" name="Connector 48"/>
          <p:cNvCxnSpPr/>
          <p:nvPr/>
        </p:nvCxnSpPr>
        <p:spPr>
          <a:xfrm rot="5400000">
            <a:off x="3938345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9" name="Connector 49"/>
          <p:cNvCxnSpPr/>
          <p:nvPr/>
        </p:nvCxnSpPr>
        <p:spPr>
          <a:xfrm rot="10800000">
            <a:off x="2136000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0" name="Connector 50"/>
          <p:cNvCxnSpPr/>
          <p:nvPr/>
        </p:nvCxnSpPr>
        <p:spPr>
          <a:xfrm rot="-5400000">
            <a:off x="7895514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1" name="Connector 51"/>
          <p:cNvCxnSpPr/>
          <p:nvPr/>
        </p:nvCxnSpPr>
        <p:spPr>
          <a:xfrm>
            <a:off x="9694800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2" name="Connector 52"/>
          <p:cNvCxnSpPr/>
          <p:nvPr/>
        </p:nvCxnSpPr>
        <p:spPr>
          <a:xfrm rot="5400000">
            <a:off x="9698573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3" name="Connector 53"/>
          <p:cNvCxnSpPr/>
          <p:nvPr/>
        </p:nvCxnSpPr>
        <p:spPr>
          <a:xfrm rot="10800000">
            <a:off x="7896228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4" name="Connector 54"/>
          <p:cNvCxnSpPr/>
          <p:nvPr/>
        </p:nvCxnSpPr>
        <p:spPr>
          <a:xfrm>
            <a:off x="2495772" y="1629000"/>
            <a:ext cx="358800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5" name="Connector 55"/>
          <p:cNvCxnSpPr/>
          <p:nvPr/>
        </p:nvCxnSpPr>
        <p:spPr>
          <a:xfrm rot="-5400000">
            <a:off x="3575172" y="1628400"/>
            <a:ext cx="360000" cy="3612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6" name="Connector 56"/>
          <p:cNvCxnSpPr/>
          <p:nvPr/>
        </p:nvCxnSpPr>
        <p:spPr>
          <a:xfrm>
            <a:off x="8254800" y="1628999"/>
            <a:ext cx="358800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7" name="Connector 57"/>
          <p:cNvCxnSpPr/>
          <p:nvPr/>
        </p:nvCxnSpPr>
        <p:spPr>
          <a:xfrm rot="-5400000">
            <a:off x="9334200" y="1628399"/>
            <a:ext cx="360000" cy="3612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8" name="Connector 58"/>
          <p:cNvCxnSpPr/>
          <p:nvPr/>
        </p:nvCxnSpPr>
        <p:spPr>
          <a:xfrm>
            <a:off x="5015772" y="198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9" name="Connector 59"/>
          <p:cNvCxnSpPr/>
          <p:nvPr/>
        </p:nvCxnSpPr>
        <p:spPr>
          <a:xfrm flipV="1">
            <a:off x="1414572" y="1989000"/>
            <a:ext cx="1200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0" name="Connector 60"/>
          <p:cNvCxnSpPr/>
          <p:nvPr/>
        </p:nvCxnSpPr>
        <p:spPr>
          <a:xfrm flipV="1">
            <a:off x="7174800" y="1988999"/>
            <a:ext cx="1200" cy="720001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1" name="Connector 61"/>
          <p:cNvCxnSpPr/>
          <p:nvPr/>
        </p:nvCxnSpPr>
        <p:spPr>
          <a:xfrm>
            <a:off x="10776000" y="198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2" name="Connector 62"/>
          <p:cNvCxnSpPr/>
          <p:nvPr/>
        </p:nvCxnSpPr>
        <p:spPr>
          <a:xfrm rot="10800000" flipV="1">
            <a:off x="10776000" y="414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3" name="Connector 63"/>
          <p:cNvCxnSpPr/>
          <p:nvPr/>
        </p:nvCxnSpPr>
        <p:spPr>
          <a:xfrm rot="10800000">
            <a:off x="7168338" y="4149000"/>
            <a:ext cx="7662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4" name="Connector 64"/>
          <p:cNvCxnSpPr/>
          <p:nvPr/>
        </p:nvCxnSpPr>
        <p:spPr>
          <a:xfrm rot="5400000">
            <a:off x="8254799" y="4868999"/>
            <a:ext cx="360000" cy="360002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5" name="Connector 65"/>
          <p:cNvCxnSpPr/>
          <p:nvPr/>
        </p:nvCxnSpPr>
        <p:spPr>
          <a:xfrm rot="5400000">
            <a:off x="2494571" y="4868999"/>
            <a:ext cx="360000" cy="360002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6" name="Connector 66"/>
          <p:cNvCxnSpPr/>
          <p:nvPr/>
        </p:nvCxnSpPr>
        <p:spPr>
          <a:xfrm rot="10800000">
            <a:off x="3580918" y="4869000"/>
            <a:ext cx="366346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7" name="Connector 67"/>
          <p:cNvCxnSpPr/>
          <p:nvPr/>
        </p:nvCxnSpPr>
        <p:spPr>
          <a:xfrm rot="10800000">
            <a:off x="9341146" y="4869000"/>
            <a:ext cx="366346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8" name="Connector 68"/>
          <p:cNvCxnSpPr/>
          <p:nvPr/>
        </p:nvCxnSpPr>
        <p:spPr>
          <a:xfrm rot="10800000" flipV="1">
            <a:off x="5015772" y="414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9" name="Connector 69"/>
          <p:cNvCxnSpPr/>
          <p:nvPr/>
        </p:nvCxnSpPr>
        <p:spPr>
          <a:xfrm rot="10800000">
            <a:off x="1408222" y="4149000"/>
            <a:ext cx="7550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70" name="AutoShape 70"/>
          <p:cNvSpPr/>
          <p:nvPr/>
        </p:nvSpPr>
        <p:spPr>
          <a:xfrm>
            <a:off x="344643" y="6309000"/>
            <a:ext cx="11403357" cy="3231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1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图例：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测量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散射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工作流逻辑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更新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对称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渲染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模型反馈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环境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约束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法规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检测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输出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真值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功能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9.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接口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记忆  </a:t>
            </a:r>
            <a:endParaRPr lang="en-US" sz="1100"/>
          </a:p>
        </p:txBody>
      </p:sp>
      <p:pic>
        <p:nvPicPr>
          <p:cNvPr id="72" name="picture 50">
            <a:extLst>
              <a:ext uri="{FF2B5EF4-FFF2-40B4-BE49-F238E27FC236}">
                <a16:creationId xmlns:a16="http://schemas.microsoft.com/office/drawing/2014/main" id="{0860069D-ED86-F8F4-107E-87CFD48229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093"/>
            <a:ext cx="336000" cy="2921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共形_旋转_最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503499"/>
            <a:ext cx="12204000" cy="65111"/>
          </a:xfrm>
          <a:prstGeom prst="rect">
            <a:avLst/>
          </a:prstGeom>
          <a:solidFill>
            <a:srgbClr val="22518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87" b="0" i="0" u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748000" y="117000"/>
            <a:ext cx="360000" cy="324000"/>
          </a:xfrm>
          <a:prstGeom prst="triangle">
            <a:avLst>
              <a:gd name="adj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1054572" y="1989000"/>
            <a:ext cx="4321428" cy="2880000"/>
            <a:chOff x="1054572" y="1989000"/>
            <a:chExt cx="4321428" cy="2880000"/>
          </a:xfrm>
        </p:grpSpPr>
        <p:sp>
          <p:nvSpPr>
            <p:cNvPr id="5" name="AutoShape 5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17" name="Connector 17"/>
          <p:cNvCxnSpPr/>
          <p:nvPr/>
        </p:nvCxnSpPr>
        <p:spPr>
          <a:xfrm rot="-5400000">
            <a:off x="2135286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8" name="Connector 18"/>
          <p:cNvCxnSpPr/>
          <p:nvPr/>
        </p:nvCxnSpPr>
        <p:spPr>
          <a:xfrm>
            <a:off x="3934572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9" name="Connector 19"/>
          <p:cNvCxnSpPr/>
          <p:nvPr/>
        </p:nvCxnSpPr>
        <p:spPr>
          <a:xfrm rot="5400000">
            <a:off x="3938345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0" name="Connector 20"/>
          <p:cNvCxnSpPr/>
          <p:nvPr/>
        </p:nvCxnSpPr>
        <p:spPr>
          <a:xfrm rot="10800000">
            <a:off x="2136000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1" name="AutoShape 21"/>
          <p:cNvSpPr/>
          <p:nvPr/>
        </p:nvSpPr>
        <p:spPr>
          <a:xfrm>
            <a:off x="344643" y="6309000"/>
            <a:ext cx="11403357" cy="3231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1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图例：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测量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散射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工作流逻辑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更新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对称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渲染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模型反馈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环境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约束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法规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检测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输出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真值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功能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9.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接口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记忆  </a:t>
            </a:r>
            <a:endParaRPr lang="en-US" sz="1100"/>
          </a:p>
        </p:txBody>
      </p:sp>
      <p:pic>
        <p:nvPicPr>
          <p:cNvPr id="23" name="picture 50">
            <a:extLst>
              <a:ext uri="{FF2B5EF4-FFF2-40B4-BE49-F238E27FC236}">
                <a16:creationId xmlns:a16="http://schemas.microsoft.com/office/drawing/2014/main" id="{5CA68CB9-AD4D-95A2-5F60-EA114AD5E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093"/>
            <a:ext cx="336000" cy="2921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格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503499"/>
            <a:ext cx="12204000" cy="65111"/>
          </a:xfrm>
          <a:prstGeom prst="rect">
            <a:avLst/>
          </a:prstGeom>
          <a:solidFill>
            <a:srgbClr val="22518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87" b="0" i="0" u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748000" y="117000"/>
            <a:ext cx="360000" cy="324000"/>
          </a:xfrm>
          <a:prstGeom prst="triangle">
            <a:avLst>
              <a:gd name="adj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5772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35498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498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5498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35361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5498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215498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495224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215224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935224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495087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935224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376000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56000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75726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55863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0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536000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16000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535726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6000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815863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6000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975452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975452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415452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695452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415178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1135452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695315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1135452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55635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335361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55361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1775361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335224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775361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215361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2495087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3215087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3935087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2494950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3935087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5375863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4655863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5375589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6095863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4655726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6095863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7535863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6815863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7535589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8255863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6815726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8255863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8975315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1" name="AutoShape 61"/>
          <p:cNvSpPr/>
          <p:nvPr/>
        </p:nvSpPr>
        <p:spPr>
          <a:xfrm>
            <a:off x="8975315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10415315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9695315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10415041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11135315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9695178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11135315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1055498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9" name="AutoShape 69"/>
          <p:cNvSpPr/>
          <p:nvPr/>
        </p:nvSpPr>
        <p:spPr>
          <a:xfrm>
            <a:off x="335224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0" name="AutoShape 70"/>
          <p:cNvSpPr/>
          <p:nvPr/>
        </p:nvSpPr>
        <p:spPr>
          <a:xfrm>
            <a:off x="1055224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1" name="AutoShape 71"/>
          <p:cNvSpPr/>
          <p:nvPr/>
        </p:nvSpPr>
        <p:spPr>
          <a:xfrm>
            <a:off x="1775224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2" name="AutoShape 72"/>
          <p:cNvSpPr/>
          <p:nvPr/>
        </p:nvSpPr>
        <p:spPr>
          <a:xfrm>
            <a:off x="335087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3" name="AutoShape 73"/>
          <p:cNvSpPr/>
          <p:nvPr/>
        </p:nvSpPr>
        <p:spPr>
          <a:xfrm>
            <a:off x="1775224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4" name="AutoShape 74"/>
          <p:cNvSpPr/>
          <p:nvPr/>
        </p:nvSpPr>
        <p:spPr>
          <a:xfrm>
            <a:off x="3215224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5" name="AutoShape 75"/>
          <p:cNvSpPr/>
          <p:nvPr/>
        </p:nvSpPr>
        <p:spPr>
          <a:xfrm>
            <a:off x="2494950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6" name="AutoShape 76"/>
          <p:cNvSpPr/>
          <p:nvPr/>
        </p:nvSpPr>
        <p:spPr>
          <a:xfrm>
            <a:off x="3214950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7" name="AutoShape 77"/>
          <p:cNvSpPr/>
          <p:nvPr/>
        </p:nvSpPr>
        <p:spPr>
          <a:xfrm>
            <a:off x="3934950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8" name="AutoShape 78"/>
          <p:cNvSpPr/>
          <p:nvPr/>
        </p:nvSpPr>
        <p:spPr>
          <a:xfrm>
            <a:off x="2494813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9" name="AutoShape 79"/>
          <p:cNvSpPr/>
          <p:nvPr/>
        </p:nvSpPr>
        <p:spPr>
          <a:xfrm>
            <a:off x="3934950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0" name="AutoShape 80"/>
          <p:cNvSpPr/>
          <p:nvPr/>
        </p:nvSpPr>
        <p:spPr>
          <a:xfrm>
            <a:off x="5375726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1" name="AutoShape 81"/>
          <p:cNvSpPr/>
          <p:nvPr/>
        </p:nvSpPr>
        <p:spPr>
          <a:xfrm>
            <a:off x="4655726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2" name="AutoShape 82"/>
          <p:cNvSpPr/>
          <p:nvPr/>
        </p:nvSpPr>
        <p:spPr>
          <a:xfrm>
            <a:off x="5375452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3" name="AutoShape 83"/>
          <p:cNvSpPr/>
          <p:nvPr/>
        </p:nvSpPr>
        <p:spPr>
          <a:xfrm>
            <a:off x="6095726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4" name="AutoShape 84"/>
          <p:cNvSpPr/>
          <p:nvPr/>
        </p:nvSpPr>
        <p:spPr>
          <a:xfrm>
            <a:off x="4655589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5" name="AutoShape 85"/>
          <p:cNvSpPr/>
          <p:nvPr/>
        </p:nvSpPr>
        <p:spPr>
          <a:xfrm>
            <a:off x="6095726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6" name="AutoShape 86"/>
          <p:cNvSpPr/>
          <p:nvPr/>
        </p:nvSpPr>
        <p:spPr>
          <a:xfrm>
            <a:off x="7535726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7" name="AutoShape 87"/>
          <p:cNvSpPr/>
          <p:nvPr/>
        </p:nvSpPr>
        <p:spPr>
          <a:xfrm>
            <a:off x="6815726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8" name="AutoShape 88"/>
          <p:cNvSpPr/>
          <p:nvPr/>
        </p:nvSpPr>
        <p:spPr>
          <a:xfrm>
            <a:off x="7535452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9" name="AutoShape 89"/>
          <p:cNvSpPr/>
          <p:nvPr/>
        </p:nvSpPr>
        <p:spPr>
          <a:xfrm>
            <a:off x="8255726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0" name="AutoShape 90"/>
          <p:cNvSpPr/>
          <p:nvPr/>
        </p:nvSpPr>
        <p:spPr>
          <a:xfrm>
            <a:off x="6815589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1" name="AutoShape 91"/>
          <p:cNvSpPr/>
          <p:nvPr/>
        </p:nvSpPr>
        <p:spPr>
          <a:xfrm>
            <a:off x="8255726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2" name="AutoShape 92"/>
          <p:cNvSpPr/>
          <p:nvPr/>
        </p:nvSpPr>
        <p:spPr>
          <a:xfrm>
            <a:off x="8975178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3" name="AutoShape 93"/>
          <p:cNvSpPr/>
          <p:nvPr/>
        </p:nvSpPr>
        <p:spPr>
          <a:xfrm>
            <a:off x="8975178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4" name="AutoShape 94"/>
          <p:cNvSpPr/>
          <p:nvPr/>
        </p:nvSpPr>
        <p:spPr>
          <a:xfrm>
            <a:off x="10415178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5" name="AutoShape 95"/>
          <p:cNvSpPr/>
          <p:nvPr/>
        </p:nvSpPr>
        <p:spPr>
          <a:xfrm>
            <a:off x="9695178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6" name="AutoShape 96"/>
          <p:cNvSpPr/>
          <p:nvPr/>
        </p:nvSpPr>
        <p:spPr>
          <a:xfrm>
            <a:off x="10414904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7" name="AutoShape 97"/>
          <p:cNvSpPr/>
          <p:nvPr/>
        </p:nvSpPr>
        <p:spPr>
          <a:xfrm>
            <a:off x="11135178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8" name="AutoShape 98"/>
          <p:cNvSpPr/>
          <p:nvPr/>
        </p:nvSpPr>
        <p:spPr>
          <a:xfrm>
            <a:off x="9695041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9" name="AutoShape 99"/>
          <p:cNvSpPr/>
          <p:nvPr/>
        </p:nvSpPr>
        <p:spPr>
          <a:xfrm>
            <a:off x="11135178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0" name="AutoShape 100"/>
          <p:cNvSpPr/>
          <p:nvPr/>
        </p:nvSpPr>
        <p:spPr>
          <a:xfrm>
            <a:off x="1055361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1" name="AutoShape 101"/>
          <p:cNvSpPr/>
          <p:nvPr/>
        </p:nvSpPr>
        <p:spPr>
          <a:xfrm>
            <a:off x="335087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2" name="AutoShape 102"/>
          <p:cNvSpPr/>
          <p:nvPr/>
        </p:nvSpPr>
        <p:spPr>
          <a:xfrm>
            <a:off x="1055087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3" name="AutoShape 103"/>
          <p:cNvSpPr/>
          <p:nvPr/>
        </p:nvSpPr>
        <p:spPr>
          <a:xfrm>
            <a:off x="1775087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4" name="AutoShape 104"/>
          <p:cNvSpPr/>
          <p:nvPr/>
        </p:nvSpPr>
        <p:spPr>
          <a:xfrm>
            <a:off x="334950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5" name="AutoShape 105"/>
          <p:cNvSpPr/>
          <p:nvPr/>
        </p:nvSpPr>
        <p:spPr>
          <a:xfrm>
            <a:off x="1775087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6" name="AutoShape 106"/>
          <p:cNvSpPr/>
          <p:nvPr/>
        </p:nvSpPr>
        <p:spPr>
          <a:xfrm>
            <a:off x="3215087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7" name="AutoShape 107"/>
          <p:cNvSpPr/>
          <p:nvPr/>
        </p:nvSpPr>
        <p:spPr>
          <a:xfrm>
            <a:off x="2494813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8" name="AutoShape 108"/>
          <p:cNvSpPr/>
          <p:nvPr/>
        </p:nvSpPr>
        <p:spPr>
          <a:xfrm>
            <a:off x="3214813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9" name="AutoShape 109"/>
          <p:cNvSpPr/>
          <p:nvPr/>
        </p:nvSpPr>
        <p:spPr>
          <a:xfrm>
            <a:off x="3934813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0" name="AutoShape 110"/>
          <p:cNvSpPr/>
          <p:nvPr/>
        </p:nvSpPr>
        <p:spPr>
          <a:xfrm>
            <a:off x="2494676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1" name="AutoShape 111"/>
          <p:cNvSpPr/>
          <p:nvPr/>
        </p:nvSpPr>
        <p:spPr>
          <a:xfrm>
            <a:off x="3934813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2" name="AutoShape 112"/>
          <p:cNvSpPr/>
          <p:nvPr/>
        </p:nvSpPr>
        <p:spPr>
          <a:xfrm>
            <a:off x="5375589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3" name="AutoShape 113"/>
          <p:cNvSpPr/>
          <p:nvPr/>
        </p:nvSpPr>
        <p:spPr>
          <a:xfrm>
            <a:off x="4655589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4" name="AutoShape 114"/>
          <p:cNvSpPr/>
          <p:nvPr/>
        </p:nvSpPr>
        <p:spPr>
          <a:xfrm>
            <a:off x="5375315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5" name="AutoShape 115"/>
          <p:cNvSpPr/>
          <p:nvPr/>
        </p:nvSpPr>
        <p:spPr>
          <a:xfrm>
            <a:off x="6095589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6" name="AutoShape 116"/>
          <p:cNvSpPr/>
          <p:nvPr/>
        </p:nvSpPr>
        <p:spPr>
          <a:xfrm>
            <a:off x="4655452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7" name="AutoShape 117"/>
          <p:cNvSpPr/>
          <p:nvPr/>
        </p:nvSpPr>
        <p:spPr>
          <a:xfrm>
            <a:off x="6095589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8" name="AutoShape 118"/>
          <p:cNvSpPr/>
          <p:nvPr/>
        </p:nvSpPr>
        <p:spPr>
          <a:xfrm>
            <a:off x="7535589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9" name="AutoShape 119"/>
          <p:cNvSpPr/>
          <p:nvPr/>
        </p:nvSpPr>
        <p:spPr>
          <a:xfrm>
            <a:off x="6815589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0" name="AutoShape 120"/>
          <p:cNvSpPr/>
          <p:nvPr/>
        </p:nvSpPr>
        <p:spPr>
          <a:xfrm>
            <a:off x="7535315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1" name="AutoShape 121"/>
          <p:cNvSpPr/>
          <p:nvPr/>
        </p:nvSpPr>
        <p:spPr>
          <a:xfrm>
            <a:off x="8255589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2" name="AutoShape 122"/>
          <p:cNvSpPr/>
          <p:nvPr/>
        </p:nvSpPr>
        <p:spPr>
          <a:xfrm>
            <a:off x="6815452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3" name="AutoShape 123"/>
          <p:cNvSpPr/>
          <p:nvPr/>
        </p:nvSpPr>
        <p:spPr>
          <a:xfrm>
            <a:off x="8255589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4" name="AutoShape 124"/>
          <p:cNvSpPr/>
          <p:nvPr/>
        </p:nvSpPr>
        <p:spPr>
          <a:xfrm>
            <a:off x="8975041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5" name="AutoShape 125"/>
          <p:cNvSpPr/>
          <p:nvPr/>
        </p:nvSpPr>
        <p:spPr>
          <a:xfrm>
            <a:off x="8975041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6" name="AutoShape 126"/>
          <p:cNvSpPr/>
          <p:nvPr/>
        </p:nvSpPr>
        <p:spPr>
          <a:xfrm>
            <a:off x="10415041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7" name="AutoShape 127"/>
          <p:cNvSpPr/>
          <p:nvPr/>
        </p:nvSpPr>
        <p:spPr>
          <a:xfrm>
            <a:off x="9695041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8" name="AutoShape 128"/>
          <p:cNvSpPr/>
          <p:nvPr/>
        </p:nvSpPr>
        <p:spPr>
          <a:xfrm>
            <a:off x="10414767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9" name="AutoShape 129"/>
          <p:cNvSpPr/>
          <p:nvPr/>
        </p:nvSpPr>
        <p:spPr>
          <a:xfrm>
            <a:off x="11135041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0" name="AutoShape 130"/>
          <p:cNvSpPr/>
          <p:nvPr/>
        </p:nvSpPr>
        <p:spPr>
          <a:xfrm>
            <a:off x="9694904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1" name="AutoShape 131"/>
          <p:cNvSpPr/>
          <p:nvPr/>
        </p:nvSpPr>
        <p:spPr>
          <a:xfrm>
            <a:off x="11135041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33" name="picture 50">
            <a:extLst>
              <a:ext uri="{FF2B5EF4-FFF2-40B4-BE49-F238E27FC236}">
                <a16:creationId xmlns:a16="http://schemas.microsoft.com/office/drawing/2014/main" id="{26236CA0-4AD4-6FBE-853D-3181204D2D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093"/>
            <a:ext cx="336000" cy="2921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36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903920" y="4485462"/>
            <a:ext cx="2893872" cy="351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defTabSz="456743" eaLnBrk="0">
              <a:lnSpc>
                <a:spcPct val="83000"/>
              </a:lnSpc>
              <a:buClrTx/>
              <a:defRPr/>
            </a:pPr>
            <a:endParaRPr sz="100" kern="1200" dirty="0"/>
          </a:p>
          <a:p>
            <a:pPr marL="6344" defTabSz="456743" eaLnBrk="0">
              <a:lnSpc>
                <a:spcPct val="89000"/>
              </a:lnSpc>
              <a:buClrTx/>
              <a:defRPr/>
            </a:pPr>
            <a:r>
              <a:rPr sz="2498" spc="20" dirty="0">
                <a:solidFill>
                  <a:srgbClr val="EDEDED">
                    <a:alpha val="100000"/>
                  </a:srgbClr>
                </a:solidFill>
                <a:latin typeface="HarmonyOS Sans SC Medium" panose="00000600000000000000" charset="-122"/>
                <a:ea typeface="HarmonyOS Sans SC Medium" panose="00000600000000000000" charset="-122"/>
                <a:cs typeface="HarmonyOS Sans SC Medium" panose="00000600000000000000" charset="-122"/>
              </a:rPr>
              <a:t>掌握智能，蜂动未来</a:t>
            </a:r>
            <a:endParaRPr sz="2498" kern="1200" dirty="0">
              <a:latin typeface="HarmonyOS Sans SC Medium" panose="00000600000000000000" charset="-122"/>
              <a:ea typeface="HarmonyOS Sans SC Medium" panose="00000600000000000000" charset="-122"/>
              <a:cs typeface="HarmonyOS Sans SC Medium" panose="00000600000000000000" charset="-122"/>
            </a:endParaRPr>
          </a:p>
        </p:txBody>
      </p:sp>
      <p:sp>
        <p:nvSpPr>
          <p:cNvPr id="4" name="rect 4"/>
          <p:cNvSpPr/>
          <p:nvPr/>
        </p:nvSpPr>
        <p:spPr>
          <a:xfrm>
            <a:off x="890904" y="4194425"/>
            <a:ext cx="1178764" cy="66696"/>
          </a:xfrm>
          <a:prstGeom prst="rect">
            <a:avLst/>
          </a:prstGeom>
          <a:solidFill>
            <a:srgbClr val="F7A90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 defTabSz="456743">
              <a:buClrTx/>
              <a:defRPr/>
            </a:pPr>
            <a:endParaRPr lang="zh-CN" altLang="en-US" sz="899" kern="1200"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3150" y="2694350"/>
            <a:ext cx="5091161" cy="1322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743">
              <a:buClrTx/>
              <a:defRPr/>
            </a:pPr>
            <a:r>
              <a:rPr lang="en-US" altLang="zh-CN" sz="3996" kern="1200">
                <a:solidFill>
                  <a:srgbClr val="FFFFFF"/>
                </a:solidFill>
                <a:latin typeface="HarmonyOS Sans Medium" panose="00000600000000000000" charset="0"/>
                <a:ea typeface="+mn-ea"/>
                <a:cs typeface="HarmonyOS Sans Medium" panose="00000600000000000000" charset="0"/>
              </a:rPr>
              <a:t>Rein Intelligence</a:t>
            </a:r>
          </a:p>
          <a:p>
            <a:pPr defTabSz="456743">
              <a:buClrTx/>
              <a:defRPr/>
            </a:pPr>
            <a:r>
              <a:rPr lang="en-US" altLang="zh-CN" sz="3996" kern="1200">
                <a:solidFill>
                  <a:srgbClr val="FFFFFF"/>
                </a:solidFill>
                <a:latin typeface="HarmonyOS Sans Medium" panose="00000600000000000000" charset="0"/>
                <a:ea typeface="+mn-ea"/>
                <a:cs typeface="HarmonyOS Sans Medium" panose="00000600000000000000" charset="0"/>
              </a:rPr>
              <a:t>Bee the Future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91133" y="6361572"/>
            <a:ext cx="1691978" cy="369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456743">
              <a:buClrTx/>
              <a:defRPr/>
            </a:pPr>
            <a:r>
              <a:rPr lang="en-US" altLang="en-US" sz="899" kern="1200">
                <a:solidFill>
                  <a:srgbClr val="E7E6E6">
                    <a:lumMod val="90000"/>
                  </a:srgb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altLang="zh-CN" sz="899" kern="1200">
                <a:solidFill>
                  <a:srgbClr val="E7E6E6">
                    <a:lumMod val="90000"/>
                  </a:srgbClr>
                </a:solidFill>
                <a:latin typeface="+mn-lt"/>
                <a:ea typeface="+mn-ea"/>
                <a:cs typeface="+mn-cs"/>
              </a:rPr>
              <a:t> ReinBee All Rights Reserved.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7403B5-9A6F-E6B1-A4D3-DAA2A1EF2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" y="0"/>
            <a:ext cx="121860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8200" y="1597662"/>
            <a:ext cx="10515599" cy="4351337"/>
            <a:chOff x="838200" y="1597662"/>
            <a:chExt cx="10515599" cy="4351337"/>
          </a:xfrm>
        </p:grpSpPr>
        <p:sp>
          <p:nvSpPr>
            <p:cNvPr id="4" name="AutoShape 4"/>
            <p:cNvSpPr/>
            <p:nvPr/>
          </p:nvSpPr>
          <p:spPr>
            <a:xfrm>
              <a:off x="838200" y="1597662"/>
              <a:ext cx="8097012" cy="783240"/>
            </a:xfrm>
            <a:prstGeom prst="roundRect">
              <a:avLst>
                <a:gd name="adj" fmla="val 9999"/>
              </a:avLst>
            </a:prstGeom>
            <a:solidFill>
              <a:srgbClr val="4472C4">
                <a:alpha val="100000"/>
              </a:srgbClr>
            </a:solidFill>
            <a:ln w="12700" cap="flat" cmpd="sng">
              <a:solidFill>
                <a:srgbClr val="FFFFFF">
                  <a:alpha val="100000"/>
                </a:srgbClr>
              </a:solidFill>
              <a:prstDash val="solid"/>
              <a:miter lim="8000000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861140" y="1620602"/>
              <a:ext cx="7160195" cy="737360"/>
            </a:xfrm>
            <a:prstGeom prst="rect">
              <a:avLst/>
            </a:prstGeom>
            <a:noFill/>
            <a:ln w="12700" cap="flat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 vert="horz" wrap="square" lIns="121920" tIns="121920" rIns="121920" bIns="121920" rtlCol="0" anchor="ctr">
              <a:noAutofit/>
            </a:bodyPr>
            <a:lstStyle/>
            <a:p>
              <a:pPr marL="0" indent="0" algn="l">
                <a:lnSpc>
                  <a:spcPct val="91666"/>
                </a:lnSpc>
                <a:spcAft>
                  <a:spcPct val="35000"/>
                </a:spcAft>
                <a:defRPr/>
              </a:pPr>
              <a:r>
                <a:rPr lang="en-US" sz="32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 </a:t>
              </a:r>
              <a:r>
                <a:rPr lang="en-US" sz="3200" b="0" i="0" u="none" strike="noStrike">
                  <a:solidFill>
                    <a:srgbClr val="FFFFFF"/>
                  </a:solidFill>
                  <a:latin typeface="SimHei"/>
                  <a:ea typeface="SimHei"/>
                  <a:cs typeface="SimHei"/>
                  <a:sym typeface="SimHei"/>
                </a:rPr>
                <a:t>理论基础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1442847" y="2489686"/>
              <a:ext cx="8097012" cy="783240"/>
            </a:xfrm>
            <a:prstGeom prst="roundRect">
              <a:avLst>
                <a:gd name="adj" fmla="val 9999"/>
              </a:avLst>
            </a:prstGeom>
            <a:solidFill>
              <a:srgbClr val="4472C4">
                <a:alpha val="100000"/>
              </a:srgbClr>
            </a:solidFill>
            <a:ln w="12700" cap="flat" cmpd="sng">
              <a:solidFill>
                <a:srgbClr val="FFFFFF">
                  <a:alpha val="100000"/>
                </a:srgbClr>
              </a:solidFill>
              <a:prstDash val="solid"/>
              <a:miter lim="8000000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7" name="AutoShape 7"/>
            <p:cNvSpPr/>
            <p:nvPr/>
          </p:nvSpPr>
          <p:spPr>
            <a:xfrm>
              <a:off x="1465787" y="2512626"/>
              <a:ext cx="6937378" cy="737360"/>
            </a:xfrm>
            <a:prstGeom prst="rect">
              <a:avLst/>
            </a:prstGeom>
            <a:noFill/>
            <a:ln w="12700" cap="flat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 vert="horz" wrap="square" lIns="121920" tIns="121920" rIns="121920" bIns="121920" rtlCol="0" anchor="ctr">
              <a:noAutofit/>
            </a:bodyPr>
            <a:lstStyle/>
            <a:p>
              <a:pPr marL="0" indent="0" algn="l">
                <a:lnSpc>
                  <a:spcPct val="91666"/>
                </a:lnSpc>
                <a:spcAft>
                  <a:spcPct val="35000"/>
                </a:spcAft>
                <a:defRPr/>
              </a:pPr>
              <a:r>
                <a:rPr lang="en-US" sz="32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 </a:t>
              </a:r>
              <a:r>
                <a:rPr lang="en-US" sz="3200" b="0" i="0" u="none" strike="noStrike">
                  <a:solidFill>
                    <a:srgbClr val="FFFFFF"/>
                  </a:solidFill>
                  <a:latin typeface="SimHei"/>
                  <a:ea typeface="SimHei"/>
                  <a:cs typeface="SimHei"/>
                  <a:sym typeface="SimHei"/>
                </a:rPr>
                <a:t>流程范式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2047493" y="3381710"/>
              <a:ext cx="8097012" cy="783240"/>
            </a:xfrm>
            <a:prstGeom prst="roundRect">
              <a:avLst>
                <a:gd name="adj" fmla="val 9999"/>
              </a:avLst>
            </a:prstGeom>
            <a:solidFill>
              <a:srgbClr val="4472C4">
                <a:alpha val="100000"/>
              </a:srgbClr>
            </a:solidFill>
            <a:ln w="12700" cap="flat" cmpd="sng">
              <a:solidFill>
                <a:srgbClr val="FFFFFF">
                  <a:alpha val="100000"/>
                </a:srgbClr>
              </a:solidFill>
              <a:prstDash val="solid"/>
              <a:miter lim="8000000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2070433" y="3404650"/>
              <a:ext cx="6937378" cy="737360"/>
            </a:xfrm>
            <a:prstGeom prst="rect">
              <a:avLst/>
            </a:prstGeom>
            <a:noFill/>
            <a:ln w="12700" cap="flat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 vert="horz" wrap="square" lIns="121920" tIns="121920" rIns="121920" bIns="121920" rtlCol="0" anchor="ctr">
              <a:noAutofit/>
            </a:bodyPr>
            <a:lstStyle/>
            <a:p>
              <a:pPr marL="0" indent="0" algn="l">
                <a:lnSpc>
                  <a:spcPct val="91666"/>
                </a:lnSpc>
                <a:spcAft>
                  <a:spcPct val="35000"/>
                </a:spcAft>
                <a:defRPr/>
              </a:pPr>
              <a:r>
                <a:rPr lang="en-US" sz="32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lang="en-US" sz="3200" b="0" i="0" u="none" strike="noStrike">
                  <a:solidFill>
                    <a:srgbClr val="FFFFFF"/>
                  </a:solidFill>
                  <a:latin typeface="SimHei"/>
                  <a:ea typeface="SimHei"/>
                  <a:cs typeface="SimHei"/>
                  <a:sym typeface="SimHei"/>
                </a:rPr>
                <a:t>数据生成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2652140" y="4273734"/>
              <a:ext cx="8097012" cy="783240"/>
            </a:xfrm>
            <a:prstGeom prst="roundRect">
              <a:avLst>
                <a:gd name="adj" fmla="val 9999"/>
              </a:avLst>
            </a:prstGeom>
            <a:solidFill>
              <a:srgbClr val="4472C4">
                <a:alpha val="100000"/>
              </a:srgbClr>
            </a:solidFill>
            <a:ln w="12700" cap="flat" cmpd="sng">
              <a:solidFill>
                <a:srgbClr val="FFFFFF">
                  <a:alpha val="100000"/>
                </a:srgbClr>
              </a:solidFill>
              <a:prstDash val="solid"/>
              <a:miter lim="8000000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2675080" y="4296674"/>
              <a:ext cx="6937378" cy="737360"/>
            </a:xfrm>
            <a:prstGeom prst="rect">
              <a:avLst/>
            </a:prstGeom>
            <a:noFill/>
            <a:ln w="12700" cap="flat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 vert="horz" wrap="square" lIns="121920" tIns="121920" rIns="121920" bIns="121920" rtlCol="0" anchor="ctr">
              <a:noAutofit/>
            </a:bodyPr>
            <a:lstStyle/>
            <a:p>
              <a:pPr marL="0" indent="0" algn="l">
                <a:lnSpc>
                  <a:spcPct val="91666"/>
                </a:lnSpc>
                <a:spcAft>
                  <a:spcPct val="35000"/>
                </a:spcAft>
                <a:defRPr/>
              </a:pPr>
              <a:r>
                <a:rPr lang="en-US" sz="32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 AI Agent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3256787" y="5165759"/>
              <a:ext cx="8097012" cy="783240"/>
            </a:xfrm>
            <a:prstGeom prst="roundRect">
              <a:avLst>
                <a:gd name="adj" fmla="val 9999"/>
              </a:avLst>
            </a:prstGeom>
            <a:solidFill>
              <a:srgbClr val="4472C4">
                <a:alpha val="100000"/>
              </a:srgbClr>
            </a:solidFill>
            <a:ln w="12700" cap="flat" cmpd="sng">
              <a:solidFill>
                <a:srgbClr val="FFFFFF">
                  <a:alpha val="100000"/>
                </a:srgbClr>
              </a:solidFill>
              <a:prstDash val="solid"/>
              <a:miter lim="8000000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3279727" y="5188699"/>
              <a:ext cx="6937378" cy="737360"/>
            </a:xfrm>
            <a:prstGeom prst="rect">
              <a:avLst/>
            </a:prstGeom>
            <a:noFill/>
            <a:ln w="12700" cap="flat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 vert="horz" wrap="square" lIns="121920" tIns="121920" rIns="121920" bIns="121920" rtlCol="0" anchor="ctr">
              <a:noAutofit/>
            </a:bodyPr>
            <a:lstStyle/>
            <a:p>
              <a:pPr marL="0" indent="0" algn="l">
                <a:lnSpc>
                  <a:spcPct val="91666"/>
                </a:lnSpc>
                <a:spcAft>
                  <a:spcPct val="35000"/>
                </a:spcAft>
                <a:defRPr/>
              </a:pPr>
              <a:r>
                <a:rPr lang="en-US" sz="32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 </a:t>
              </a:r>
              <a:r>
                <a:rPr lang="en-US" sz="3200" b="0" i="0" u="none" strike="noStrike">
                  <a:solidFill>
                    <a:srgbClr val="FFFFFF"/>
                  </a:solidFill>
                  <a:latin typeface="SimHei"/>
                  <a:ea typeface="SimHei"/>
                  <a:cs typeface="SimHei"/>
                  <a:sym typeface="SimHei"/>
                </a:rPr>
                <a:t>轮系统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8426105" y="2169862"/>
              <a:ext cx="509106" cy="509106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CFD5EA">
                <a:alpha val="90000"/>
              </a:srgbClr>
            </a:solidFill>
            <a:ln w="12700" cap="flat" cmpd="sng">
              <a:solidFill>
                <a:srgbClr val="CFD5EA">
                  <a:alpha val="90000"/>
                </a:srgbClr>
              </a:solidFill>
              <a:prstDash val="solid"/>
              <a:miter lim="8000000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9030752" y="3061887"/>
              <a:ext cx="509106" cy="509106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CFD5EA">
                <a:alpha val="90000"/>
              </a:srgbClr>
            </a:solidFill>
            <a:ln w="12700" cap="flat" cmpd="sng">
              <a:solidFill>
                <a:srgbClr val="CFD5EA">
                  <a:alpha val="90000"/>
                </a:srgbClr>
              </a:solidFill>
              <a:prstDash val="solid"/>
              <a:miter lim="8000000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9635399" y="3940857"/>
              <a:ext cx="509106" cy="509106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CFD5EA">
                <a:alpha val="90000"/>
              </a:srgbClr>
            </a:solidFill>
            <a:ln w="12700" cap="flat" cmpd="sng">
              <a:solidFill>
                <a:srgbClr val="CFD5EA">
                  <a:alpha val="90000"/>
                </a:srgbClr>
              </a:solidFill>
              <a:prstDash val="solid"/>
              <a:miter lim="8000000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0240046" y="4841584"/>
              <a:ext cx="509106" cy="509106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CFD5EA">
                <a:alpha val="90000"/>
              </a:srgbClr>
            </a:solidFill>
            <a:ln w="12700" cap="flat" cmpd="sng">
              <a:solidFill>
                <a:srgbClr val="CFD5EA">
                  <a:alpha val="90000"/>
                </a:srgbClr>
              </a:solidFill>
              <a:prstDash val="solid"/>
              <a:miter lim="8000000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1666"/>
              </a:lnSpc>
              <a:defRPr sz="2700" b="1" i="0" u="none" strike="noStrike" spc="0">
                <a:solidFill>
                  <a:srgbClr val="00206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天体全息学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02545" y="3225934"/>
            <a:ext cx="4096322" cy="346758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4250" y="779720"/>
            <a:ext cx="8781750" cy="2700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38055" y="3501554"/>
            <a:ext cx="4458301" cy="295222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696000" y="4329000"/>
            <a:ext cx="1440000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共形场原理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67490" y="6450604"/>
            <a:ext cx="1368510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二维复曲面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545298" y="595054"/>
            <a:ext cx="373070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光滑平面，可以求得任意精确解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536000" y="578474"/>
            <a:ext cx="4137242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空间引力变形，但是旋转角度不变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（角度与精确解对应）</a:t>
            </a:r>
          </a:p>
        </p:txBody>
      </p:sp>
      <p:pic>
        <p:nvPicPr>
          <p:cNvPr id="11" name="picture 50">
            <a:extLst>
              <a:ext uri="{FF2B5EF4-FFF2-40B4-BE49-F238E27FC236}">
                <a16:creationId xmlns:a16="http://schemas.microsoft.com/office/drawing/2014/main" id="{945A1364-A1C0-B8BB-638A-D45BEBBA9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3093"/>
            <a:ext cx="336000" cy="2921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14800" y="1269000"/>
            <a:ext cx="4321428" cy="4320000"/>
            <a:chOff x="6814800" y="1269000"/>
            <a:chExt cx="4321428" cy="4320000"/>
          </a:xfrm>
        </p:grpSpPr>
        <p:sp>
          <p:nvSpPr>
            <p:cNvPr id="3" name="AutoShape 3"/>
            <p:cNvSpPr/>
            <p:nvPr/>
          </p:nvSpPr>
          <p:spPr>
            <a:xfrm>
              <a:off x="7536000" y="1269000"/>
              <a:ext cx="720000" cy="720000"/>
            </a:xfrm>
            <a:prstGeom prst="rect">
              <a:avLst/>
            </a:prstGeom>
            <a:solidFill>
              <a:srgbClr val="8FAADC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814800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9696000" y="1269000"/>
              <a:ext cx="720000" cy="720000"/>
            </a:xfrm>
            <a:prstGeom prst="rect">
              <a:avLst/>
            </a:prstGeom>
            <a:solidFill>
              <a:srgbClr val="8FAADC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8981146" y="4149000"/>
              <a:ext cx="720000" cy="720000"/>
            </a:xfrm>
            <a:prstGeom prst="rect">
              <a:avLst/>
            </a:prstGeom>
            <a:solidFill>
              <a:srgbClr val="2F5597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8254800" y="1989000"/>
              <a:ext cx="720000" cy="720000"/>
            </a:xfrm>
            <a:prstGeom prst="rect">
              <a:avLst/>
            </a:prstGeom>
            <a:solidFill>
              <a:srgbClr val="2F5597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536228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974800" y="1989000"/>
              <a:ext cx="720000" cy="720000"/>
            </a:xfrm>
            <a:prstGeom prst="rect">
              <a:avLst/>
            </a:prstGeom>
            <a:solidFill>
              <a:srgbClr val="2F5597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696000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254800" y="4149000"/>
              <a:ext cx="720000" cy="720000"/>
            </a:xfrm>
            <a:prstGeom prst="rect">
              <a:avLst/>
            </a:prstGeom>
            <a:solidFill>
              <a:srgbClr val="2F5597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0416228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7534798" y="4869000"/>
              <a:ext cx="720000" cy="720000"/>
            </a:xfrm>
            <a:prstGeom prst="rect">
              <a:avLst/>
            </a:prstGeom>
            <a:solidFill>
              <a:srgbClr val="8FAADC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9707492" y="4869000"/>
              <a:ext cx="720000" cy="720000"/>
            </a:xfrm>
            <a:prstGeom prst="rect">
              <a:avLst/>
            </a:prstGeom>
            <a:solidFill>
              <a:srgbClr val="8FAADC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6814800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7536228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9696000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0416228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816000" y="1269000"/>
              <a:ext cx="720000" cy="720000"/>
            </a:xfrm>
            <a:prstGeom prst="rect">
              <a:avLst/>
            </a:prstGeom>
            <a:solidFill>
              <a:srgbClr val="8FAADC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0416000" y="1269000"/>
              <a:ext cx="720000" cy="720000"/>
            </a:xfrm>
            <a:prstGeom prst="rect">
              <a:avLst/>
            </a:prstGeom>
            <a:solidFill>
              <a:srgbClr val="8FAADC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816000" y="4869000"/>
              <a:ext cx="720000" cy="720000"/>
            </a:xfrm>
            <a:prstGeom prst="rect">
              <a:avLst/>
            </a:prstGeom>
            <a:solidFill>
              <a:srgbClr val="8FAADC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416000" y="4869000"/>
              <a:ext cx="720000" cy="720000"/>
            </a:xfrm>
            <a:prstGeom prst="rect">
              <a:avLst/>
            </a:prstGeom>
            <a:solidFill>
              <a:srgbClr val="8FAADC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54572" y="1269000"/>
            <a:ext cx="4321428" cy="4320000"/>
            <a:chOff x="1054572" y="1269000"/>
            <a:chExt cx="4321428" cy="4320000"/>
          </a:xfrm>
        </p:grpSpPr>
        <p:sp>
          <p:nvSpPr>
            <p:cNvPr id="24" name="AutoShape 24"/>
            <p:cNvSpPr/>
            <p:nvPr/>
          </p:nvSpPr>
          <p:spPr>
            <a:xfrm>
              <a:off x="177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393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177457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3947264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10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lang="en-US" sz="1100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46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10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46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44" name="Connector 44"/>
          <p:cNvCxnSpPr/>
          <p:nvPr/>
        </p:nvCxnSpPr>
        <p:spPr>
          <a:xfrm rot="-5400000">
            <a:off x="2135286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5" name="Connector 45"/>
          <p:cNvCxnSpPr/>
          <p:nvPr/>
        </p:nvCxnSpPr>
        <p:spPr>
          <a:xfrm>
            <a:off x="3934572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6" name="Connector 46"/>
          <p:cNvCxnSpPr/>
          <p:nvPr/>
        </p:nvCxnSpPr>
        <p:spPr>
          <a:xfrm rot="5400000">
            <a:off x="3938345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7" name="Connector 47"/>
          <p:cNvCxnSpPr/>
          <p:nvPr/>
        </p:nvCxnSpPr>
        <p:spPr>
          <a:xfrm rot="10800000">
            <a:off x="2136000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8" name="Connector 48"/>
          <p:cNvCxnSpPr/>
          <p:nvPr/>
        </p:nvCxnSpPr>
        <p:spPr>
          <a:xfrm rot="-5400000">
            <a:off x="7895514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9" name="Connector 49"/>
          <p:cNvCxnSpPr/>
          <p:nvPr/>
        </p:nvCxnSpPr>
        <p:spPr>
          <a:xfrm>
            <a:off x="9694800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0" name="Connector 50"/>
          <p:cNvCxnSpPr/>
          <p:nvPr/>
        </p:nvCxnSpPr>
        <p:spPr>
          <a:xfrm rot="5400000">
            <a:off x="9698573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1" name="Connector 51"/>
          <p:cNvCxnSpPr/>
          <p:nvPr/>
        </p:nvCxnSpPr>
        <p:spPr>
          <a:xfrm rot="10800000">
            <a:off x="7896228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2" name="Connector 52"/>
          <p:cNvCxnSpPr/>
          <p:nvPr/>
        </p:nvCxnSpPr>
        <p:spPr>
          <a:xfrm>
            <a:off x="2495772" y="1629000"/>
            <a:ext cx="358800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3" name="Connector 53"/>
          <p:cNvCxnSpPr/>
          <p:nvPr/>
        </p:nvCxnSpPr>
        <p:spPr>
          <a:xfrm rot="-5400000">
            <a:off x="3575172" y="1628400"/>
            <a:ext cx="360000" cy="3612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4" name="Connector 54"/>
          <p:cNvCxnSpPr/>
          <p:nvPr/>
        </p:nvCxnSpPr>
        <p:spPr>
          <a:xfrm>
            <a:off x="8254800" y="1628999"/>
            <a:ext cx="358800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5" name="Connector 55"/>
          <p:cNvCxnSpPr/>
          <p:nvPr/>
        </p:nvCxnSpPr>
        <p:spPr>
          <a:xfrm rot="-5400000">
            <a:off x="9334200" y="1628399"/>
            <a:ext cx="360000" cy="3612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6" name="Connector 56"/>
          <p:cNvCxnSpPr/>
          <p:nvPr/>
        </p:nvCxnSpPr>
        <p:spPr>
          <a:xfrm>
            <a:off x="5015772" y="198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7" name="Connector 57"/>
          <p:cNvCxnSpPr/>
          <p:nvPr/>
        </p:nvCxnSpPr>
        <p:spPr>
          <a:xfrm flipV="1">
            <a:off x="1414572" y="1989000"/>
            <a:ext cx="1200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8" name="Connector 58"/>
          <p:cNvCxnSpPr/>
          <p:nvPr/>
        </p:nvCxnSpPr>
        <p:spPr>
          <a:xfrm flipV="1">
            <a:off x="7174800" y="1988999"/>
            <a:ext cx="1200" cy="720001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9" name="Connector 59"/>
          <p:cNvCxnSpPr/>
          <p:nvPr/>
        </p:nvCxnSpPr>
        <p:spPr>
          <a:xfrm>
            <a:off x="10776000" y="198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0" name="Connector 60"/>
          <p:cNvCxnSpPr/>
          <p:nvPr/>
        </p:nvCxnSpPr>
        <p:spPr>
          <a:xfrm rot="10800000" flipV="1">
            <a:off x="10776000" y="414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1" name="Connector 61"/>
          <p:cNvCxnSpPr/>
          <p:nvPr/>
        </p:nvCxnSpPr>
        <p:spPr>
          <a:xfrm rot="10800000">
            <a:off x="7168338" y="4149000"/>
            <a:ext cx="7662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2" name="Connector 62"/>
          <p:cNvCxnSpPr/>
          <p:nvPr/>
        </p:nvCxnSpPr>
        <p:spPr>
          <a:xfrm rot="5400000">
            <a:off x="8254799" y="4868999"/>
            <a:ext cx="360000" cy="360002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3" name="Connector 63"/>
          <p:cNvCxnSpPr/>
          <p:nvPr/>
        </p:nvCxnSpPr>
        <p:spPr>
          <a:xfrm rot="5400000">
            <a:off x="2494571" y="4868999"/>
            <a:ext cx="360000" cy="360002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4" name="Connector 64"/>
          <p:cNvCxnSpPr/>
          <p:nvPr/>
        </p:nvCxnSpPr>
        <p:spPr>
          <a:xfrm rot="10800000">
            <a:off x="3580918" y="4869000"/>
            <a:ext cx="366346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5" name="Connector 65"/>
          <p:cNvCxnSpPr/>
          <p:nvPr/>
        </p:nvCxnSpPr>
        <p:spPr>
          <a:xfrm rot="10800000">
            <a:off x="9341146" y="4869000"/>
            <a:ext cx="366346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6" name="Connector 66"/>
          <p:cNvCxnSpPr/>
          <p:nvPr/>
        </p:nvCxnSpPr>
        <p:spPr>
          <a:xfrm rot="10800000" flipV="1">
            <a:off x="5015772" y="414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7" name="Connector 67"/>
          <p:cNvCxnSpPr/>
          <p:nvPr/>
        </p:nvCxnSpPr>
        <p:spPr>
          <a:xfrm rot="10800000">
            <a:off x="1408222" y="4149000"/>
            <a:ext cx="7550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68" name="AutoShape 68"/>
          <p:cNvSpPr/>
          <p:nvPr/>
        </p:nvSpPr>
        <p:spPr>
          <a:xfrm>
            <a:off x="344643" y="6309000"/>
            <a:ext cx="11403357" cy="3231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1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图例：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测量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散射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工作流逻辑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更新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对称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渲染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模型反馈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环境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约束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法规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检测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输出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真值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功能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9.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接口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记忆  </a:t>
            </a:r>
            <a:endParaRPr lang="en-US" sz="1100"/>
          </a:p>
        </p:txBody>
      </p:sp>
      <p:sp>
        <p:nvSpPr>
          <p:cNvPr id="69" name="AutoShape 69"/>
          <p:cNvSpPr>
            <a:spLocks noGrp="1"/>
          </p:cNvSpPr>
          <p:nvPr>
            <p:ph type="body" sz="quarter" idx="2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1666"/>
              </a:lnSpc>
              <a:defRPr sz="2700" b="1" i="0" u="none" strike="noStrike" spc="0">
                <a:solidFill>
                  <a:srgbClr val="00206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工作流范式</a:t>
            </a: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13086" y="2759510"/>
            <a:ext cx="1324855" cy="133897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1" name="AutoShape 71"/>
          <p:cNvSpPr/>
          <p:nvPr/>
        </p:nvSpPr>
        <p:spPr>
          <a:xfrm>
            <a:off x="6895074" y="3477413"/>
            <a:ext cx="1324170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Kinematics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</a:p>
        </p:txBody>
      </p:sp>
      <p:sp>
        <p:nvSpPr>
          <p:cNvPr id="72" name="AutoShape 72"/>
          <p:cNvSpPr/>
          <p:nvPr/>
        </p:nvSpPr>
        <p:spPr>
          <a:xfrm>
            <a:off x="9811974" y="3459208"/>
            <a:ext cx="1324170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Dynamics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</a:p>
        </p:txBody>
      </p:sp>
      <p:pic>
        <p:nvPicPr>
          <p:cNvPr id="73" name="Picture 7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73976" y="3281562"/>
            <a:ext cx="614339" cy="30440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4" name="AutoShape 74"/>
          <p:cNvSpPr/>
          <p:nvPr/>
        </p:nvSpPr>
        <p:spPr>
          <a:xfrm>
            <a:off x="2134570" y="596000"/>
            <a:ext cx="3418572" cy="5539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一定有一个</a:t>
            </a:r>
            <a:r>
              <a:rPr lang="en-US" sz="3000" b="1" i="0" u="none" strike="noStrike">
                <a:solidFill>
                  <a:srgbClr val="203864"/>
                </a:solidFill>
                <a:latin typeface="SimHei"/>
                <a:ea typeface="SimHei"/>
                <a:cs typeface="SimHei"/>
                <a:sym typeface="SimHei"/>
              </a:rPr>
              <a:t>流程</a:t>
            </a:r>
            <a:endParaRPr lang="en-US" sz="1100"/>
          </a:p>
        </p:txBody>
      </p:sp>
      <p:sp>
        <p:nvSpPr>
          <p:cNvPr id="75" name="AutoShape 75"/>
          <p:cNvSpPr/>
          <p:nvPr/>
        </p:nvSpPr>
        <p:spPr>
          <a:xfrm>
            <a:off x="7636504" y="596000"/>
            <a:ext cx="3215096" cy="5539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一定有一个</a:t>
            </a:r>
            <a:r>
              <a:rPr lang="en-US" sz="3000" b="1" i="0" u="none" strike="noStrike">
                <a:solidFill>
                  <a:srgbClr val="203864"/>
                </a:solidFill>
                <a:latin typeface="SimHei"/>
                <a:ea typeface="SimHei"/>
                <a:cs typeface="SimHei"/>
                <a:sym typeface="SimHei"/>
              </a:rPr>
              <a:t>曲面</a:t>
            </a:r>
            <a:endParaRPr lang="en-US" sz="1100"/>
          </a:p>
        </p:txBody>
      </p:sp>
      <p:cxnSp>
        <p:nvCxnSpPr>
          <p:cNvPr id="76" name="Connector 76"/>
          <p:cNvCxnSpPr/>
          <p:nvPr/>
        </p:nvCxnSpPr>
        <p:spPr>
          <a:xfrm>
            <a:off x="4834572" y="872999"/>
            <a:ext cx="2340228" cy="0"/>
          </a:xfrm>
          <a:prstGeom prst="straightConnector1">
            <a:avLst/>
          </a:prstGeom>
          <a:noFill/>
          <a:ln w="12700" cap="flat">
            <a:solidFill>
              <a:srgbClr val="FF0000">
                <a:alpha val="100000"/>
              </a:srgbClr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77" name="AutoShape 77"/>
          <p:cNvSpPr/>
          <p:nvPr/>
        </p:nvSpPr>
        <p:spPr>
          <a:xfrm>
            <a:off x="8851358" y="2083848"/>
            <a:ext cx="922695" cy="6001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ModelBatch</a:t>
            </a: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</a:p>
        </p:txBody>
      </p:sp>
      <p:sp>
        <p:nvSpPr>
          <p:cNvPr id="78" name="AutoShape 78"/>
          <p:cNvSpPr/>
          <p:nvPr/>
        </p:nvSpPr>
        <p:spPr>
          <a:xfrm>
            <a:off x="7557159" y="1388836"/>
            <a:ext cx="818907" cy="6001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Sensor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DataLoad</a:t>
            </a: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pic>
        <p:nvPicPr>
          <p:cNvPr id="79" name="Picture 7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67200" y="2855023"/>
            <a:ext cx="447675" cy="44767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848810" y="1414386"/>
            <a:ext cx="428625" cy="4381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413408" y="2781000"/>
            <a:ext cx="704621" cy="63885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774702" y="4954613"/>
            <a:ext cx="600075" cy="5429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324742" y="2115887"/>
            <a:ext cx="480394" cy="39516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4" name="AutoShape 84"/>
          <p:cNvSpPr/>
          <p:nvPr/>
        </p:nvSpPr>
        <p:spPr>
          <a:xfrm>
            <a:off x="10334161" y="1370164"/>
            <a:ext cx="922695" cy="4308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Commands</a:t>
            </a:r>
          </a:p>
        </p:txBody>
      </p:sp>
      <p:sp>
        <p:nvSpPr>
          <p:cNvPr id="85" name="AutoShape 85"/>
          <p:cNvSpPr/>
          <p:nvPr/>
        </p:nvSpPr>
        <p:spPr>
          <a:xfrm>
            <a:off x="10487454" y="4988301"/>
            <a:ext cx="922695" cy="4308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Skills</a:t>
            </a:r>
          </a:p>
        </p:txBody>
      </p:sp>
      <p:pic>
        <p:nvPicPr>
          <p:cNvPr id="87" name="picture 50">
            <a:extLst>
              <a:ext uri="{FF2B5EF4-FFF2-40B4-BE49-F238E27FC236}">
                <a16:creationId xmlns:a16="http://schemas.microsoft.com/office/drawing/2014/main" id="{7931053C-E718-50AC-73D4-D7A3AF1C7D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43093"/>
            <a:ext cx="336000" cy="2921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1666"/>
              </a:lnSpc>
              <a:defRPr sz="2700" b="1" i="0" u="none" strike="noStrike" spc="0">
                <a:solidFill>
                  <a:srgbClr val="00206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数据生成工作流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54572" y="1989000"/>
            <a:ext cx="4321428" cy="2880000"/>
            <a:chOff x="1054572" y="1989000"/>
            <a:chExt cx="4321428" cy="2880000"/>
          </a:xfrm>
        </p:grpSpPr>
        <p:sp>
          <p:nvSpPr>
            <p:cNvPr id="4" name="AutoShape 4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16" name="Connector 16"/>
          <p:cNvCxnSpPr/>
          <p:nvPr/>
        </p:nvCxnSpPr>
        <p:spPr>
          <a:xfrm rot="-5400000">
            <a:off x="2135286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7" name="Connector 17"/>
          <p:cNvCxnSpPr/>
          <p:nvPr/>
        </p:nvCxnSpPr>
        <p:spPr>
          <a:xfrm>
            <a:off x="3934572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8" name="Connector 18"/>
          <p:cNvCxnSpPr/>
          <p:nvPr/>
        </p:nvCxnSpPr>
        <p:spPr>
          <a:xfrm rot="5400000">
            <a:off x="3938345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9" name="Connector 19"/>
          <p:cNvCxnSpPr/>
          <p:nvPr/>
        </p:nvCxnSpPr>
        <p:spPr>
          <a:xfrm rot="10800000">
            <a:off x="2136000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0" name="AutoShape 20"/>
          <p:cNvSpPr/>
          <p:nvPr/>
        </p:nvSpPr>
        <p:spPr>
          <a:xfrm>
            <a:off x="931075" y="5607417"/>
            <a:ext cx="4131357" cy="3231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1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图例：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工作流逻辑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生成渲染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模型反馈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677200" y="2155002"/>
            <a:ext cx="125737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数据转换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51082" y="2967335"/>
            <a:ext cx="1441428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交通流管理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车辆/道路</a:t>
            </a:r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76000" y="2529000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756000" y="2529000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316000" y="4689000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935058" y="2967335"/>
            <a:ext cx="1441428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条件控制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文生图</a:t>
            </a:r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图生图</a:t>
            </a:r>
          </a:p>
        </p:txBody>
      </p:sp>
      <p:sp>
        <p:nvSpPr>
          <p:cNvPr id="27" name="AutoShape 27"/>
          <p:cNvSpPr/>
          <p:nvPr/>
        </p:nvSpPr>
        <p:spPr>
          <a:xfrm>
            <a:off x="2451252" y="4315002"/>
            <a:ext cx="1441428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被测模型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83946" y="797510"/>
            <a:ext cx="5220000" cy="24006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>
            <a:lvl1pPr marL="476250" indent="-190500"/>
            <a:lvl2pPr marL="933450" indent="-190500"/>
            <a:lvl3pPr marL="1390650" indent="-190500"/>
            <a:lvl4pPr marL="1847850" indent="-190500"/>
            <a:lvl5pPr marL="2305050" indent="-190500"/>
            <a:lvl6pPr marL="2762250" indent="-190500"/>
            <a:lvl7pPr marL="3219450" indent="-190500"/>
            <a:lvl8pPr marL="3676650" indent="-190500"/>
            <a:lvl9pPr marL="4133850" indent="-190500"/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15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工作流逻辑（交通流管理）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输入：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车辆行为配置、道路结构、提示词（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r>
              <a:rPr lang="en-US" sz="15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marL="0"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功能模块</a:t>
            </a:r>
            <a:r>
              <a:rPr lang="en-US" sz="15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：交通流管理</a:t>
            </a:r>
          </a:p>
          <a:p>
            <a:pPr marL="0"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作用：</a:t>
            </a: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定义仿真环境中的车辆数量、行驶路径、速度分布等；</a:t>
            </a: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设置道路拓扑（如交叉口、车道线）；</a:t>
            </a: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使用自然语言或结构化描述（提示词）定义场景意图（例如：“城市十字路口，有行人过街”）；</a:t>
            </a:r>
          </a:p>
          <a:p>
            <a:pPr marL="0"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输出：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结构化交通场景数据（包含车辆状态、路网信息、时间序列）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183946" y="3789000"/>
            <a:ext cx="5852054" cy="24006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>
            <a:lvl1pPr marL="476250" indent="-190500"/>
            <a:lvl2pPr marL="933450" indent="-190500"/>
            <a:lvl3pPr marL="1390650" indent="-190500"/>
            <a:lvl4pPr marL="1847850" indent="-190500"/>
            <a:lvl5pPr marL="2305050" indent="-190500"/>
            <a:lvl6pPr marL="2762250" indent="-190500"/>
            <a:lvl7pPr marL="3219450" indent="-190500"/>
            <a:lvl8pPr marL="3676650" indent="-190500"/>
            <a:lvl9pPr marL="4133850" indent="-190500"/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15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数据生成渲染（条件控制生成）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输入：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来自步骤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的交通场景数据</a:t>
            </a:r>
          </a:p>
          <a:p>
            <a:pPr marL="0"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功能模块：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条件控制 文生图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图生图</a:t>
            </a:r>
          </a:p>
          <a:p>
            <a:pPr marL="0"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作用：</a:t>
            </a: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将交通流数据转换为视觉输入条件（如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BEV 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地图、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3D 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框）；</a:t>
            </a: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调用生成模型（如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WorldDreamer 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扩散模型）进行图像合成；</a:t>
            </a: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支持多种模态生成：</a:t>
            </a:r>
          </a:p>
          <a:p>
            <a:pPr marL="742950" lvl="1" indent="-285750" algn="l">
              <a:lnSpc>
                <a:spcPct val="100000"/>
              </a:lnSpc>
              <a:buClr>
                <a:srgbClr val="000000"/>
              </a:buClr>
              <a:buFont typeface="Wingdings"/>
              <a:buChar char="ü"/>
            </a:pP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文生图：基于文本提示生成初始场景；</a:t>
            </a:r>
          </a:p>
          <a:p>
            <a:pPr marL="742950" lvl="1" indent="-285750" algn="l">
              <a:lnSpc>
                <a:spcPct val="100000"/>
              </a:lnSpc>
              <a:buClr>
                <a:srgbClr val="000000"/>
              </a:buClr>
              <a:buFont typeface="Wingdings"/>
              <a:buChar char="ü"/>
            </a:pP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图生图：基于已有图像进行细节增强或风格迁移；</a:t>
            </a:r>
          </a:p>
          <a:p>
            <a:pPr marL="0"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输出：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一组或多组模拟摄像机视角的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RGB 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图像（如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</a:t>
            </a:r>
            <a:r>
              <a:rPr lang="en-US" sz="15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张拼接图）</a:t>
            </a:r>
          </a:p>
        </p:txBody>
      </p:sp>
      <p:sp>
        <p:nvSpPr>
          <p:cNvPr id="30" name="AutoShape 30"/>
          <p:cNvSpPr/>
          <p:nvPr/>
        </p:nvSpPr>
        <p:spPr>
          <a:xfrm>
            <a:off x="487034" y="865739"/>
            <a:ext cx="5455075" cy="4308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生成式世界模型 </a:t>
            </a:r>
            <a:r>
              <a:rPr lang="en-US" sz="22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2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交通仿真闭环</a:t>
            </a:r>
            <a:r>
              <a:rPr lang="en-US" sz="2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2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7268" y="3429001"/>
            <a:ext cx="5758276" cy="720001"/>
          </a:xfrm>
          <a:prstGeom prst="rect">
            <a:avLst/>
          </a:prstGeom>
          <a:solidFill>
            <a:srgbClr val="9DC3E6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8101_1 仿真系统API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7724" y="2709001"/>
            <a:ext cx="5758276" cy="720001"/>
          </a:xfrm>
          <a:prstGeom prst="rect">
            <a:avLst/>
          </a:prstGeom>
          <a:solidFill>
            <a:srgbClr val="A9D18E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8111_1 交通流管理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7724" y="1989001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8121_1 LIMSIM智能仿真框架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76000" y="1989000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8122_1 SUMO交通仿真模型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7724" y="1269001"/>
            <a:ext cx="1440227" cy="719999"/>
          </a:xfrm>
          <a:prstGeom prst="rect">
            <a:avLst/>
          </a:prstGeom>
          <a:solidFill>
            <a:srgbClr val="E34DBF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8131_1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场景规划</a:t>
            </a:r>
          </a:p>
        </p:txBody>
      </p:sp>
      <p:sp>
        <p:nvSpPr>
          <p:cNvPr id="7" name="AutoShape 7"/>
          <p:cNvSpPr/>
          <p:nvPr/>
        </p:nvSpPr>
        <p:spPr>
          <a:xfrm>
            <a:off x="7537724" y="1269001"/>
            <a:ext cx="1440227" cy="719999"/>
          </a:xfrm>
          <a:prstGeom prst="rect">
            <a:avLst/>
          </a:prstGeom>
          <a:solidFill>
            <a:srgbClr val="ED7D31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8132_1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车辆控制</a:t>
            </a:r>
          </a:p>
        </p:txBody>
      </p:sp>
      <p:sp>
        <p:nvSpPr>
          <p:cNvPr id="8" name="AutoShape 8"/>
          <p:cNvSpPr/>
          <p:nvPr/>
        </p:nvSpPr>
        <p:spPr>
          <a:xfrm>
            <a:off x="8979326" y="1269001"/>
            <a:ext cx="1440227" cy="719999"/>
          </a:xfrm>
          <a:prstGeom prst="rect">
            <a:avLst/>
          </a:prstGeom>
          <a:solidFill>
            <a:srgbClr val="BF9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8133_1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路网构建</a:t>
            </a:r>
          </a:p>
        </p:txBody>
      </p:sp>
      <p:sp>
        <p:nvSpPr>
          <p:cNvPr id="9" name="AutoShape 9"/>
          <p:cNvSpPr/>
          <p:nvPr/>
        </p:nvSpPr>
        <p:spPr>
          <a:xfrm>
            <a:off x="10415773" y="1269000"/>
            <a:ext cx="1440227" cy="719999"/>
          </a:xfrm>
          <a:prstGeom prst="rect">
            <a:avLst/>
          </a:prstGeom>
          <a:solidFill>
            <a:srgbClr val="70AD47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8151_1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MovingScene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336000" y="4329000"/>
          <a:ext cx="11519544" cy="233791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层级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名称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功能说明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对应原子功能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83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 1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仿真系统</a:t>
                      </a: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</a:t>
                      </a: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层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提供统一接口，支持外部系统调用仿真服务，如启动、暂停、获取状态、上传配置等。是整个系统的对外门户。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8101_1 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仿真系统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83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 2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交通流管理层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负责全局交通流的调度与管理，包括车辆生成、路径规划、流量控制、事件触发等，确保仿真场景符合预期交通模式。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8111_1 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交通流管理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 3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智能仿真框架层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集成高级仿真逻辑，提供感知、预测、决策、规划闭环能力，支持 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 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模型接入（如 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 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规划器、生成式世界模型）。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8121_1 LIMSIM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智能仿真框架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8122_1 SUMO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交通仿真模型</a:t>
                      </a:r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 n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交通模型层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承载底层物理仿真引擎（如 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SUMO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），执行车辆动力学、碰撞检测、交通规则等基础行为模拟。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8131_1 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场景规划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8132_1 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车辆控制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8133_1 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路网构建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00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 5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场景控制层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负责高阶场景定制，包括路网构建、车辆行为控制、动态场景生成（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MovingScene</a:t>
                      </a: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）、以及基于条件的场景演化。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60A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8151_1 MovingScene</a:t>
                      </a:r>
                      <a:endParaRPr lang="en-US" sz="1100"/>
                    </a:p>
                  </a:txBody>
                  <a:tcPr marL="106680" marR="10668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1054572" y="2709000"/>
            <a:ext cx="4321428" cy="1440000"/>
            <a:chOff x="1054572" y="2709000"/>
            <a:chExt cx="4321428" cy="1440000"/>
          </a:xfrm>
        </p:grpSpPr>
        <p:sp>
          <p:nvSpPr>
            <p:cNvPr id="12" name="AutoShape 12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7F7F7F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7F7F7F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7F7F7F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7F7F7F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20" name="Connector 20"/>
          <p:cNvCxnSpPr/>
          <p:nvPr/>
        </p:nvCxnSpPr>
        <p:spPr>
          <a:xfrm rot="-5400000">
            <a:off x="3215886" y="1629114"/>
            <a:ext cx="12700" cy="2159772"/>
          </a:xfrm>
          <a:prstGeom prst="bentConnector3">
            <a:avLst>
              <a:gd name="adj1" fmla="val 2907693"/>
            </a:avLst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51082" y="2967335"/>
            <a:ext cx="1441428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交通流管理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车辆/道路</a:t>
            </a:r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76000" y="2529000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756000" y="2529000"/>
            <a:ext cx="358572" cy="360000"/>
          </a:xfrm>
          <a:prstGeom prst="octagon">
            <a:avLst>
              <a:gd name="adj" fmla="val 29289"/>
            </a:avLst>
          </a:prstGeom>
          <a:solidFill>
            <a:srgbClr val="7F7F7F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935058" y="2967335"/>
            <a:ext cx="1441428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条件控制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文生图</a:t>
            </a:r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图生图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714572" y="750910"/>
            <a:ext cx="2701428" cy="4308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交通流管理系统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flipV="1">
            <a:off x="1234572" y="907440"/>
            <a:ext cx="6032142" cy="1726582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266714" y="802418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31075" y="1305835"/>
            <a:ext cx="4131357" cy="3231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工作流逻辑                          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生成渲染  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36000" y="112461"/>
            <a:ext cx="10515600" cy="363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交通流管理系统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7268" y="3429001"/>
            <a:ext cx="5758276" cy="720001"/>
          </a:xfrm>
          <a:prstGeom prst="rect">
            <a:avLst/>
          </a:prstGeom>
          <a:solidFill>
            <a:srgbClr val="9DC3E6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8101_2 图像生成API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7724" y="2709001"/>
            <a:ext cx="5758276" cy="720001"/>
          </a:xfrm>
          <a:prstGeom prst="rect">
            <a:avLst/>
          </a:prstGeom>
          <a:solidFill>
            <a:srgbClr val="A9D18E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8111_2 多视角Pipeline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7724" y="1989001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8121_2 UNet扩散模型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76000" y="1989000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8122_2 条件控制模型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7724" y="1269001"/>
            <a:ext cx="1440227" cy="719999"/>
          </a:xfrm>
          <a:prstGeom prst="rect">
            <a:avLst/>
          </a:prstGeom>
          <a:solidFill>
            <a:srgbClr val="E34DBF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8131_2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BEV条件嵌入</a:t>
            </a:r>
          </a:p>
        </p:txBody>
      </p:sp>
      <p:sp>
        <p:nvSpPr>
          <p:cNvPr id="7" name="AutoShape 7"/>
          <p:cNvSpPr/>
          <p:nvPr/>
        </p:nvSpPr>
        <p:spPr>
          <a:xfrm>
            <a:off x="7537724" y="1269001"/>
            <a:ext cx="1440227" cy="719999"/>
          </a:xfrm>
          <a:prstGeom prst="rect">
            <a:avLst/>
          </a:prstGeom>
          <a:solidFill>
            <a:srgbClr val="ED7D31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8132_2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3D框条件嵌入</a:t>
            </a:r>
          </a:p>
        </p:txBody>
      </p:sp>
      <p:sp>
        <p:nvSpPr>
          <p:cNvPr id="8" name="AutoShape 8"/>
          <p:cNvSpPr/>
          <p:nvPr/>
        </p:nvSpPr>
        <p:spPr>
          <a:xfrm>
            <a:off x="8979326" y="1269001"/>
            <a:ext cx="1440227" cy="719999"/>
          </a:xfrm>
          <a:prstGeom prst="rect">
            <a:avLst/>
          </a:prstGeom>
          <a:solidFill>
            <a:srgbClr val="BF9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8133_2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CLIP提示词</a:t>
            </a:r>
          </a:p>
        </p:txBody>
      </p:sp>
      <p:sp>
        <p:nvSpPr>
          <p:cNvPr id="9" name="AutoShape 9"/>
          <p:cNvSpPr/>
          <p:nvPr/>
        </p:nvSpPr>
        <p:spPr>
          <a:xfrm>
            <a:off x="10415773" y="1269000"/>
            <a:ext cx="1440227" cy="719999"/>
          </a:xfrm>
          <a:prstGeom prst="rect">
            <a:avLst/>
          </a:prstGeom>
          <a:solidFill>
            <a:srgbClr val="70AD47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8151_2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时序多视融合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336000" y="4329000"/>
          <a:ext cx="11519544" cy="228919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1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879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层级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名称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功能说明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对应原子功能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9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1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提供统一接口，对外暴露生成能力，如图像生成、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3D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生成等。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8101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图像生成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9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2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多模态流程编排，处理输入、调度子模块、输出结果。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8111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多视角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0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3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模型层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核心生成模型，包含扩散模型、条件控制等。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8121 UNet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扩散模型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8122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条件控制模型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0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n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功能嵌入层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场景功能嵌入，包括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BEV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地图，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3D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车辆边界框，提示词等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8131 BEV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条件嵌入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8132 3D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框条件嵌入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9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5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交叉注意力层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跨模态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跨视角特征对齐与融合，实现空间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语义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时序一致性。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8151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时序多视融合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1054572" y="2709000"/>
            <a:ext cx="4321428" cy="1440000"/>
            <a:chOff x="1054572" y="2709000"/>
            <a:chExt cx="4321428" cy="1440000"/>
          </a:xfrm>
        </p:grpSpPr>
        <p:sp>
          <p:nvSpPr>
            <p:cNvPr id="12" name="AutoShape 12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20" name="Connector 20"/>
          <p:cNvCxnSpPr/>
          <p:nvPr/>
        </p:nvCxnSpPr>
        <p:spPr>
          <a:xfrm rot="-5400000">
            <a:off x="3215886" y="1629114"/>
            <a:ext cx="12700" cy="2159772"/>
          </a:xfrm>
          <a:prstGeom prst="bentConnector3">
            <a:avLst>
              <a:gd name="adj1" fmla="val 2907693"/>
            </a:avLst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51082" y="2967335"/>
            <a:ext cx="1441428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交通流管理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车辆/道路</a:t>
            </a:r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76000" y="2529000"/>
            <a:ext cx="358572" cy="360000"/>
          </a:xfrm>
          <a:prstGeom prst="octagon">
            <a:avLst>
              <a:gd name="adj" fmla="val 29289"/>
            </a:avLst>
          </a:prstGeom>
          <a:solidFill>
            <a:srgbClr val="80808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756000" y="2529000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935058" y="2967335"/>
            <a:ext cx="1441428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条件控制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文生图</a:t>
            </a:r>
          </a:p>
          <a:p>
            <a:pPr marL="0"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图生图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177428" y="781512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714572" y="750910"/>
            <a:ext cx="2701428" cy="4308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数据生成模型框架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flipV="1">
            <a:off x="4114572" y="886534"/>
            <a:ext cx="3062856" cy="1747488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31075" y="1305835"/>
            <a:ext cx="4131357" cy="3231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工作流逻辑                          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生成渲染  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33138" y="118973"/>
            <a:ext cx="10515600" cy="363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数据生成模型框架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7268" y="4148999"/>
            <a:ext cx="5758276" cy="720001"/>
          </a:xfrm>
          <a:prstGeom prst="rect">
            <a:avLst/>
          </a:prstGeom>
          <a:solidFill>
            <a:srgbClr val="9DC3E6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8301 多型号电机 Servos API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7724" y="3428999"/>
            <a:ext cx="5758276" cy="720001"/>
          </a:xfrm>
          <a:prstGeom prst="rect">
            <a:avLst/>
          </a:prstGeom>
          <a:solidFill>
            <a:srgbClr val="A9D18E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8311 MIDI 驱动库Lib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7724" y="2708999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8321 Move Control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位置控制</a:t>
            </a:r>
          </a:p>
        </p:txBody>
      </p:sp>
      <p:sp>
        <p:nvSpPr>
          <p:cNvPr id="5" name="AutoShape 5"/>
          <p:cNvSpPr/>
          <p:nvPr/>
        </p:nvSpPr>
        <p:spPr>
          <a:xfrm>
            <a:off x="8976000" y="2708998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8322 Torque Control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扭矩控制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7724" y="1988999"/>
            <a:ext cx="1440227" cy="719999"/>
          </a:xfrm>
          <a:prstGeom prst="rect">
            <a:avLst/>
          </a:prstGeom>
          <a:solidFill>
            <a:srgbClr val="E34DBF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8331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监听</a:t>
            </a:r>
          </a:p>
        </p:txBody>
      </p:sp>
      <p:sp>
        <p:nvSpPr>
          <p:cNvPr id="7" name="AutoShape 7"/>
          <p:cNvSpPr/>
          <p:nvPr/>
        </p:nvSpPr>
        <p:spPr>
          <a:xfrm>
            <a:off x="7537724" y="1988999"/>
            <a:ext cx="1440227" cy="719999"/>
          </a:xfrm>
          <a:prstGeom prst="rect">
            <a:avLst/>
          </a:prstGeom>
          <a:solidFill>
            <a:srgbClr val="ED7D31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8332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处理</a:t>
            </a:r>
          </a:p>
        </p:txBody>
      </p:sp>
      <p:sp>
        <p:nvSpPr>
          <p:cNvPr id="8" name="AutoShape 8"/>
          <p:cNvSpPr/>
          <p:nvPr/>
        </p:nvSpPr>
        <p:spPr>
          <a:xfrm>
            <a:off x="8979326" y="1988999"/>
            <a:ext cx="1440227" cy="719999"/>
          </a:xfrm>
          <a:prstGeom prst="rect">
            <a:avLst/>
          </a:prstGeom>
          <a:solidFill>
            <a:srgbClr val="BF9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8333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播放</a:t>
            </a:r>
          </a:p>
        </p:txBody>
      </p:sp>
      <p:sp>
        <p:nvSpPr>
          <p:cNvPr id="9" name="AutoShape 9"/>
          <p:cNvSpPr/>
          <p:nvPr/>
        </p:nvSpPr>
        <p:spPr>
          <a:xfrm>
            <a:off x="10415773" y="1988998"/>
            <a:ext cx="1440227" cy="719999"/>
          </a:xfrm>
          <a:prstGeom prst="rect">
            <a:avLst/>
          </a:prstGeom>
          <a:solidFill>
            <a:srgbClr val="70AD47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8351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抓夹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229760" y="729000"/>
            <a:ext cx="3693342" cy="4308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2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指夹爪框架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5999" y="1269001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8761_1 特色功能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【翻转、扭转、抓取、捏取】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33138" y="118973"/>
            <a:ext cx="10515600" cy="363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三指夹爪框架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975773" y="1268999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8761_1 通用功能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【诊断保护、状态读取】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54572" y="2709000"/>
            <a:ext cx="4321428" cy="1440000"/>
            <a:chOff x="1054572" y="2709000"/>
            <a:chExt cx="4321428" cy="1440000"/>
          </a:xfrm>
        </p:grpSpPr>
        <p:sp>
          <p:nvSpPr>
            <p:cNvPr id="15" name="AutoShape 15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23" name="Connector 23"/>
          <p:cNvCxnSpPr/>
          <p:nvPr/>
        </p:nvCxnSpPr>
        <p:spPr>
          <a:xfrm rot="-5400000">
            <a:off x="3215886" y="1629114"/>
            <a:ext cx="12700" cy="2159772"/>
          </a:xfrm>
          <a:prstGeom prst="bentConnector3">
            <a:avLst>
              <a:gd name="adj1" fmla="val 2907693"/>
            </a:avLst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4" name="AutoShape 24"/>
          <p:cNvSpPr/>
          <p:nvPr/>
        </p:nvSpPr>
        <p:spPr>
          <a:xfrm>
            <a:off x="1051082" y="2967335"/>
            <a:ext cx="1441428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逆运动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76000" y="2529000"/>
            <a:ext cx="358572" cy="360000"/>
          </a:xfrm>
          <a:prstGeom prst="octagon">
            <a:avLst>
              <a:gd name="adj" fmla="val 29289"/>
            </a:avLst>
          </a:prstGeom>
          <a:solidFill>
            <a:srgbClr val="80808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756000" y="2529000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935058" y="2967335"/>
            <a:ext cx="1441428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3指控制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31075" y="1305835"/>
            <a:ext cx="4131357" cy="3231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决策规划                             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驱动控制  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801152" y="753672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333138" y="4776668"/>
          <a:ext cx="11519544" cy="20726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3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9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层级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名称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功能说明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对应原子功能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6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功能层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可扩展的夹爪特色功能库</a:t>
                      </a:r>
                      <a:endParaRPr lang="en-US" sz="11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8761_1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特色功能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【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翻转、扭转、抓取、捏取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】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8761_1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通用功能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【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诊断保护、状态读取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】</a:t>
                      </a:r>
                      <a:endParaRPr lang="en-US" sz="11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3x/5x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任务层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封装可复用的任务能力单元，支持抓取任务的模型选择、场景扫描、规划与范围管理</a:t>
                      </a:r>
                      <a:endParaRPr lang="en-US" sz="11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8331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监听  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8332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处理 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8333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播放  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8351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抓夹</a:t>
                      </a:r>
                      <a:endParaRPr lang="en-US" sz="11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2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控制层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管理电机位置闭环，维护运动状态机，支持点位控制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管理电机扭矩闭环，实现力位混合控制与柔性抓取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8321 Move Control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8322 Torque Control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1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驱动库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Lib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一调度电机驱动请求，实现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协议转换与模块间协同</a:t>
                      </a:r>
                      <a:endParaRPr lang="en-US" sz="11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8311 MIDI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驱动库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Lib</a:t>
                      </a:r>
                      <a:endParaRPr lang="en-US" sz="11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0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Servos API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定义标准化电机控制指令，支持多型号伺服电机的统一编排</a:t>
                      </a:r>
                      <a:endParaRPr lang="en-US" sz="11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8301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多型号电机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Servos API</a:t>
                      </a:r>
                      <a:endParaRPr lang="en-US" sz="11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7268" y="4868999"/>
            <a:ext cx="5758276" cy="720001"/>
          </a:xfrm>
          <a:prstGeom prst="rect">
            <a:avLst/>
          </a:prstGeom>
          <a:solidFill>
            <a:srgbClr val="9DC3E6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8701 Commands 指令集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6097724" y="4148999"/>
            <a:ext cx="5758276" cy="720001"/>
          </a:xfrm>
          <a:prstGeom prst="rect">
            <a:avLst/>
          </a:prstGeom>
          <a:solidFill>
            <a:srgbClr val="A9D18E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8711 GatewayLoop 总网关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7724" y="3428999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8721 Memory 记忆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76000" y="3428998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8722 Session 场景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7724" y="2708999"/>
            <a:ext cx="1440227" cy="719999"/>
          </a:xfrm>
          <a:prstGeom prst="rect">
            <a:avLst/>
          </a:prstGeom>
          <a:solidFill>
            <a:srgbClr val="E34DBF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8731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Model_selection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7537724" y="2708999"/>
            <a:ext cx="1440227" cy="719999"/>
          </a:xfrm>
          <a:prstGeom prst="rect">
            <a:avLst/>
          </a:prstGeom>
          <a:solidFill>
            <a:srgbClr val="ED7D31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8732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Model_scan</a:t>
            </a:r>
          </a:p>
        </p:txBody>
      </p:sp>
      <p:sp>
        <p:nvSpPr>
          <p:cNvPr id="8" name="AutoShape 8"/>
          <p:cNvSpPr/>
          <p:nvPr/>
        </p:nvSpPr>
        <p:spPr>
          <a:xfrm>
            <a:off x="8979326" y="2708999"/>
            <a:ext cx="1440227" cy="719999"/>
          </a:xfrm>
          <a:prstGeom prst="rect">
            <a:avLst/>
          </a:prstGeom>
          <a:solidFill>
            <a:srgbClr val="BF9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8733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PI_model</a:t>
            </a:r>
          </a:p>
        </p:txBody>
      </p:sp>
      <p:sp>
        <p:nvSpPr>
          <p:cNvPr id="9" name="AutoShape 9"/>
          <p:cNvSpPr/>
          <p:nvPr/>
        </p:nvSpPr>
        <p:spPr>
          <a:xfrm>
            <a:off x="10415773" y="2708998"/>
            <a:ext cx="1440227" cy="719999"/>
          </a:xfrm>
          <a:prstGeom prst="rect">
            <a:avLst/>
          </a:prstGeom>
          <a:solidFill>
            <a:srgbClr val="70AD47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8751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Agent_scope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714572" y="750910"/>
            <a:ext cx="3693342" cy="4308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AI_Agent </a:t>
            </a:r>
            <a:r>
              <a:rPr lang="en-US" sz="22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框架</a:t>
            </a:r>
            <a:r>
              <a:rPr lang="en-US" sz="2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(OpenClaw)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76000" y="763798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grpSp>
        <p:nvGrpSpPr>
          <p:cNvPr id="12" name="Group 12"/>
          <p:cNvGrpSpPr/>
          <p:nvPr/>
        </p:nvGrpSpPr>
        <p:grpSpPr>
          <a:xfrm>
            <a:off x="1054572" y="1269000"/>
            <a:ext cx="4321428" cy="4320000"/>
            <a:chOff x="1054572" y="1269000"/>
            <a:chExt cx="4321428" cy="4320000"/>
          </a:xfrm>
        </p:grpSpPr>
        <p:sp>
          <p:nvSpPr>
            <p:cNvPr id="13" name="AutoShape 13"/>
            <p:cNvSpPr/>
            <p:nvPr/>
          </p:nvSpPr>
          <p:spPr>
            <a:xfrm>
              <a:off x="1775772" y="126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935772" y="126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774570" y="486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3947264" y="486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055772" y="126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4655772" y="1269000"/>
              <a:ext cx="720000" cy="720000"/>
            </a:xfrm>
            <a:prstGeom prst="rect">
              <a:avLst/>
            </a:prstGeom>
            <a:solidFill>
              <a:srgbClr val="20386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1055772" y="486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4655772" y="4869000"/>
              <a:ext cx="720000" cy="720000"/>
            </a:xfrm>
            <a:prstGeom prst="rect">
              <a:avLst/>
            </a:prstGeom>
            <a:solidFill>
              <a:srgbClr val="808080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33" name="Connector 33"/>
          <p:cNvCxnSpPr/>
          <p:nvPr/>
        </p:nvCxnSpPr>
        <p:spPr>
          <a:xfrm rot="-5400000">
            <a:off x="2135286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4" name="Connector 34"/>
          <p:cNvCxnSpPr/>
          <p:nvPr/>
        </p:nvCxnSpPr>
        <p:spPr>
          <a:xfrm>
            <a:off x="3934572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" name="Connector 35"/>
          <p:cNvCxnSpPr/>
          <p:nvPr/>
        </p:nvCxnSpPr>
        <p:spPr>
          <a:xfrm rot="5400000">
            <a:off x="3938345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6" name="Connector 36"/>
          <p:cNvCxnSpPr/>
          <p:nvPr/>
        </p:nvCxnSpPr>
        <p:spPr>
          <a:xfrm rot="10800000">
            <a:off x="2136000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7" name="Connector 37"/>
          <p:cNvCxnSpPr/>
          <p:nvPr/>
        </p:nvCxnSpPr>
        <p:spPr>
          <a:xfrm>
            <a:off x="2495772" y="1629000"/>
            <a:ext cx="358800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8" name="Connector 38"/>
          <p:cNvCxnSpPr/>
          <p:nvPr/>
        </p:nvCxnSpPr>
        <p:spPr>
          <a:xfrm rot="-5400000">
            <a:off x="3575172" y="1628400"/>
            <a:ext cx="360000" cy="3612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9" name="Connector 39"/>
          <p:cNvCxnSpPr/>
          <p:nvPr/>
        </p:nvCxnSpPr>
        <p:spPr>
          <a:xfrm>
            <a:off x="5015772" y="198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0" name="Connector 40"/>
          <p:cNvCxnSpPr/>
          <p:nvPr/>
        </p:nvCxnSpPr>
        <p:spPr>
          <a:xfrm flipV="1">
            <a:off x="1414572" y="1989000"/>
            <a:ext cx="1200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1" name="Connector 41"/>
          <p:cNvCxnSpPr/>
          <p:nvPr/>
        </p:nvCxnSpPr>
        <p:spPr>
          <a:xfrm rot="5400000">
            <a:off x="2494571" y="4868999"/>
            <a:ext cx="360000" cy="360002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2" name="Connector 42"/>
          <p:cNvCxnSpPr/>
          <p:nvPr/>
        </p:nvCxnSpPr>
        <p:spPr>
          <a:xfrm rot="10800000">
            <a:off x="3580918" y="4869000"/>
            <a:ext cx="366346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3" name="Connector 43"/>
          <p:cNvCxnSpPr/>
          <p:nvPr/>
        </p:nvCxnSpPr>
        <p:spPr>
          <a:xfrm rot="10800000" flipV="1">
            <a:off x="5015772" y="414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4" name="Connector 44"/>
          <p:cNvCxnSpPr/>
          <p:nvPr/>
        </p:nvCxnSpPr>
        <p:spPr>
          <a:xfrm rot="10800000">
            <a:off x="1408222" y="4149000"/>
            <a:ext cx="7550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5" name="AutoShape 45"/>
          <p:cNvSpPr/>
          <p:nvPr/>
        </p:nvSpPr>
        <p:spPr>
          <a:xfrm>
            <a:off x="6096000" y="1989001"/>
            <a:ext cx="5760000" cy="72000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8761_1 Skill 技能库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097724" y="1269001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8771 Channels 通道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976000" y="1269000"/>
            <a:ext cx="2880000" cy="720001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8772 UI 用户接口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333138" y="118973"/>
            <a:ext cx="10515600" cy="363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700" b="1" i="0" u="none" strike="noStrike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rPr>
              <a:t>AI Agent</a:t>
            </a: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框架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995286" y="774358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6634572" y="763797"/>
            <a:ext cx="358572" cy="360000"/>
          </a:xfrm>
          <a:prstGeom prst="octagon">
            <a:avLst>
              <a:gd name="adj" fmla="val 29289"/>
            </a:avLst>
          </a:prstGeom>
          <a:solidFill>
            <a:srgbClr val="000000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344643" y="5985835"/>
            <a:ext cx="11403357" cy="3231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1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图例：</a:t>
            </a:r>
            <a:r>
              <a:rPr lang="en-US" sz="1500" b="1" i="0" u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1500" b="1" i="0" u="none" strike="noStrike">
                <a:solidFill>
                  <a:srgbClr val="4472C4"/>
                </a:solidFill>
                <a:latin typeface="微软雅黑"/>
                <a:ea typeface="微软雅黑"/>
                <a:cs typeface="微软雅黑"/>
                <a:sym typeface="微软雅黑"/>
              </a:rPr>
              <a:t>通道</a:t>
            </a:r>
            <a:r>
              <a:rPr lang="en-US" sz="1500" b="1" i="0" u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/UI   2.Agent </a:t>
            </a:r>
            <a:r>
              <a:rPr lang="en-US" sz="1500" b="0" i="0" u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500" b="1" i="0" u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r>
              <a:rPr lang="en-US" sz="1500" b="1" i="0" u="none" strike="noStrike">
                <a:solidFill>
                  <a:srgbClr val="4472C4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8.Skill   9.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场景上下文</a:t>
            </a:r>
            <a:r>
              <a:rPr lang="en-US" sz="1500" b="1" i="0" u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1" i="0" u="none" strike="noStrike">
                <a:solidFill>
                  <a:srgbClr val="4472C4"/>
                </a:solidFill>
                <a:latin typeface="微软雅黑"/>
                <a:ea typeface="微软雅黑"/>
                <a:cs typeface="微软雅黑"/>
                <a:sym typeface="微软雅黑"/>
              </a:rPr>
              <a:t>记忆  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1602085" y="786175"/>
            <a:ext cx="3445397" cy="4308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拥有最高权限的智能体</a:t>
            </a:r>
            <a:endParaRPr lang="en-US" sz="1100"/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284814" y="656540"/>
            <a:ext cx="720000" cy="59563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3138" y="118973"/>
            <a:ext cx="10515600" cy="363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700" b="1" i="0" u="none" strike="noStrike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rPr>
              <a:t>AI Agent</a:t>
            </a: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框架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386378"/>
              </p:ext>
            </p:extLst>
          </p:nvPr>
        </p:nvGraphicFramePr>
        <p:xfrm>
          <a:off x="333138" y="729001"/>
          <a:ext cx="11702407" cy="577964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44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6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7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39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层级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名称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功能说明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对应原子功能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Layer 7.1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Channels 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通道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提供多模态数据传输与协议适配，支持内外系统间的数据流交互。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8771 Channels 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通道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Layer 7.2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UI 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用户接口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提供人机交互界面，支持指令输入、状态反馈与结果可视化。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8772 UI 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用户接口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77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Layer 6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Skill 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技能库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可扩展技能库，支持专业领域精细化深耕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8761 Skill 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技能库</a:t>
                      </a:r>
                      <a:endParaRPr lang="en-US" sz="15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353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Layer 3.x</a:t>
                      </a:r>
                      <a:endParaRPr lang="en-US" sz="15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…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Layer 5.x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Agent Model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封装可复用的任务能力单元，支持模型选择、场景扫描、规划与范围管理等。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8731 Model_selection</a:t>
                      </a:r>
                      <a:endParaRPr lang="en-US" sz="15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8732 Model_scan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8733 PI_model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8751 Agent_scope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Layer 2.1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Memory 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记忆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存储与管理对话上下文、任务状态与历史数据，支持长期记忆与短期上下文切换。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8721 Memory 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记忆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Layer 2.2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Session 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场景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管理多轮任务的生命周期，维护场景上下文、会话状态与执行链路。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8722 Session 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场景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Layer 1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GatewayLoop </a:t>
                      </a:r>
                      <a:endParaRPr lang="en-US" sz="15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总网关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事件循环系统服务，统一调度与路由请求，实现模块间的协同与负载均衡，保障系统高可用。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8711 GatewayLoop </a:t>
                      </a:r>
                      <a:endParaRPr lang="en-US" sz="15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总网关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0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Layer 0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Commands </a:t>
                      </a:r>
                      <a:endParaRPr lang="en-US" sz="1500" dirty="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指令集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定义标准化指令与协议，支持技能调用、模型调度与场景控制的统一编排。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cs typeface="ui-sans-serif"/>
                          <a:sym typeface="ui-sans-serif"/>
                        </a:rPr>
                        <a:t>8701 Commands </a:t>
                      </a:r>
                      <a:endParaRPr lang="en-US" sz="1500" dirty="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指令集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55772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双足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行走</a:t>
            </a:r>
          </a:p>
        </p:txBody>
      </p:sp>
      <p:sp>
        <p:nvSpPr>
          <p:cNvPr id="3" name="AutoShape 3"/>
          <p:cNvSpPr/>
          <p:nvPr/>
        </p:nvSpPr>
        <p:spPr>
          <a:xfrm>
            <a:off x="335498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5498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生成世界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75498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8101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图像生成</a:t>
            </a: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</a:p>
        </p:txBody>
      </p:sp>
      <p:sp>
        <p:nvSpPr>
          <p:cNvPr id="6" name="AutoShape 6"/>
          <p:cNvSpPr/>
          <p:nvPr/>
        </p:nvSpPr>
        <p:spPr>
          <a:xfrm>
            <a:off x="335361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5498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215498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495224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基于</a:t>
            </a:r>
            <a:r>
              <a:rPr lang="en-US" sz="7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的多视角图像生成服务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215224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8111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多视角</a:t>
            </a: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935224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基于参考图与</a:t>
            </a:r>
            <a:r>
              <a:rPr lang="en-US" sz="7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BEV</a:t>
            </a: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地图生成多视角图像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95087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935224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76000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56000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8121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UNet</a:t>
            </a:r>
            <a:r>
              <a:rPr lang="en-US" sz="10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扩散模型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375726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支持多视角交叉注意力机制的条件扩散</a:t>
            </a:r>
            <a:r>
              <a:rPr lang="en-US" sz="7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UNet</a:t>
            </a: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图像生成模型</a:t>
            </a:r>
            <a:r>
              <a:rPr lang="en-US" sz="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96000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8122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条件控制模型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655863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536000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16000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支持</a:t>
            </a:r>
            <a:r>
              <a:rPr lang="en-US" sz="7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BEV</a:t>
            </a: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条件控制，融合多视参数、</a:t>
            </a:r>
            <a:r>
              <a:rPr lang="en-US" sz="7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3D</a:t>
            </a: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框、位姿与地图，实现高一致图像生成。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535726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8131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BEV</a:t>
            </a: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条件嵌入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256000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将</a:t>
            </a:r>
            <a:r>
              <a:rPr lang="en-US" sz="7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BEV</a:t>
            </a: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语义地图编码为与扩散模型对齐的低维条件特征，支持高精度图像生成控制。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815863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6000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975452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8132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3D</a:t>
            </a: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框条件嵌入</a:t>
            </a:r>
          </a:p>
        </p:txBody>
      </p:sp>
      <p:sp>
        <p:nvSpPr>
          <p:cNvPr id="27" name="AutoShape 27"/>
          <p:cNvSpPr/>
          <p:nvPr/>
        </p:nvSpPr>
        <p:spPr>
          <a:xfrm>
            <a:off x="8975452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415452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695452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将归一化</a:t>
            </a:r>
            <a:r>
              <a:rPr lang="en-US" sz="7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3D</a:t>
            </a: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框与类别文本特征融合，生成语义联合嵌入，用于条件扩散生成。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415178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8151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时序多视融合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1135452" y="54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7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在扩散模型中联合建模多视角空间关系与帧间时序依赖，支持可控多视角视频生成。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695315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1135452" y="126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055635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四轮底盘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335361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83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55361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三指控制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775361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335224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84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1775361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3215361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2495087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215087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3935087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2494950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3935087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5375863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4655863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5375589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095863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4655726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6095863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7535863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6815863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7535589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8255863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6815726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8255863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8975315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8975315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10415315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1" name="AutoShape 61"/>
          <p:cNvSpPr/>
          <p:nvPr/>
        </p:nvSpPr>
        <p:spPr>
          <a:xfrm>
            <a:off x="9695315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10415041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11135315" y="198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9695178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11135315" y="270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1055498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多边产品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335224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1055224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五指控制</a:t>
            </a:r>
            <a:endParaRPr lang="en-US" sz="1100"/>
          </a:p>
        </p:txBody>
      </p:sp>
      <p:sp>
        <p:nvSpPr>
          <p:cNvPr id="69" name="AutoShape 69"/>
          <p:cNvSpPr/>
          <p:nvPr/>
        </p:nvSpPr>
        <p:spPr>
          <a:xfrm>
            <a:off x="1775224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0" name="AutoShape 70"/>
          <p:cNvSpPr/>
          <p:nvPr/>
        </p:nvSpPr>
        <p:spPr>
          <a:xfrm>
            <a:off x="335087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86</a:t>
            </a:r>
            <a:endParaRPr lang="en-US" sz="1100"/>
          </a:p>
        </p:txBody>
      </p:sp>
      <p:sp>
        <p:nvSpPr>
          <p:cNvPr id="71" name="AutoShape 71"/>
          <p:cNvSpPr/>
          <p:nvPr/>
        </p:nvSpPr>
        <p:spPr>
          <a:xfrm>
            <a:off x="1775224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2" name="AutoShape 72"/>
          <p:cNvSpPr/>
          <p:nvPr/>
        </p:nvSpPr>
        <p:spPr>
          <a:xfrm>
            <a:off x="3215224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3" name="AutoShape 73"/>
          <p:cNvSpPr/>
          <p:nvPr/>
        </p:nvSpPr>
        <p:spPr>
          <a:xfrm>
            <a:off x="2494950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4" name="AutoShape 74"/>
          <p:cNvSpPr/>
          <p:nvPr/>
        </p:nvSpPr>
        <p:spPr>
          <a:xfrm>
            <a:off x="3214950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5" name="AutoShape 75"/>
          <p:cNvSpPr/>
          <p:nvPr/>
        </p:nvSpPr>
        <p:spPr>
          <a:xfrm>
            <a:off x="3934950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6" name="AutoShape 76"/>
          <p:cNvSpPr/>
          <p:nvPr/>
        </p:nvSpPr>
        <p:spPr>
          <a:xfrm>
            <a:off x="2494813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7" name="AutoShape 77"/>
          <p:cNvSpPr/>
          <p:nvPr/>
        </p:nvSpPr>
        <p:spPr>
          <a:xfrm>
            <a:off x="3934950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8" name="AutoShape 78"/>
          <p:cNvSpPr/>
          <p:nvPr/>
        </p:nvSpPr>
        <p:spPr>
          <a:xfrm>
            <a:off x="5375726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9" name="AutoShape 79"/>
          <p:cNvSpPr/>
          <p:nvPr/>
        </p:nvSpPr>
        <p:spPr>
          <a:xfrm>
            <a:off x="4655726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0" name="AutoShape 80"/>
          <p:cNvSpPr/>
          <p:nvPr/>
        </p:nvSpPr>
        <p:spPr>
          <a:xfrm>
            <a:off x="5375452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1" name="AutoShape 81"/>
          <p:cNvSpPr/>
          <p:nvPr/>
        </p:nvSpPr>
        <p:spPr>
          <a:xfrm>
            <a:off x="6095726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2" name="AutoShape 82"/>
          <p:cNvSpPr/>
          <p:nvPr/>
        </p:nvSpPr>
        <p:spPr>
          <a:xfrm>
            <a:off x="4655589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3" name="AutoShape 83"/>
          <p:cNvSpPr/>
          <p:nvPr/>
        </p:nvSpPr>
        <p:spPr>
          <a:xfrm>
            <a:off x="6095726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4" name="AutoShape 84"/>
          <p:cNvSpPr/>
          <p:nvPr/>
        </p:nvSpPr>
        <p:spPr>
          <a:xfrm>
            <a:off x="7535726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5" name="AutoShape 85"/>
          <p:cNvSpPr/>
          <p:nvPr/>
        </p:nvSpPr>
        <p:spPr>
          <a:xfrm>
            <a:off x="6815726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6" name="AutoShape 86"/>
          <p:cNvSpPr/>
          <p:nvPr/>
        </p:nvSpPr>
        <p:spPr>
          <a:xfrm>
            <a:off x="7535452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7" name="AutoShape 87"/>
          <p:cNvSpPr/>
          <p:nvPr/>
        </p:nvSpPr>
        <p:spPr>
          <a:xfrm>
            <a:off x="8255726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8" name="AutoShape 88"/>
          <p:cNvSpPr/>
          <p:nvPr/>
        </p:nvSpPr>
        <p:spPr>
          <a:xfrm>
            <a:off x="6815589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9" name="AutoShape 89"/>
          <p:cNvSpPr/>
          <p:nvPr/>
        </p:nvSpPr>
        <p:spPr>
          <a:xfrm>
            <a:off x="8255726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0" name="AutoShape 90"/>
          <p:cNvSpPr/>
          <p:nvPr/>
        </p:nvSpPr>
        <p:spPr>
          <a:xfrm>
            <a:off x="8975178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1" name="AutoShape 91"/>
          <p:cNvSpPr/>
          <p:nvPr/>
        </p:nvSpPr>
        <p:spPr>
          <a:xfrm>
            <a:off x="8975178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2" name="AutoShape 92"/>
          <p:cNvSpPr/>
          <p:nvPr/>
        </p:nvSpPr>
        <p:spPr>
          <a:xfrm>
            <a:off x="10415178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3" name="AutoShape 93"/>
          <p:cNvSpPr/>
          <p:nvPr/>
        </p:nvSpPr>
        <p:spPr>
          <a:xfrm>
            <a:off x="9695178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4" name="AutoShape 94"/>
          <p:cNvSpPr/>
          <p:nvPr/>
        </p:nvSpPr>
        <p:spPr>
          <a:xfrm>
            <a:off x="10414904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5" name="AutoShape 95"/>
          <p:cNvSpPr/>
          <p:nvPr/>
        </p:nvSpPr>
        <p:spPr>
          <a:xfrm>
            <a:off x="11135178" y="342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6" name="AutoShape 96"/>
          <p:cNvSpPr/>
          <p:nvPr/>
        </p:nvSpPr>
        <p:spPr>
          <a:xfrm>
            <a:off x="9695041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7" name="AutoShape 97"/>
          <p:cNvSpPr/>
          <p:nvPr/>
        </p:nvSpPr>
        <p:spPr>
          <a:xfrm>
            <a:off x="11135178" y="414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8" name="AutoShape 98"/>
          <p:cNvSpPr/>
          <p:nvPr/>
        </p:nvSpPr>
        <p:spPr>
          <a:xfrm>
            <a:off x="1055361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记忆接口</a:t>
            </a:r>
            <a:endParaRPr lang="en-US" sz="1100"/>
          </a:p>
        </p:txBody>
      </p:sp>
      <p:sp>
        <p:nvSpPr>
          <p:cNvPr id="99" name="AutoShape 99"/>
          <p:cNvSpPr/>
          <p:nvPr/>
        </p:nvSpPr>
        <p:spPr>
          <a:xfrm>
            <a:off x="335087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87</a:t>
            </a:r>
            <a:endParaRPr lang="en-US" sz="1100"/>
          </a:p>
        </p:txBody>
      </p:sp>
      <p:sp>
        <p:nvSpPr>
          <p:cNvPr id="100" name="AutoShape 100"/>
          <p:cNvSpPr/>
          <p:nvPr/>
        </p:nvSpPr>
        <p:spPr>
          <a:xfrm>
            <a:off x="1055087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lang="en-US" sz="1100"/>
          </a:p>
        </p:txBody>
      </p:sp>
      <p:sp>
        <p:nvSpPr>
          <p:cNvPr id="101" name="AutoShape 101"/>
          <p:cNvSpPr/>
          <p:nvPr/>
        </p:nvSpPr>
        <p:spPr>
          <a:xfrm>
            <a:off x="1775086" y="4869000"/>
            <a:ext cx="739513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8701 </a:t>
            </a:r>
            <a:r>
              <a:rPr lang="en-US" sz="8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Commands</a:t>
            </a:r>
            <a:r>
              <a:rPr lang="en-US" sz="11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 dirty="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指令集</a:t>
            </a:r>
          </a:p>
        </p:txBody>
      </p:sp>
      <p:sp>
        <p:nvSpPr>
          <p:cNvPr id="102" name="AutoShape 102"/>
          <p:cNvSpPr/>
          <p:nvPr/>
        </p:nvSpPr>
        <p:spPr>
          <a:xfrm>
            <a:off x="334950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89</a:t>
            </a:r>
            <a:endParaRPr lang="en-US" sz="1100"/>
          </a:p>
        </p:txBody>
      </p:sp>
      <p:sp>
        <p:nvSpPr>
          <p:cNvPr id="103" name="AutoShape 103"/>
          <p:cNvSpPr/>
          <p:nvPr/>
        </p:nvSpPr>
        <p:spPr>
          <a:xfrm>
            <a:off x="1775087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4" name="AutoShape 104"/>
          <p:cNvSpPr/>
          <p:nvPr/>
        </p:nvSpPr>
        <p:spPr>
          <a:xfrm>
            <a:off x="3215087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5" name="AutoShape 105"/>
          <p:cNvSpPr/>
          <p:nvPr/>
        </p:nvSpPr>
        <p:spPr>
          <a:xfrm>
            <a:off x="2494813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标准化指令与协议</a:t>
            </a:r>
            <a:endParaRPr lang="en-US" sz="1100"/>
          </a:p>
        </p:txBody>
      </p:sp>
      <p:sp>
        <p:nvSpPr>
          <p:cNvPr id="106" name="AutoShape 106"/>
          <p:cNvSpPr/>
          <p:nvPr/>
        </p:nvSpPr>
        <p:spPr>
          <a:xfrm>
            <a:off x="3214813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000000"/>
                </a:solidFill>
                <a:latin typeface="ui-sans-serif"/>
                <a:ea typeface="ui-sans-serif"/>
                <a:cs typeface="ui-sans-serif"/>
                <a:sym typeface="ui-sans-serif"/>
              </a:rPr>
              <a:t>8711 Gateway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ui-sans-serif"/>
                <a:ea typeface="ui-sans-serif"/>
                <a:cs typeface="ui-sans-serif"/>
                <a:sym typeface="ui-sans-serif"/>
              </a:rPr>
              <a:t>Loop 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总网关</a:t>
            </a:r>
          </a:p>
        </p:txBody>
      </p:sp>
      <p:sp>
        <p:nvSpPr>
          <p:cNvPr id="107" name="AutoShape 107"/>
          <p:cNvSpPr/>
          <p:nvPr/>
        </p:nvSpPr>
        <p:spPr>
          <a:xfrm>
            <a:off x="3934813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事件循环系统服务</a:t>
            </a:r>
            <a:endParaRPr lang="en-US" sz="1100"/>
          </a:p>
        </p:txBody>
      </p:sp>
      <p:sp>
        <p:nvSpPr>
          <p:cNvPr id="108" name="AutoShape 108"/>
          <p:cNvSpPr/>
          <p:nvPr/>
        </p:nvSpPr>
        <p:spPr>
          <a:xfrm>
            <a:off x="2494676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9" name="AutoShape 109"/>
          <p:cNvSpPr/>
          <p:nvPr/>
        </p:nvSpPr>
        <p:spPr>
          <a:xfrm>
            <a:off x="3934813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0" name="AutoShape 110"/>
          <p:cNvSpPr/>
          <p:nvPr/>
        </p:nvSpPr>
        <p:spPr>
          <a:xfrm>
            <a:off x="5375589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1" name="AutoShape 111"/>
          <p:cNvSpPr/>
          <p:nvPr/>
        </p:nvSpPr>
        <p:spPr>
          <a:xfrm>
            <a:off x="4655589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ui-sans-serif"/>
                <a:ea typeface="ui-sans-serif"/>
                <a:cs typeface="ui-sans-serif"/>
                <a:sym typeface="ui-sans-serif"/>
              </a:rPr>
              <a:t>8721 Memory </a:t>
            </a: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记忆</a:t>
            </a:r>
            <a:endParaRPr lang="en-US" sz="1100"/>
          </a:p>
        </p:txBody>
      </p:sp>
      <p:sp>
        <p:nvSpPr>
          <p:cNvPr id="112" name="AutoShape 112"/>
          <p:cNvSpPr/>
          <p:nvPr/>
        </p:nvSpPr>
        <p:spPr>
          <a:xfrm>
            <a:off x="5375315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长期记忆与短期上下文</a:t>
            </a:r>
            <a:endParaRPr lang="en-US" sz="1100"/>
          </a:p>
        </p:txBody>
      </p:sp>
      <p:sp>
        <p:nvSpPr>
          <p:cNvPr id="113" name="AutoShape 113"/>
          <p:cNvSpPr/>
          <p:nvPr/>
        </p:nvSpPr>
        <p:spPr>
          <a:xfrm>
            <a:off x="6095589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ui-sans-serif"/>
                <a:ea typeface="ui-sans-serif"/>
                <a:cs typeface="ui-sans-serif"/>
                <a:sym typeface="ui-sans-serif"/>
              </a:rPr>
              <a:t>8722 Session </a:t>
            </a: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场景</a:t>
            </a:r>
            <a:endParaRPr lang="en-US" sz="1100"/>
          </a:p>
        </p:txBody>
      </p:sp>
      <p:sp>
        <p:nvSpPr>
          <p:cNvPr id="114" name="AutoShape 114"/>
          <p:cNvSpPr/>
          <p:nvPr/>
        </p:nvSpPr>
        <p:spPr>
          <a:xfrm>
            <a:off x="4655452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5" name="AutoShape 115"/>
          <p:cNvSpPr/>
          <p:nvPr/>
        </p:nvSpPr>
        <p:spPr>
          <a:xfrm>
            <a:off x="6095589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6" name="AutoShape 116"/>
          <p:cNvSpPr/>
          <p:nvPr/>
        </p:nvSpPr>
        <p:spPr>
          <a:xfrm>
            <a:off x="7535589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7" name="AutoShape 117"/>
          <p:cNvSpPr/>
          <p:nvPr/>
        </p:nvSpPr>
        <p:spPr>
          <a:xfrm>
            <a:off x="6815589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多轮任务的生命周期</a:t>
            </a:r>
            <a:endParaRPr lang="en-US" sz="1100"/>
          </a:p>
        </p:txBody>
      </p:sp>
      <p:sp>
        <p:nvSpPr>
          <p:cNvPr id="118" name="AutoShape 118"/>
          <p:cNvSpPr/>
          <p:nvPr/>
        </p:nvSpPr>
        <p:spPr>
          <a:xfrm>
            <a:off x="7535315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ui-sans-serif"/>
                <a:ea typeface="ui-sans-serif"/>
                <a:cs typeface="ui-sans-serif"/>
                <a:sym typeface="ui-sans-serif"/>
              </a:rPr>
              <a:t>8733 PI_model</a:t>
            </a:r>
            <a:endParaRPr lang="en-US" sz="1100"/>
          </a:p>
        </p:txBody>
      </p:sp>
      <p:sp>
        <p:nvSpPr>
          <p:cNvPr id="119" name="AutoShape 119"/>
          <p:cNvSpPr/>
          <p:nvPr/>
        </p:nvSpPr>
        <p:spPr>
          <a:xfrm>
            <a:off x="8255589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ui-sans-serif"/>
                <a:ea typeface="ui-sans-serif"/>
                <a:cs typeface="ui-sans-serif"/>
                <a:sym typeface="ui-sans-serif"/>
              </a:rPr>
              <a:t>AI</a:t>
            </a: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模型能力单元</a:t>
            </a:r>
            <a:endParaRPr lang="en-US" sz="1100"/>
          </a:p>
        </p:txBody>
      </p:sp>
      <p:sp>
        <p:nvSpPr>
          <p:cNvPr id="120" name="AutoShape 120"/>
          <p:cNvSpPr/>
          <p:nvPr/>
        </p:nvSpPr>
        <p:spPr>
          <a:xfrm>
            <a:off x="6815452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1" name="AutoShape 121"/>
          <p:cNvSpPr/>
          <p:nvPr/>
        </p:nvSpPr>
        <p:spPr>
          <a:xfrm>
            <a:off x="8255589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2" name="AutoShape 122"/>
          <p:cNvSpPr/>
          <p:nvPr/>
        </p:nvSpPr>
        <p:spPr>
          <a:xfrm>
            <a:off x="8975041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ui-sans-serif"/>
                <a:ea typeface="ui-sans-serif"/>
                <a:cs typeface="ui-sans-serif"/>
                <a:sym typeface="ui-sans-serif"/>
              </a:rPr>
              <a:t>8761 Skill </a:t>
            </a: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技能库</a:t>
            </a:r>
            <a:endParaRPr lang="en-US" sz="1100"/>
          </a:p>
        </p:txBody>
      </p:sp>
      <p:sp>
        <p:nvSpPr>
          <p:cNvPr id="123" name="AutoShape 123"/>
          <p:cNvSpPr/>
          <p:nvPr/>
        </p:nvSpPr>
        <p:spPr>
          <a:xfrm>
            <a:off x="8975041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4" name="AutoShape 124"/>
          <p:cNvSpPr/>
          <p:nvPr/>
        </p:nvSpPr>
        <p:spPr>
          <a:xfrm>
            <a:off x="10415041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5" name="AutoShape 125"/>
          <p:cNvSpPr/>
          <p:nvPr/>
        </p:nvSpPr>
        <p:spPr>
          <a:xfrm>
            <a:off x="9695041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可扩展技能库</a:t>
            </a:r>
            <a:endParaRPr lang="en-US" sz="1100"/>
          </a:p>
        </p:txBody>
      </p:sp>
      <p:sp>
        <p:nvSpPr>
          <p:cNvPr id="126" name="AutoShape 126"/>
          <p:cNvSpPr/>
          <p:nvPr/>
        </p:nvSpPr>
        <p:spPr>
          <a:xfrm>
            <a:off x="10414767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ui-sans-serif"/>
                <a:ea typeface="ui-sans-serif"/>
                <a:cs typeface="ui-sans-serif"/>
                <a:sym typeface="ui-sans-serif"/>
              </a:rPr>
              <a:t>8771 Channels </a:t>
            </a: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通道</a:t>
            </a:r>
            <a:endParaRPr lang="en-US" sz="1100"/>
          </a:p>
        </p:txBody>
      </p:sp>
      <p:sp>
        <p:nvSpPr>
          <p:cNvPr id="127" name="AutoShape 127"/>
          <p:cNvSpPr/>
          <p:nvPr/>
        </p:nvSpPr>
        <p:spPr>
          <a:xfrm>
            <a:off x="11135041" y="4869000"/>
            <a:ext cx="720000" cy="720000"/>
          </a:xfrm>
          <a:prstGeom prst="rect">
            <a:avLst/>
          </a:prstGeom>
          <a:solidFill>
            <a:srgbClr val="F2F2F2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多模态数据传输与协议适配</a:t>
            </a:r>
            <a:endParaRPr lang="en-US" sz="1100"/>
          </a:p>
        </p:txBody>
      </p:sp>
      <p:sp>
        <p:nvSpPr>
          <p:cNvPr id="128" name="AutoShape 128"/>
          <p:cNvSpPr/>
          <p:nvPr/>
        </p:nvSpPr>
        <p:spPr>
          <a:xfrm>
            <a:off x="9694904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9" name="AutoShape 129"/>
          <p:cNvSpPr/>
          <p:nvPr/>
        </p:nvSpPr>
        <p:spPr>
          <a:xfrm>
            <a:off x="11135041" y="5589000"/>
            <a:ext cx="720000" cy="7200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0" name="AutoShape 130"/>
          <p:cNvSpPr/>
          <p:nvPr/>
        </p:nvSpPr>
        <p:spPr>
          <a:xfrm>
            <a:off x="344643" y="6309000"/>
            <a:ext cx="11403357" cy="3231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1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图例：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功能区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8X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类别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81X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层级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811X.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原子功能  </a:t>
            </a:r>
            <a:endParaRPr lang="en-US" sz="1100"/>
          </a:p>
        </p:txBody>
      </p:sp>
      <p:sp>
        <p:nvSpPr>
          <p:cNvPr id="131" name="AutoShape 131"/>
          <p:cNvSpPr/>
          <p:nvPr/>
        </p:nvSpPr>
        <p:spPr>
          <a:xfrm>
            <a:off x="333138" y="118973"/>
            <a:ext cx="10515600" cy="363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功能库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1666"/>
              </a:lnSpc>
              <a:defRPr sz="2700" b="1" i="0" u="none" strike="noStrike" spc="0">
                <a:solidFill>
                  <a:srgbClr val="00206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700" b="1" i="0" u="none" strike="noStrike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图生图实例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269000"/>
            <a:ext cx="12192000" cy="528466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316015" y="729000"/>
            <a:ext cx="11700000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工作流运行在</a:t>
            </a: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RunningHub</a:t>
            </a: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或自建服务平台上，采用</a:t>
            </a: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ComfyUI</a:t>
            </a: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开源框架和</a:t>
            </a: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Nvidia Cosmos Predict 2.5</a:t>
            </a:r>
            <a:r>
              <a:rPr lang="en-US" sz="18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模型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16000" y="2349000"/>
            <a:ext cx="4105848" cy="400105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55772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35498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5498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75498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35361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5498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215498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495224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215224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935224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95087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935224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76000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56000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375726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96000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55863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536000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16000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535726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6000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815863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6000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975452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975452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415452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695452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415178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1135452" y="5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695315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1135452" y="12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055635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335361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55361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775361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335224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1775361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3215361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2495087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215087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3935087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2494950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3935087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5375863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4655863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5375589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095863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4655726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6095863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7535863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6815863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7535589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8255863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6815726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8255863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8975315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8975315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10415315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1" name="AutoShape 61"/>
          <p:cNvSpPr/>
          <p:nvPr/>
        </p:nvSpPr>
        <p:spPr>
          <a:xfrm>
            <a:off x="9695315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10415041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11135315" y="19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9695178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11135315" y="270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1055498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335224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1055224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9" name="AutoShape 69"/>
          <p:cNvSpPr/>
          <p:nvPr/>
        </p:nvSpPr>
        <p:spPr>
          <a:xfrm>
            <a:off x="1775224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0" name="AutoShape 70"/>
          <p:cNvSpPr/>
          <p:nvPr/>
        </p:nvSpPr>
        <p:spPr>
          <a:xfrm>
            <a:off x="335087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1" name="AutoShape 71"/>
          <p:cNvSpPr/>
          <p:nvPr/>
        </p:nvSpPr>
        <p:spPr>
          <a:xfrm>
            <a:off x="1775224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2" name="AutoShape 72"/>
          <p:cNvSpPr/>
          <p:nvPr/>
        </p:nvSpPr>
        <p:spPr>
          <a:xfrm>
            <a:off x="3215224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3" name="AutoShape 73"/>
          <p:cNvSpPr/>
          <p:nvPr/>
        </p:nvSpPr>
        <p:spPr>
          <a:xfrm>
            <a:off x="2494950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4" name="AutoShape 74"/>
          <p:cNvSpPr/>
          <p:nvPr/>
        </p:nvSpPr>
        <p:spPr>
          <a:xfrm>
            <a:off x="3214950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5" name="AutoShape 75"/>
          <p:cNvSpPr/>
          <p:nvPr/>
        </p:nvSpPr>
        <p:spPr>
          <a:xfrm>
            <a:off x="3934950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6" name="AutoShape 76"/>
          <p:cNvSpPr/>
          <p:nvPr/>
        </p:nvSpPr>
        <p:spPr>
          <a:xfrm>
            <a:off x="2494813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7" name="AutoShape 77"/>
          <p:cNvSpPr/>
          <p:nvPr/>
        </p:nvSpPr>
        <p:spPr>
          <a:xfrm>
            <a:off x="3934950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8" name="AutoShape 78"/>
          <p:cNvSpPr/>
          <p:nvPr/>
        </p:nvSpPr>
        <p:spPr>
          <a:xfrm>
            <a:off x="5375726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9" name="AutoShape 79"/>
          <p:cNvSpPr/>
          <p:nvPr/>
        </p:nvSpPr>
        <p:spPr>
          <a:xfrm>
            <a:off x="4655726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0" name="AutoShape 80"/>
          <p:cNvSpPr/>
          <p:nvPr/>
        </p:nvSpPr>
        <p:spPr>
          <a:xfrm>
            <a:off x="5375452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1" name="AutoShape 81"/>
          <p:cNvSpPr/>
          <p:nvPr/>
        </p:nvSpPr>
        <p:spPr>
          <a:xfrm>
            <a:off x="6095726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2" name="AutoShape 82"/>
          <p:cNvSpPr/>
          <p:nvPr/>
        </p:nvSpPr>
        <p:spPr>
          <a:xfrm>
            <a:off x="4655589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3" name="AutoShape 83"/>
          <p:cNvSpPr/>
          <p:nvPr/>
        </p:nvSpPr>
        <p:spPr>
          <a:xfrm>
            <a:off x="6095726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4" name="AutoShape 84"/>
          <p:cNvSpPr/>
          <p:nvPr/>
        </p:nvSpPr>
        <p:spPr>
          <a:xfrm>
            <a:off x="7535726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5" name="AutoShape 85"/>
          <p:cNvSpPr/>
          <p:nvPr/>
        </p:nvSpPr>
        <p:spPr>
          <a:xfrm>
            <a:off x="6815726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6" name="AutoShape 86"/>
          <p:cNvSpPr/>
          <p:nvPr/>
        </p:nvSpPr>
        <p:spPr>
          <a:xfrm>
            <a:off x="7535452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7" name="AutoShape 87"/>
          <p:cNvSpPr/>
          <p:nvPr/>
        </p:nvSpPr>
        <p:spPr>
          <a:xfrm>
            <a:off x="8255726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8" name="AutoShape 88"/>
          <p:cNvSpPr/>
          <p:nvPr/>
        </p:nvSpPr>
        <p:spPr>
          <a:xfrm>
            <a:off x="6815589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9" name="AutoShape 89"/>
          <p:cNvSpPr/>
          <p:nvPr/>
        </p:nvSpPr>
        <p:spPr>
          <a:xfrm>
            <a:off x="8255726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0" name="AutoShape 90"/>
          <p:cNvSpPr/>
          <p:nvPr/>
        </p:nvSpPr>
        <p:spPr>
          <a:xfrm>
            <a:off x="8975178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1" name="AutoShape 91"/>
          <p:cNvSpPr/>
          <p:nvPr/>
        </p:nvSpPr>
        <p:spPr>
          <a:xfrm>
            <a:off x="8975178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2" name="AutoShape 92"/>
          <p:cNvSpPr/>
          <p:nvPr/>
        </p:nvSpPr>
        <p:spPr>
          <a:xfrm>
            <a:off x="10415178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3" name="AutoShape 93"/>
          <p:cNvSpPr/>
          <p:nvPr/>
        </p:nvSpPr>
        <p:spPr>
          <a:xfrm>
            <a:off x="9695178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4" name="AutoShape 94"/>
          <p:cNvSpPr/>
          <p:nvPr/>
        </p:nvSpPr>
        <p:spPr>
          <a:xfrm>
            <a:off x="10414904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5" name="AutoShape 95"/>
          <p:cNvSpPr/>
          <p:nvPr/>
        </p:nvSpPr>
        <p:spPr>
          <a:xfrm>
            <a:off x="11135178" y="342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6" name="AutoShape 96"/>
          <p:cNvSpPr/>
          <p:nvPr/>
        </p:nvSpPr>
        <p:spPr>
          <a:xfrm>
            <a:off x="9695041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7" name="AutoShape 97"/>
          <p:cNvSpPr/>
          <p:nvPr/>
        </p:nvSpPr>
        <p:spPr>
          <a:xfrm>
            <a:off x="11135178" y="414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8" name="AutoShape 98"/>
          <p:cNvSpPr/>
          <p:nvPr/>
        </p:nvSpPr>
        <p:spPr>
          <a:xfrm>
            <a:off x="1055361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9" name="AutoShape 99"/>
          <p:cNvSpPr/>
          <p:nvPr/>
        </p:nvSpPr>
        <p:spPr>
          <a:xfrm>
            <a:off x="335087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0" name="AutoShape 100"/>
          <p:cNvSpPr/>
          <p:nvPr/>
        </p:nvSpPr>
        <p:spPr>
          <a:xfrm>
            <a:off x="1055087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1" name="AutoShape 101"/>
          <p:cNvSpPr/>
          <p:nvPr/>
        </p:nvSpPr>
        <p:spPr>
          <a:xfrm>
            <a:off x="1775087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2" name="AutoShape 102"/>
          <p:cNvSpPr/>
          <p:nvPr/>
        </p:nvSpPr>
        <p:spPr>
          <a:xfrm>
            <a:off x="334950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3" name="AutoShape 103"/>
          <p:cNvSpPr/>
          <p:nvPr/>
        </p:nvSpPr>
        <p:spPr>
          <a:xfrm>
            <a:off x="1775087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4" name="AutoShape 104"/>
          <p:cNvSpPr/>
          <p:nvPr/>
        </p:nvSpPr>
        <p:spPr>
          <a:xfrm>
            <a:off x="3215087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5" name="AutoShape 105"/>
          <p:cNvSpPr/>
          <p:nvPr/>
        </p:nvSpPr>
        <p:spPr>
          <a:xfrm>
            <a:off x="2494813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6" name="AutoShape 106"/>
          <p:cNvSpPr/>
          <p:nvPr/>
        </p:nvSpPr>
        <p:spPr>
          <a:xfrm>
            <a:off x="3214813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7" name="AutoShape 107"/>
          <p:cNvSpPr/>
          <p:nvPr/>
        </p:nvSpPr>
        <p:spPr>
          <a:xfrm>
            <a:off x="3934813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8" name="AutoShape 108"/>
          <p:cNvSpPr/>
          <p:nvPr/>
        </p:nvSpPr>
        <p:spPr>
          <a:xfrm>
            <a:off x="2494676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9" name="AutoShape 109"/>
          <p:cNvSpPr/>
          <p:nvPr/>
        </p:nvSpPr>
        <p:spPr>
          <a:xfrm>
            <a:off x="3934813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0" name="AutoShape 110"/>
          <p:cNvSpPr/>
          <p:nvPr/>
        </p:nvSpPr>
        <p:spPr>
          <a:xfrm>
            <a:off x="5375589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1" name="AutoShape 111"/>
          <p:cNvSpPr/>
          <p:nvPr/>
        </p:nvSpPr>
        <p:spPr>
          <a:xfrm>
            <a:off x="4655589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2" name="AutoShape 112"/>
          <p:cNvSpPr/>
          <p:nvPr/>
        </p:nvSpPr>
        <p:spPr>
          <a:xfrm>
            <a:off x="5375315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3" name="AutoShape 113"/>
          <p:cNvSpPr/>
          <p:nvPr/>
        </p:nvSpPr>
        <p:spPr>
          <a:xfrm>
            <a:off x="6095589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4" name="AutoShape 114"/>
          <p:cNvSpPr/>
          <p:nvPr/>
        </p:nvSpPr>
        <p:spPr>
          <a:xfrm>
            <a:off x="4655452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5" name="AutoShape 115"/>
          <p:cNvSpPr/>
          <p:nvPr/>
        </p:nvSpPr>
        <p:spPr>
          <a:xfrm>
            <a:off x="6095589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6" name="AutoShape 116"/>
          <p:cNvSpPr/>
          <p:nvPr/>
        </p:nvSpPr>
        <p:spPr>
          <a:xfrm>
            <a:off x="7535589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7" name="AutoShape 117"/>
          <p:cNvSpPr/>
          <p:nvPr/>
        </p:nvSpPr>
        <p:spPr>
          <a:xfrm>
            <a:off x="6815589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8" name="AutoShape 118"/>
          <p:cNvSpPr/>
          <p:nvPr/>
        </p:nvSpPr>
        <p:spPr>
          <a:xfrm>
            <a:off x="7535315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9" name="AutoShape 119"/>
          <p:cNvSpPr/>
          <p:nvPr/>
        </p:nvSpPr>
        <p:spPr>
          <a:xfrm>
            <a:off x="8255589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0" name="AutoShape 120"/>
          <p:cNvSpPr/>
          <p:nvPr/>
        </p:nvSpPr>
        <p:spPr>
          <a:xfrm>
            <a:off x="6815452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1" name="AutoShape 121"/>
          <p:cNvSpPr/>
          <p:nvPr/>
        </p:nvSpPr>
        <p:spPr>
          <a:xfrm>
            <a:off x="8255589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2" name="AutoShape 122"/>
          <p:cNvSpPr/>
          <p:nvPr/>
        </p:nvSpPr>
        <p:spPr>
          <a:xfrm>
            <a:off x="8975041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3" name="AutoShape 123"/>
          <p:cNvSpPr/>
          <p:nvPr/>
        </p:nvSpPr>
        <p:spPr>
          <a:xfrm>
            <a:off x="8975041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4" name="AutoShape 124"/>
          <p:cNvSpPr/>
          <p:nvPr/>
        </p:nvSpPr>
        <p:spPr>
          <a:xfrm>
            <a:off x="10415041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5" name="AutoShape 125"/>
          <p:cNvSpPr/>
          <p:nvPr/>
        </p:nvSpPr>
        <p:spPr>
          <a:xfrm>
            <a:off x="9695041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6" name="AutoShape 126"/>
          <p:cNvSpPr/>
          <p:nvPr/>
        </p:nvSpPr>
        <p:spPr>
          <a:xfrm>
            <a:off x="10414767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7" name="AutoShape 127"/>
          <p:cNvSpPr/>
          <p:nvPr/>
        </p:nvSpPr>
        <p:spPr>
          <a:xfrm>
            <a:off x="11135041" y="486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8" name="AutoShape 128"/>
          <p:cNvSpPr/>
          <p:nvPr/>
        </p:nvSpPr>
        <p:spPr>
          <a:xfrm>
            <a:off x="9694904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9" name="AutoShape 129"/>
          <p:cNvSpPr/>
          <p:nvPr/>
        </p:nvSpPr>
        <p:spPr>
          <a:xfrm>
            <a:off x="11135041" y="5589000"/>
            <a:ext cx="720000" cy="720000"/>
          </a:xfrm>
          <a:prstGeom prst="rect">
            <a:avLst/>
          </a:prstGeom>
          <a:noFill/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99592" y="1098382"/>
            <a:ext cx="3449411" cy="5116684"/>
          </a:xfrm>
          <a:prstGeom prst="rect">
            <a:avLst/>
          </a:prstGeom>
          <a:solidFill>
            <a:srgbClr val="DAE3F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589645" y="3945158"/>
            <a:ext cx="3449411" cy="2279329"/>
          </a:xfrm>
          <a:prstGeom prst="rect">
            <a:avLst/>
          </a:prstGeom>
          <a:solidFill>
            <a:srgbClr val="B4C7E7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1277185" y="4385648"/>
            <a:ext cx="2514945" cy="0"/>
          </a:xfrm>
          <a:prstGeom prst="line">
            <a:avLst/>
          </a:prstGeom>
          <a:noFill/>
          <a:ln w="12700" cap="flat">
            <a:solidFill>
              <a:srgbClr val="808080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415158" y="723278"/>
            <a:ext cx="6765679" cy="3925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51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岚图-睿驰联合研发实绩介绍-核心目标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23943" y="1911146"/>
            <a:ext cx="1023751" cy="1023751"/>
          </a:xfrm>
          <a:prstGeom prst="rect">
            <a:avLst/>
          </a:prstGeom>
          <a:solidFill>
            <a:srgbClr val="E34DBF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感知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975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agent</a:t>
            </a:r>
          </a:p>
        </p:txBody>
      </p:sp>
      <p:sp>
        <p:nvSpPr>
          <p:cNvPr id="7" name="AutoShape 7"/>
          <p:cNvSpPr/>
          <p:nvPr/>
        </p:nvSpPr>
        <p:spPr>
          <a:xfrm>
            <a:off x="7722999" y="1385498"/>
            <a:ext cx="2926488" cy="25951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系统定义与规划</a:t>
            </a: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 明确自主系统的整体架构，设定全局目标与性能指标。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综合集成</a:t>
            </a: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 规划异构硬件和系统软件的集成策略，确保各组件高效协同工作。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安全与信任</a:t>
            </a: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  定义系统的安全性和可靠性要求，包括故障检测、隔离和恢复机制。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923944" y="2934895"/>
            <a:ext cx="2047499" cy="1462500"/>
          </a:xfrm>
          <a:prstGeom prst="rect">
            <a:avLst/>
          </a:prstGeom>
          <a:solidFill>
            <a:srgbClr val="A9D18E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endParaRPr lang="en-US" sz="1700"/>
          </a:p>
          <a:p>
            <a:pPr marL="0" indent="0" algn="ctr">
              <a:lnSpc>
                <a:spcPct val="100000"/>
              </a:lnSpc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数据处理</a:t>
            </a:r>
          </a:p>
        </p:txBody>
      </p:sp>
      <p:sp>
        <p:nvSpPr>
          <p:cNvPr id="9" name="AutoShape 9"/>
          <p:cNvSpPr/>
          <p:nvPr/>
        </p:nvSpPr>
        <p:spPr>
          <a:xfrm>
            <a:off x="3923944" y="4397395"/>
            <a:ext cx="3509995" cy="731251"/>
          </a:xfrm>
          <a:prstGeom prst="rect">
            <a:avLst/>
          </a:prstGeom>
          <a:solidFill>
            <a:srgbClr val="9DC3E6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分布式计算系统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923935" y="5128646"/>
            <a:ext cx="3510000" cy="292500"/>
          </a:xfrm>
          <a:prstGeom prst="rect">
            <a:avLst/>
          </a:prstGeom>
          <a:solidFill>
            <a:srgbClr val="3B3838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18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异构硬件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947694" y="1911146"/>
            <a:ext cx="1023751" cy="1023751"/>
          </a:xfrm>
          <a:prstGeom prst="rect">
            <a:avLst/>
          </a:prstGeom>
          <a:solidFill>
            <a:srgbClr val="ED7D31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决策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975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agent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971443" y="1911145"/>
            <a:ext cx="1462500" cy="585000"/>
          </a:xfrm>
          <a:prstGeom prst="rect">
            <a:avLst/>
          </a:prstGeom>
          <a:solidFill>
            <a:srgbClr val="70AD47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安全控制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>
            <a:off x="3923943" y="1785323"/>
            <a:ext cx="3510000" cy="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>
            <a:off x="3792129" y="1911145"/>
            <a:ext cx="0" cy="351000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5971443" y="2496146"/>
            <a:ext cx="1462500" cy="438751"/>
          </a:xfrm>
          <a:prstGeom prst="rect">
            <a:avLst/>
          </a:prstGeom>
          <a:solidFill>
            <a:srgbClr val="BF9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保障与恢复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71442" y="2934895"/>
            <a:ext cx="1462500" cy="1462500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endParaRPr lang="en-US" sz="1700"/>
          </a:p>
          <a:p>
            <a:pPr marL="0" indent="0" algn="ctr">
              <a:lnSpc>
                <a:spcPct val="100000"/>
              </a:lnSpc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智能管理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405339" y="3266841"/>
            <a:ext cx="204751" cy="8775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63942" y="3162259"/>
            <a:ext cx="877500" cy="292500"/>
          </a:xfrm>
          <a:prstGeom prst="rect">
            <a:avLst/>
          </a:prstGeom>
          <a:solidFill>
            <a:srgbClr val="E34DBF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lg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75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知识库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60444" y="3208335"/>
            <a:ext cx="2325275" cy="175155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0" name="AutoShape 20"/>
          <p:cNvSpPr/>
          <p:nvPr/>
        </p:nvSpPr>
        <p:spPr>
          <a:xfrm>
            <a:off x="5073370" y="1195258"/>
            <a:ext cx="1589829" cy="542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463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自动驾驶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63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自主系统技术栈</a:t>
            </a:r>
          </a:p>
        </p:txBody>
      </p:sp>
      <p:sp>
        <p:nvSpPr>
          <p:cNvPr id="21" name="AutoShape 21"/>
          <p:cNvSpPr/>
          <p:nvPr/>
        </p:nvSpPr>
        <p:spPr>
          <a:xfrm>
            <a:off x="2350918" y="5040570"/>
            <a:ext cx="367479" cy="176153"/>
          </a:xfrm>
          <a:prstGeom prst="downArrow">
            <a:avLst>
              <a:gd name="adj1" fmla="val 50000"/>
              <a:gd name="adj2" fmla="val 50000"/>
            </a:avLst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 rot="10800000">
            <a:off x="2321039" y="3042626"/>
            <a:ext cx="367479" cy="176153"/>
          </a:xfrm>
          <a:prstGeom prst="downArrow">
            <a:avLst>
              <a:gd name="adj1" fmla="val 50000"/>
              <a:gd name="adj2" fmla="val 50000"/>
            </a:avLst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706014" y="3266841"/>
            <a:ext cx="204751" cy="8775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006687" y="3266841"/>
            <a:ext cx="204751" cy="8775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307362" y="3266841"/>
            <a:ext cx="204751" cy="8775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608034" y="3266841"/>
            <a:ext cx="204751" cy="8775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>
            <a:off x="4507715" y="2851079"/>
            <a:ext cx="0" cy="29250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8" name="Connector 28"/>
          <p:cNvCxnSpPr/>
          <p:nvPr/>
        </p:nvCxnSpPr>
        <p:spPr>
          <a:xfrm>
            <a:off x="5423187" y="2851079"/>
            <a:ext cx="0" cy="29250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4322503" y="3066644"/>
            <a:ext cx="2925000" cy="497251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1F4E79">
                <a:alpha val="100000"/>
              </a:srgbClr>
            </a:solidFill>
            <a:prstDash val="lg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10800000" flipV="1">
            <a:off x="5898522" y="3315335"/>
            <a:ext cx="292500" cy="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1548060" y="1497181"/>
            <a:ext cx="2137659" cy="3174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63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【自主系统】 </a:t>
            </a:r>
            <a:r>
              <a:rPr lang="en-US" sz="1218" b="1" i="1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设计与集成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415159" y="5228324"/>
            <a:ext cx="2125511" cy="505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63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【算法软件】 </a:t>
            </a:r>
            <a:r>
              <a:rPr lang="en-US" sz="1218" b="1" i="1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开发与部署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708829" y="1780128"/>
            <a:ext cx="1957571" cy="11848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>
            <a:lvl1pPr marL="384556" indent="-152400"/>
            <a:lvl2pPr marL="841756" indent="-152400"/>
            <a:lvl3pPr marL="1298956" indent="-152400"/>
            <a:lvl4pPr marL="1756156" indent="-152400"/>
            <a:lvl5pPr marL="2213356" indent="-152400"/>
            <a:lvl6pPr marL="2670556" indent="-152400"/>
            <a:lvl7pPr marL="3127756" indent="-152400"/>
            <a:lvl8pPr marL="3584956" indent="-152400"/>
            <a:lvl9pPr marL="4042156" indent="-152400"/>
          </a:lstStyle>
          <a:p>
            <a:pPr marL="232156" indent="-232156" algn="l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系统定义与规划</a:t>
            </a:r>
            <a:endParaRPr lang="en-US" sz="1100"/>
          </a:p>
          <a:p>
            <a:pPr marL="232156" indent="-232156" algn="l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综合集成</a:t>
            </a:r>
          </a:p>
          <a:p>
            <a:pPr marL="232156" indent="-232156" algn="l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安全要求</a:t>
            </a:r>
          </a:p>
          <a:p>
            <a:pPr marL="232156" indent="-232156" algn="l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保障与恢复机制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708828" y="5514818"/>
            <a:ext cx="1957571" cy="6220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>
            <a:lvl1pPr marL="384556" indent="-152400"/>
            <a:lvl2pPr marL="841756" indent="-152400"/>
            <a:lvl3pPr marL="1298956" indent="-152400"/>
            <a:lvl4pPr marL="1756156" indent="-152400"/>
            <a:lvl5pPr marL="2213356" indent="-152400"/>
            <a:lvl6pPr marL="2670556" indent="-152400"/>
            <a:lvl7pPr marL="3127756" indent="-152400"/>
            <a:lvl8pPr marL="3584956" indent="-152400"/>
            <a:lvl9pPr marL="4042156" indent="-152400"/>
          </a:lstStyle>
          <a:p>
            <a:pPr marL="232156" indent="-232156" algn="l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算法逻辑</a:t>
            </a:r>
            <a:endParaRPr lang="en-US" sz="1100"/>
          </a:p>
          <a:p>
            <a:pPr marL="232156" indent="-232156" algn="l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软件工程</a:t>
            </a:r>
          </a:p>
        </p:txBody>
      </p:sp>
      <p:sp>
        <p:nvSpPr>
          <p:cNvPr id="35" name="AutoShape 35"/>
          <p:cNvSpPr/>
          <p:nvPr/>
        </p:nvSpPr>
        <p:spPr>
          <a:xfrm>
            <a:off x="7720497" y="4222738"/>
            <a:ext cx="3173695" cy="231056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模型代理开发：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 基于面向模型的agent，开发端到端的两阶段模型。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特征数据处理：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开发面向feature特征数据流的数据处理模块。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智能管理系统：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建设知识库和模型库管理系统。</a:t>
            </a:r>
          </a:p>
        </p:txBody>
      </p:sp>
      <p:sp>
        <p:nvSpPr>
          <p:cNvPr id="36" name="AutoShape 36"/>
          <p:cNvSpPr/>
          <p:nvPr/>
        </p:nvSpPr>
        <p:spPr>
          <a:xfrm>
            <a:off x="8369675" y="1157746"/>
            <a:ext cx="2137659" cy="3174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63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【岚图核心目标】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298917" y="3945158"/>
            <a:ext cx="2137659" cy="3174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63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【睿驰核心目标】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15158" y="723278"/>
            <a:ext cx="6765679" cy="3925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51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岚图-睿驰联合研发实绩介绍-实施方案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923943" y="1911146"/>
            <a:ext cx="1023751" cy="1023751"/>
          </a:xfrm>
          <a:prstGeom prst="rect">
            <a:avLst/>
          </a:prstGeom>
          <a:solidFill>
            <a:srgbClr val="E34DBF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F:10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923944" y="2934895"/>
            <a:ext cx="2047499" cy="1462500"/>
          </a:xfrm>
          <a:prstGeom prst="rect">
            <a:avLst/>
          </a:prstGeom>
          <a:solidFill>
            <a:srgbClr val="A9D18E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endParaRPr lang="en-US" sz="1700"/>
          </a:p>
          <a:p>
            <a:pPr marL="0" indent="0" algn="ctr">
              <a:lnSpc>
                <a:spcPct val="100000"/>
              </a:lnSpc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F:1020</a:t>
            </a:r>
          </a:p>
        </p:txBody>
      </p:sp>
      <p:sp>
        <p:nvSpPr>
          <p:cNvPr id="5" name="AutoShape 5"/>
          <p:cNvSpPr/>
          <p:nvPr/>
        </p:nvSpPr>
        <p:spPr>
          <a:xfrm>
            <a:off x="3923944" y="4397395"/>
            <a:ext cx="3509995" cy="731251"/>
          </a:xfrm>
          <a:prstGeom prst="rect">
            <a:avLst/>
          </a:prstGeom>
          <a:solidFill>
            <a:srgbClr val="9DC3E6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S:101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23935" y="5128646"/>
            <a:ext cx="3510000" cy="292500"/>
          </a:xfrm>
          <a:prstGeom prst="rect">
            <a:avLst/>
          </a:prstGeom>
          <a:solidFill>
            <a:srgbClr val="3B3838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18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S:202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47694" y="1911146"/>
            <a:ext cx="1023751" cy="1023751"/>
          </a:xfrm>
          <a:prstGeom prst="rect">
            <a:avLst/>
          </a:prstGeom>
          <a:solidFill>
            <a:srgbClr val="ED7D31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F:20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971443" y="1911145"/>
            <a:ext cx="1462500" cy="585000"/>
          </a:xfrm>
          <a:prstGeom prst="rect">
            <a:avLst/>
          </a:prstGeom>
          <a:solidFill>
            <a:srgbClr val="70AD47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F:30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>
            <a:off x="3923943" y="1785323"/>
            <a:ext cx="3510000" cy="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971443" y="2496146"/>
            <a:ext cx="1462500" cy="438751"/>
          </a:xfrm>
          <a:prstGeom prst="rect">
            <a:avLst/>
          </a:prstGeom>
          <a:solidFill>
            <a:srgbClr val="BF9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F:35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971442" y="2934895"/>
            <a:ext cx="1462500" cy="1462500"/>
          </a:xfrm>
          <a:prstGeom prst="rect">
            <a:avLst/>
          </a:prstGeom>
          <a:solidFill>
            <a:srgbClr val="2F5597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endParaRPr lang="en-US" sz="1700"/>
          </a:p>
          <a:p>
            <a:pPr marL="0" indent="0" algn="ctr">
              <a:lnSpc>
                <a:spcPct val="100000"/>
              </a:lnSpc>
            </a:pPr>
            <a:r>
              <a:rPr lang="en-US" sz="1787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F:8888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405339" y="3266841"/>
            <a:ext cx="204751" cy="8775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63942" y="3162259"/>
            <a:ext cx="877500" cy="292500"/>
          </a:xfrm>
          <a:prstGeom prst="rect">
            <a:avLst/>
          </a:prstGeom>
          <a:solidFill>
            <a:srgbClr val="E34DBF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lg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75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知识库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73370" y="1195258"/>
            <a:ext cx="1589829" cy="542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463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联合开发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63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共建工程实验室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706014" y="3266841"/>
            <a:ext cx="204751" cy="8775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06687" y="3266841"/>
            <a:ext cx="204751" cy="8775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307362" y="3266841"/>
            <a:ext cx="204751" cy="8775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608034" y="3266841"/>
            <a:ext cx="204751" cy="87751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>
            <a:off x="4507715" y="2851079"/>
            <a:ext cx="0" cy="29250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>
            <a:off x="5423187" y="2851079"/>
            <a:ext cx="0" cy="29250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322503" y="3066644"/>
            <a:ext cx="2925000" cy="497251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1F4E79">
                <a:alpha val="100000"/>
              </a:srgbClr>
            </a:solidFill>
            <a:prstDash val="lg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63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10800000" flipV="1">
            <a:off x="5898522" y="3315335"/>
            <a:ext cx="292500" cy="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1287764" y="1254016"/>
            <a:ext cx="2437009" cy="51248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AI Lab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F:10 感知agent（端口号：10）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F:20 决策agent（端口号：20）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 AI Lab负责开发和优化感知与决策模型算法，实现高效的算法逻辑与智能决策。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DataFlow Lab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F:1020 数据处理（端口号：1020）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 致力于本地实时通讯数据流的管理与优化，确保高效可靠的数据传输。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Safety Control &amp; Protection Shell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F:30 控制（端口号：30）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F:35 保障与恢复（端口号：35）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负责开发安全控制和故障恢复机制，确保系统稳定性与可靠性</a:t>
            </a:r>
            <a:r>
              <a:rPr lang="en-US" sz="894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795757" y="1254015"/>
            <a:ext cx="3013411" cy="48202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Agent Hub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F:8888 智能代理管理（端口号：8888）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  Agent Hub负责本地知识库和远程智能代理的管理与协调，通过标准接口提供灵活的服务访问。</a:t>
            </a:r>
          </a:p>
          <a:p>
            <a:pPr marL="0" indent="0" algn="l">
              <a:lnSpc>
                <a:spcPct val="150000"/>
              </a:lnSpc>
            </a:pPr>
            <a:endParaRPr sz="1200"/>
          </a:p>
          <a:p>
            <a:pPr marL="0" indent="0" algn="l">
              <a:lnSpc>
                <a:spcPct val="150000"/>
              </a:lnSpc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System Software Engineering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S:101 系统软件（端口号：101）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 底层系统软件的开发与维护，提供统一的硬件抽象接口。</a:t>
            </a:r>
          </a:p>
          <a:p>
            <a:pPr marL="0" indent="0" algn="l">
              <a:lnSpc>
                <a:spcPct val="150000"/>
              </a:lnSpc>
            </a:pPr>
            <a:endParaRPr sz="1200"/>
          </a:p>
          <a:p>
            <a:pPr marL="0" indent="0" algn="l">
              <a:lnSpc>
                <a:spcPct val="150000"/>
              </a:lnSpc>
            </a:pPr>
            <a:r>
              <a:rPr lang="en-US" sz="1218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Heterogeneous Hardware Engineering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S:202 异构硬件（端口号：202）</a:t>
            </a:r>
          </a:p>
          <a:p>
            <a:pPr marL="0" indent="0" algn="l">
              <a:lnSpc>
                <a:spcPct val="150000"/>
              </a:lnSpc>
            </a:pPr>
            <a:r>
              <a:rPr lang="en-US" sz="1218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 负责异构硬件平台的接口统一和性能优化，支持多种设备的集成。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63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5" name="AutoShape 25"/>
          <p:cNvSpPr/>
          <p:nvPr/>
        </p:nvSpPr>
        <p:spPr>
          <a:xfrm>
            <a:off x="3828021" y="5533618"/>
            <a:ext cx="3864491" cy="767711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dash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63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自主系统通过统一端口规划，实现远程迭代开发与本地高效验证，构建协同集成开发环境</a:t>
            </a:r>
            <a:r>
              <a:rPr lang="en-US" sz="1463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>
            <a:off x="3792129" y="1911145"/>
            <a:ext cx="0" cy="351000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585159" y="5796188"/>
            <a:ext cx="2087348" cy="317459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63" b="1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图例  </a:t>
            </a:r>
            <a:r>
              <a:rPr lang="en-US" sz="1463" b="1" i="0" u="none" strike="noStrike">
                <a:solidFill>
                  <a:srgbClr val="5B9BD5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463" b="0" i="0" u="none" strike="noStrike">
                <a:solidFill>
                  <a:srgbClr val="5B9BD5"/>
                </a:solidFill>
                <a:latin typeface="Arial"/>
                <a:ea typeface="Arial"/>
                <a:cs typeface="Arial"/>
                <a:sym typeface="Arial"/>
              </a:rPr>
              <a:t>unction, </a:t>
            </a:r>
            <a:r>
              <a:rPr lang="en-US" sz="1463" b="1" i="0" u="none" strike="noStrike">
                <a:solidFill>
                  <a:srgbClr val="5B9BD5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463" b="0" i="0" u="none" strike="noStrike">
                <a:solidFill>
                  <a:srgbClr val="5B9BD5"/>
                </a:solidFill>
                <a:latin typeface="Arial"/>
                <a:ea typeface="Arial"/>
                <a:cs typeface="Arial"/>
                <a:sym typeface="Arial"/>
              </a:rPr>
              <a:t>ystem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16002" y="1269000"/>
            <a:ext cx="4321428" cy="4320000"/>
            <a:chOff x="6816002" y="1269000"/>
            <a:chExt cx="4321428" cy="4320000"/>
          </a:xfrm>
        </p:grpSpPr>
        <p:sp>
          <p:nvSpPr>
            <p:cNvPr id="3" name="AutoShape 3"/>
            <p:cNvSpPr/>
            <p:nvPr/>
          </p:nvSpPr>
          <p:spPr>
            <a:xfrm>
              <a:off x="753720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81600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969720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898234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825600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53743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97600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69720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25600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041743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753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9708694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681600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753743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969720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041743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81720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041720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81720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41720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54572" y="1269000"/>
            <a:ext cx="4321428" cy="4320000"/>
            <a:chOff x="1054572" y="1269000"/>
            <a:chExt cx="4321428" cy="4320000"/>
          </a:xfrm>
        </p:grpSpPr>
        <p:sp>
          <p:nvSpPr>
            <p:cNvPr id="24" name="AutoShape 24"/>
            <p:cNvSpPr/>
            <p:nvPr/>
          </p:nvSpPr>
          <p:spPr>
            <a:xfrm>
              <a:off x="177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393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177457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3947264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10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46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10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46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4572" y="1269000"/>
            <a:ext cx="4321428" cy="4320000"/>
            <a:chOff x="1054572" y="1269000"/>
            <a:chExt cx="4321428" cy="4320000"/>
          </a:xfrm>
        </p:grpSpPr>
        <p:sp>
          <p:nvSpPr>
            <p:cNvPr id="3" name="AutoShape 3"/>
            <p:cNvSpPr/>
            <p:nvPr/>
          </p:nvSpPr>
          <p:spPr>
            <a:xfrm>
              <a:off x="177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393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77457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3947264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0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46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0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46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14800" y="1269000"/>
            <a:ext cx="4321428" cy="4320000"/>
            <a:chOff x="6814800" y="1269000"/>
            <a:chExt cx="4321428" cy="4320000"/>
          </a:xfrm>
        </p:grpSpPr>
        <p:sp>
          <p:nvSpPr>
            <p:cNvPr id="3" name="AutoShape 3"/>
            <p:cNvSpPr/>
            <p:nvPr/>
          </p:nvSpPr>
          <p:spPr>
            <a:xfrm>
              <a:off x="753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8148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969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8981146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8254800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536228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974800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69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254800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0416228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7534798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970749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68148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7536228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969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0416228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81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0416000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81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41600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54572" y="1269000"/>
            <a:ext cx="4321428" cy="4320000"/>
            <a:chOff x="1054572" y="1269000"/>
            <a:chExt cx="4321428" cy="4320000"/>
          </a:xfrm>
        </p:grpSpPr>
        <p:sp>
          <p:nvSpPr>
            <p:cNvPr id="24" name="AutoShape 24"/>
            <p:cNvSpPr/>
            <p:nvPr/>
          </p:nvSpPr>
          <p:spPr>
            <a:xfrm>
              <a:off x="177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10545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393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3220918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249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77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3214572" y="198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935772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2494572" y="414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4656000" y="270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1774570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3947264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10545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177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3935772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4656000" y="342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10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lang="en-US" sz="1100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4655772" y="12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10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4655772" y="4869000"/>
              <a:ext cx="720000" cy="7200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2F528F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44" name="Connector 44"/>
          <p:cNvCxnSpPr/>
          <p:nvPr/>
        </p:nvCxnSpPr>
        <p:spPr>
          <a:xfrm rot="-5400000">
            <a:off x="2135286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5" name="Connector 45"/>
          <p:cNvCxnSpPr/>
          <p:nvPr/>
        </p:nvCxnSpPr>
        <p:spPr>
          <a:xfrm>
            <a:off x="3934572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6" name="Connector 46"/>
          <p:cNvCxnSpPr/>
          <p:nvPr/>
        </p:nvCxnSpPr>
        <p:spPr>
          <a:xfrm rot="5400000">
            <a:off x="3938345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7" name="Connector 47"/>
          <p:cNvCxnSpPr/>
          <p:nvPr/>
        </p:nvCxnSpPr>
        <p:spPr>
          <a:xfrm rot="10800000">
            <a:off x="2136000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8" name="Connector 48"/>
          <p:cNvCxnSpPr/>
          <p:nvPr/>
        </p:nvCxnSpPr>
        <p:spPr>
          <a:xfrm rot="-5400000">
            <a:off x="7895514" y="2349714"/>
            <a:ext cx="360000" cy="358572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9" name="Connector 49"/>
          <p:cNvCxnSpPr/>
          <p:nvPr/>
        </p:nvCxnSpPr>
        <p:spPr>
          <a:xfrm>
            <a:off x="9694800" y="2349000"/>
            <a:ext cx="361200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0" name="Connector 50"/>
          <p:cNvCxnSpPr/>
          <p:nvPr/>
        </p:nvCxnSpPr>
        <p:spPr>
          <a:xfrm rot="5400000">
            <a:off x="9698573" y="4151573"/>
            <a:ext cx="360000" cy="354854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1" name="Connector 51"/>
          <p:cNvCxnSpPr/>
          <p:nvPr/>
        </p:nvCxnSpPr>
        <p:spPr>
          <a:xfrm rot="10800000">
            <a:off x="7896228" y="4149000"/>
            <a:ext cx="358572" cy="360000"/>
          </a:xfrm>
          <a:prstGeom prst="bentConnector2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2" name="Connector 52"/>
          <p:cNvCxnSpPr/>
          <p:nvPr/>
        </p:nvCxnSpPr>
        <p:spPr>
          <a:xfrm>
            <a:off x="2495772" y="1629000"/>
            <a:ext cx="358800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3" name="Connector 53"/>
          <p:cNvCxnSpPr/>
          <p:nvPr/>
        </p:nvCxnSpPr>
        <p:spPr>
          <a:xfrm rot="-5400000">
            <a:off x="3575172" y="1628400"/>
            <a:ext cx="360000" cy="3612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4" name="Connector 54"/>
          <p:cNvCxnSpPr/>
          <p:nvPr/>
        </p:nvCxnSpPr>
        <p:spPr>
          <a:xfrm>
            <a:off x="8254800" y="1628999"/>
            <a:ext cx="358800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5" name="Connector 55"/>
          <p:cNvCxnSpPr/>
          <p:nvPr/>
        </p:nvCxnSpPr>
        <p:spPr>
          <a:xfrm rot="-5400000">
            <a:off x="9334200" y="1628399"/>
            <a:ext cx="360000" cy="3612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6" name="Connector 56"/>
          <p:cNvCxnSpPr/>
          <p:nvPr/>
        </p:nvCxnSpPr>
        <p:spPr>
          <a:xfrm>
            <a:off x="5015772" y="198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7" name="Connector 57"/>
          <p:cNvCxnSpPr/>
          <p:nvPr/>
        </p:nvCxnSpPr>
        <p:spPr>
          <a:xfrm flipV="1">
            <a:off x="1414572" y="1989000"/>
            <a:ext cx="1200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8" name="Connector 58"/>
          <p:cNvCxnSpPr/>
          <p:nvPr/>
        </p:nvCxnSpPr>
        <p:spPr>
          <a:xfrm flipV="1">
            <a:off x="7174800" y="1988999"/>
            <a:ext cx="1200" cy="720001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9" name="Connector 59"/>
          <p:cNvCxnSpPr/>
          <p:nvPr/>
        </p:nvCxnSpPr>
        <p:spPr>
          <a:xfrm>
            <a:off x="10776000" y="198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0" name="Connector 60"/>
          <p:cNvCxnSpPr/>
          <p:nvPr/>
        </p:nvCxnSpPr>
        <p:spPr>
          <a:xfrm rot="10800000" flipV="1">
            <a:off x="10776000" y="414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1" name="Connector 61"/>
          <p:cNvCxnSpPr/>
          <p:nvPr/>
        </p:nvCxnSpPr>
        <p:spPr>
          <a:xfrm rot="10800000">
            <a:off x="7168338" y="4149000"/>
            <a:ext cx="7662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2" name="Connector 62"/>
          <p:cNvCxnSpPr/>
          <p:nvPr/>
        </p:nvCxnSpPr>
        <p:spPr>
          <a:xfrm rot="5400000">
            <a:off x="8254799" y="4868999"/>
            <a:ext cx="360000" cy="360002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3" name="Connector 63"/>
          <p:cNvCxnSpPr/>
          <p:nvPr/>
        </p:nvCxnSpPr>
        <p:spPr>
          <a:xfrm rot="5400000">
            <a:off x="2494571" y="4868999"/>
            <a:ext cx="360000" cy="360002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4" name="Connector 64"/>
          <p:cNvCxnSpPr/>
          <p:nvPr/>
        </p:nvCxnSpPr>
        <p:spPr>
          <a:xfrm rot="10800000">
            <a:off x="3580918" y="4869000"/>
            <a:ext cx="366346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5" name="Connector 65"/>
          <p:cNvCxnSpPr/>
          <p:nvPr/>
        </p:nvCxnSpPr>
        <p:spPr>
          <a:xfrm rot="10800000">
            <a:off x="9341146" y="4869000"/>
            <a:ext cx="366346" cy="360000"/>
          </a:xfrm>
          <a:prstGeom prst="bentConnector2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6" name="Connector 66"/>
          <p:cNvCxnSpPr/>
          <p:nvPr/>
        </p:nvCxnSpPr>
        <p:spPr>
          <a:xfrm rot="10800000" flipV="1">
            <a:off x="5015772" y="4149000"/>
            <a:ext cx="228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7" name="Connector 67"/>
          <p:cNvCxnSpPr/>
          <p:nvPr/>
        </p:nvCxnSpPr>
        <p:spPr>
          <a:xfrm rot="10800000">
            <a:off x="1408222" y="4149000"/>
            <a:ext cx="7550" cy="720000"/>
          </a:xfrm>
          <a:prstGeom prst="straightConnector1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68" name="AutoShape 68"/>
          <p:cNvSpPr/>
          <p:nvPr/>
        </p:nvSpPr>
        <p:spPr>
          <a:xfrm>
            <a:off x="344643" y="6309000"/>
            <a:ext cx="11403357" cy="3231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1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图例：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测量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散射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工作流逻辑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更新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对称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渲染   </a:t>
            </a:r>
            <a:r>
              <a:rPr lang="en-US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模型反馈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环境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约束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法规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检测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输出   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真值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功能   </a:t>
            </a:r>
            <a:r>
              <a:rPr lang="en-US" sz="1500" b="1" i="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9.</a:t>
            </a:r>
            <a:r>
              <a:rPr lang="en-US" sz="1500" b="1" i="0" u="none" strike="noStrike">
                <a:solidFill>
                  <a:srgbClr val="0070C0"/>
                </a:solidFill>
                <a:latin typeface="微软雅黑"/>
                <a:ea typeface="微软雅黑"/>
                <a:cs typeface="微软雅黑"/>
                <a:sym typeface="微软雅黑"/>
              </a:rPr>
              <a:t>接口</a:t>
            </a:r>
            <a:r>
              <a:rPr lang="en-US" sz="1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记忆  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91666"/>
              </a:lnSpc>
              <a:defRPr sz="2700" b="1" i="0" u="none" strike="noStrike" spc="0">
                <a:solidFill>
                  <a:srgbClr val="002060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18" y="654256"/>
            <a:ext cx="11096483" cy="627363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91666"/>
              </a:lnSpc>
              <a:defRPr sz="2700" b="1" i="0" u="none" strike="noStrike" spc="0">
                <a:solidFill>
                  <a:srgbClr val="002060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107"/>
            <a:ext cx="12192000" cy="624178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91666"/>
              </a:lnSpc>
              <a:defRPr sz="2700" b="1" i="0" u="none" strike="noStrike" spc="0">
                <a:solidFill>
                  <a:srgbClr val="002060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1742</Words>
  <Application>Microsoft Office PowerPoint</Application>
  <PresentationFormat>宽屏</PresentationFormat>
  <Paragraphs>862</Paragraphs>
  <Slides>24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HarmonyOS Sans Medium</vt:lpstr>
      <vt:lpstr>HarmonyOS Sans SC Medium</vt:lpstr>
      <vt:lpstr>Noto Sans SC</vt:lpstr>
      <vt:lpstr>ui-sans-serif</vt:lpstr>
      <vt:lpstr>等线</vt:lpstr>
      <vt:lpstr>SimHei</vt:lpstr>
      <vt:lpstr>微软雅黑</vt:lpstr>
      <vt:lpstr>Arial</vt:lpstr>
      <vt:lpstr>Arial Black</vt:lpstr>
      <vt:lpstr>Calibri</vt:lpstr>
      <vt:lpstr>Wingdings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祥 倪</cp:lastModifiedBy>
  <cp:revision>4</cp:revision>
  <dcterms:modified xsi:type="dcterms:W3CDTF">2026-07-30T03:41:12Z</dcterms:modified>
</cp:coreProperties>
</file>